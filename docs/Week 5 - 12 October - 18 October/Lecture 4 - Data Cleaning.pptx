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704" r:id="rId2"/>
    <p:sldId id="705" r:id="rId3"/>
    <p:sldId id="706" r:id="rId4"/>
    <p:sldId id="718" r:id="rId5"/>
    <p:sldId id="707" r:id="rId6"/>
    <p:sldId id="708" r:id="rId7"/>
    <p:sldId id="710" r:id="rId8"/>
    <p:sldId id="712" r:id="rId9"/>
    <p:sldId id="713" r:id="rId10"/>
    <p:sldId id="714" r:id="rId11"/>
    <p:sldId id="715" r:id="rId12"/>
    <p:sldId id="716" r:id="rId13"/>
    <p:sldId id="717" r:id="rId14"/>
    <p:sldId id="3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8" autoAdjust="0"/>
    <p:restoredTop sz="84589" autoAdjust="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DDB37-7CF1-49E5-A587-C7775ECCAD58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662823F-D371-40C7-A30D-C3B29BE02DB1}">
      <dgm:prSet phldrT="[Text]" phldr="0"/>
      <dgm:spPr/>
      <dgm:t>
        <a:bodyPr/>
        <a:lstStyle/>
        <a:p>
          <a:r>
            <a:rPr lang="en-GB" dirty="0"/>
            <a:t>Raw Data</a:t>
          </a:r>
        </a:p>
      </dgm:t>
    </dgm:pt>
    <dgm:pt modelId="{4519CBE9-F2D4-46BA-B9AD-F27286102245}" type="parTrans" cxnId="{85D9A2F6-9F9B-4549-A1EB-70CCC5959A1B}">
      <dgm:prSet/>
      <dgm:spPr/>
      <dgm:t>
        <a:bodyPr/>
        <a:lstStyle/>
        <a:p>
          <a:endParaRPr lang="en-GB"/>
        </a:p>
      </dgm:t>
    </dgm:pt>
    <dgm:pt modelId="{0BE5CEEA-B9CF-4040-BE58-EE64AB29BEFA}" type="sibTrans" cxnId="{85D9A2F6-9F9B-4549-A1EB-70CCC5959A1B}">
      <dgm:prSet/>
      <dgm:spPr/>
      <dgm:t>
        <a:bodyPr/>
        <a:lstStyle/>
        <a:p>
          <a:endParaRPr lang="en-GB"/>
        </a:p>
      </dgm:t>
    </dgm:pt>
    <dgm:pt modelId="{FCD89979-A016-4B62-A0BB-4A7178A42328}">
      <dgm:prSet phldrT="[Text]" phldr="0"/>
      <dgm:spPr/>
      <dgm:t>
        <a:bodyPr/>
        <a:lstStyle/>
        <a:p>
          <a:r>
            <a:rPr lang="en-GB" dirty="0"/>
            <a:t>Cleaning Steps</a:t>
          </a:r>
        </a:p>
      </dgm:t>
    </dgm:pt>
    <dgm:pt modelId="{C126D436-1380-44EF-AD83-96516F1FDF7B}" type="parTrans" cxnId="{DDD3DCAD-54DC-43F5-A80E-E10901776900}">
      <dgm:prSet/>
      <dgm:spPr/>
      <dgm:t>
        <a:bodyPr/>
        <a:lstStyle/>
        <a:p>
          <a:endParaRPr lang="en-GB"/>
        </a:p>
      </dgm:t>
    </dgm:pt>
    <dgm:pt modelId="{9E66CB56-9052-4ED4-AC1E-A4A5EE56B138}" type="sibTrans" cxnId="{DDD3DCAD-54DC-43F5-A80E-E10901776900}">
      <dgm:prSet/>
      <dgm:spPr/>
      <dgm:t>
        <a:bodyPr/>
        <a:lstStyle/>
        <a:p>
          <a:endParaRPr lang="en-GB"/>
        </a:p>
      </dgm:t>
    </dgm:pt>
    <dgm:pt modelId="{5019272C-67AE-4294-A4A7-6E06D9D84122}">
      <dgm:prSet phldrT="[Text]" phldr="0"/>
      <dgm:spPr/>
      <dgm:t>
        <a:bodyPr/>
        <a:lstStyle/>
        <a:p>
          <a:r>
            <a:rPr lang="en-GB" dirty="0"/>
            <a:t>Clean Datasets</a:t>
          </a:r>
        </a:p>
      </dgm:t>
    </dgm:pt>
    <dgm:pt modelId="{3FE1B741-137C-4F74-A05C-83393F3F824D}" type="parTrans" cxnId="{DC279216-4C79-44B0-88F5-9E42DC6518D3}">
      <dgm:prSet/>
      <dgm:spPr/>
      <dgm:t>
        <a:bodyPr/>
        <a:lstStyle/>
        <a:p>
          <a:endParaRPr lang="en-GB"/>
        </a:p>
      </dgm:t>
    </dgm:pt>
    <dgm:pt modelId="{92242387-3324-4782-AC39-29017CC6051F}" type="sibTrans" cxnId="{DC279216-4C79-44B0-88F5-9E42DC6518D3}">
      <dgm:prSet/>
      <dgm:spPr/>
      <dgm:t>
        <a:bodyPr/>
        <a:lstStyle/>
        <a:p>
          <a:endParaRPr lang="en-GB"/>
        </a:p>
      </dgm:t>
    </dgm:pt>
    <dgm:pt modelId="{6CDF0D1C-599B-4EF6-9F92-2F0B33C94AB5}">
      <dgm:prSet phldrT="[Text]" phldr="0"/>
      <dgm:spPr/>
      <dgm:t>
        <a:bodyPr/>
        <a:lstStyle/>
        <a:p>
          <a:r>
            <a:rPr lang="en-GB" dirty="0"/>
            <a:t>Cleaning Log</a:t>
          </a:r>
        </a:p>
      </dgm:t>
    </dgm:pt>
    <dgm:pt modelId="{5124C525-4120-4051-AC02-CC3C8DF7C853}" type="parTrans" cxnId="{A57D6626-7914-4717-9B15-CF00215FF08C}">
      <dgm:prSet/>
      <dgm:spPr/>
      <dgm:t>
        <a:bodyPr/>
        <a:lstStyle/>
        <a:p>
          <a:endParaRPr lang="en-GB"/>
        </a:p>
      </dgm:t>
    </dgm:pt>
    <dgm:pt modelId="{96F6CBA8-C971-4EC8-804F-BE7B1D0FE61B}" type="sibTrans" cxnId="{A57D6626-7914-4717-9B15-CF00215FF08C}">
      <dgm:prSet/>
      <dgm:spPr/>
      <dgm:t>
        <a:bodyPr/>
        <a:lstStyle/>
        <a:p>
          <a:endParaRPr lang="en-GB"/>
        </a:p>
      </dgm:t>
    </dgm:pt>
    <dgm:pt modelId="{169A32E3-D178-4BC3-A6AC-C919A9990501}" type="pres">
      <dgm:prSet presAssocID="{30EDDB37-7CF1-49E5-A587-C7775ECCAD58}" presName="cycle" presStyleCnt="0">
        <dgm:presLayoutVars>
          <dgm:dir/>
          <dgm:resizeHandles val="exact"/>
        </dgm:presLayoutVars>
      </dgm:prSet>
      <dgm:spPr/>
    </dgm:pt>
    <dgm:pt modelId="{20372CD8-05C4-4343-B569-733D76969606}" type="pres">
      <dgm:prSet presAssocID="{1662823F-D371-40C7-A30D-C3B29BE02DB1}" presName="node" presStyleLbl="node1" presStyleIdx="0" presStyleCnt="4">
        <dgm:presLayoutVars>
          <dgm:bulletEnabled val="1"/>
        </dgm:presLayoutVars>
      </dgm:prSet>
      <dgm:spPr/>
    </dgm:pt>
    <dgm:pt modelId="{FFAE0F77-DD42-4FD6-ACD8-42B088467CC3}" type="pres">
      <dgm:prSet presAssocID="{0BE5CEEA-B9CF-4040-BE58-EE64AB29BEFA}" presName="sibTrans" presStyleLbl="sibTrans2D1" presStyleIdx="0" presStyleCnt="4"/>
      <dgm:spPr/>
    </dgm:pt>
    <dgm:pt modelId="{C1190246-105B-460A-9782-C5642F7D5004}" type="pres">
      <dgm:prSet presAssocID="{0BE5CEEA-B9CF-4040-BE58-EE64AB29BEFA}" presName="connectorText" presStyleLbl="sibTrans2D1" presStyleIdx="0" presStyleCnt="4"/>
      <dgm:spPr/>
    </dgm:pt>
    <dgm:pt modelId="{C5947322-FD98-49A3-80AE-70B64C62DC71}" type="pres">
      <dgm:prSet presAssocID="{FCD89979-A016-4B62-A0BB-4A7178A42328}" presName="node" presStyleLbl="node1" presStyleIdx="1" presStyleCnt="4">
        <dgm:presLayoutVars>
          <dgm:bulletEnabled val="1"/>
        </dgm:presLayoutVars>
      </dgm:prSet>
      <dgm:spPr/>
    </dgm:pt>
    <dgm:pt modelId="{B745EA27-721C-41EC-9D07-91042CA0E4EA}" type="pres">
      <dgm:prSet presAssocID="{9E66CB56-9052-4ED4-AC1E-A4A5EE56B138}" presName="sibTrans" presStyleLbl="sibTrans2D1" presStyleIdx="1" presStyleCnt="4"/>
      <dgm:spPr/>
    </dgm:pt>
    <dgm:pt modelId="{B7389167-43E8-4E42-BA17-FAC4FB437681}" type="pres">
      <dgm:prSet presAssocID="{9E66CB56-9052-4ED4-AC1E-A4A5EE56B138}" presName="connectorText" presStyleLbl="sibTrans2D1" presStyleIdx="1" presStyleCnt="4"/>
      <dgm:spPr/>
    </dgm:pt>
    <dgm:pt modelId="{1E1B9104-0387-4A19-8424-AEA6032ACF6F}" type="pres">
      <dgm:prSet presAssocID="{5019272C-67AE-4294-A4A7-6E06D9D84122}" presName="node" presStyleLbl="node1" presStyleIdx="2" presStyleCnt="4">
        <dgm:presLayoutVars>
          <dgm:bulletEnabled val="1"/>
        </dgm:presLayoutVars>
      </dgm:prSet>
      <dgm:spPr/>
    </dgm:pt>
    <dgm:pt modelId="{D89B20D8-FAB5-40DB-A051-6E57162EE5F3}" type="pres">
      <dgm:prSet presAssocID="{92242387-3324-4782-AC39-29017CC6051F}" presName="sibTrans" presStyleLbl="sibTrans2D1" presStyleIdx="2" presStyleCnt="4"/>
      <dgm:spPr/>
    </dgm:pt>
    <dgm:pt modelId="{AF6050E2-E288-4200-B75A-2A4321AE4663}" type="pres">
      <dgm:prSet presAssocID="{92242387-3324-4782-AC39-29017CC6051F}" presName="connectorText" presStyleLbl="sibTrans2D1" presStyleIdx="2" presStyleCnt="4"/>
      <dgm:spPr/>
    </dgm:pt>
    <dgm:pt modelId="{E2236868-66E8-4497-B9AD-07F4066CEA94}" type="pres">
      <dgm:prSet presAssocID="{6CDF0D1C-599B-4EF6-9F92-2F0B33C94AB5}" presName="node" presStyleLbl="node1" presStyleIdx="3" presStyleCnt="4">
        <dgm:presLayoutVars>
          <dgm:bulletEnabled val="1"/>
        </dgm:presLayoutVars>
      </dgm:prSet>
      <dgm:spPr/>
    </dgm:pt>
    <dgm:pt modelId="{61F68E63-18CE-4D5C-B915-BC1ED69AE64D}" type="pres">
      <dgm:prSet presAssocID="{96F6CBA8-C971-4EC8-804F-BE7B1D0FE61B}" presName="sibTrans" presStyleLbl="sibTrans2D1" presStyleIdx="3" presStyleCnt="4"/>
      <dgm:spPr/>
    </dgm:pt>
    <dgm:pt modelId="{90BE4592-0D87-46DC-81A7-F15C72545583}" type="pres">
      <dgm:prSet presAssocID="{96F6CBA8-C971-4EC8-804F-BE7B1D0FE61B}" presName="connectorText" presStyleLbl="sibTrans2D1" presStyleIdx="3" presStyleCnt="4"/>
      <dgm:spPr/>
    </dgm:pt>
  </dgm:ptLst>
  <dgm:cxnLst>
    <dgm:cxn modelId="{AACDB705-3D03-4447-9179-DC816B2461D6}" type="presOf" srcId="{0BE5CEEA-B9CF-4040-BE58-EE64AB29BEFA}" destId="{C1190246-105B-460A-9782-C5642F7D5004}" srcOrd="1" destOrd="0" presId="urn:microsoft.com/office/officeart/2005/8/layout/cycle2"/>
    <dgm:cxn modelId="{401B940B-BEEA-4659-A678-1ECDAC8A807D}" type="presOf" srcId="{9E66CB56-9052-4ED4-AC1E-A4A5EE56B138}" destId="{B745EA27-721C-41EC-9D07-91042CA0E4EA}" srcOrd="0" destOrd="0" presId="urn:microsoft.com/office/officeart/2005/8/layout/cycle2"/>
    <dgm:cxn modelId="{DC279216-4C79-44B0-88F5-9E42DC6518D3}" srcId="{30EDDB37-7CF1-49E5-A587-C7775ECCAD58}" destId="{5019272C-67AE-4294-A4A7-6E06D9D84122}" srcOrd="2" destOrd="0" parTransId="{3FE1B741-137C-4F74-A05C-83393F3F824D}" sibTransId="{92242387-3324-4782-AC39-29017CC6051F}"/>
    <dgm:cxn modelId="{A57D6626-7914-4717-9B15-CF00215FF08C}" srcId="{30EDDB37-7CF1-49E5-A587-C7775ECCAD58}" destId="{6CDF0D1C-599B-4EF6-9F92-2F0B33C94AB5}" srcOrd="3" destOrd="0" parTransId="{5124C525-4120-4051-AC02-CC3C8DF7C853}" sibTransId="{96F6CBA8-C971-4EC8-804F-BE7B1D0FE61B}"/>
    <dgm:cxn modelId="{CC0ACD65-ED3C-4DBE-830B-AA0CC39F59EB}" type="presOf" srcId="{9E66CB56-9052-4ED4-AC1E-A4A5EE56B138}" destId="{B7389167-43E8-4E42-BA17-FAC4FB437681}" srcOrd="1" destOrd="0" presId="urn:microsoft.com/office/officeart/2005/8/layout/cycle2"/>
    <dgm:cxn modelId="{F10C3E4C-CB9C-468B-A678-4818D8CB7598}" type="presOf" srcId="{6CDF0D1C-599B-4EF6-9F92-2F0B33C94AB5}" destId="{E2236868-66E8-4497-B9AD-07F4066CEA94}" srcOrd="0" destOrd="0" presId="urn:microsoft.com/office/officeart/2005/8/layout/cycle2"/>
    <dgm:cxn modelId="{EBD5AA50-0868-4D6D-8E91-1D031B65D150}" type="presOf" srcId="{92242387-3324-4782-AC39-29017CC6051F}" destId="{D89B20D8-FAB5-40DB-A051-6E57162EE5F3}" srcOrd="0" destOrd="0" presId="urn:microsoft.com/office/officeart/2005/8/layout/cycle2"/>
    <dgm:cxn modelId="{78E2FD73-0A67-4561-8911-47FDDA3CF68D}" type="presOf" srcId="{92242387-3324-4782-AC39-29017CC6051F}" destId="{AF6050E2-E288-4200-B75A-2A4321AE4663}" srcOrd="1" destOrd="0" presId="urn:microsoft.com/office/officeart/2005/8/layout/cycle2"/>
    <dgm:cxn modelId="{C3327399-0263-4B9E-AA64-4934AC810577}" type="presOf" srcId="{5019272C-67AE-4294-A4A7-6E06D9D84122}" destId="{1E1B9104-0387-4A19-8424-AEA6032ACF6F}" srcOrd="0" destOrd="0" presId="urn:microsoft.com/office/officeart/2005/8/layout/cycle2"/>
    <dgm:cxn modelId="{DDD3DCAD-54DC-43F5-A80E-E10901776900}" srcId="{30EDDB37-7CF1-49E5-A587-C7775ECCAD58}" destId="{FCD89979-A016-4B62-A0BB-4A7178A42328}" srcOrd="1" destOrd="0" parTransId="{C126D436-1380-44EF-AD83-96516F1FDF7B}" sibTransId="{9E66CB56-9052-4ED4-AC1E-A4A5EE56B138}"/>
    <dgm:cxn modelId="{657142B6-5A14-443D-B085-5B4EC0A6FC92}" type="presOf" srcId="{30EDDB37-7CF1-49E5-A587-C7775ECCAD58}" destId="{169A32E3-D178-4BC3-A6AC-C919A9990501}" srcOrd="0" destOrd="0" presId="urn:microsoft.com/office/officeart/2005/8/layout/cycle2"/>
    <dgm:cxn modelId="{DA8181C0-0763-49E0-A584-D0D3E07CC5CD}" type="presOf" srcId="{1662823F-D371-40C7-A30D-C3B29BE02DB1}" destId="{20372CD8-05C4-4343-B569-733D76969606}" srcOrd="0" destOrd="0" presId="urn:microsoft.com/office/officeart/2005/8/layout/cycle2"/>
    <dgm:cxn modelId="{64B151D5-A4DF-4706-9921-A3E6193D45FD}" type="presOf" srcId="{FCD89979-A016-4B62-A0BB-4A7178A42328}" destId="{C5947322-FD98-49A3-80AE-70B64C62DC71}" srcOrd="0" destOrd="0" presId="urn:microsoft.com/office/officeart/2005/8/layout/cycle2"/>
    <dgm:cxn modelId="{5B885BD7-F800-4626-BA4D-00404E1F9B00}" type="presOf" srcId="{96F6CBA8-C971-4EC8-804F-BE7B1D0FE61B}" destId="{90BE4592-0D87-46DC-81A7-F15C72545583}" srcOrd="1" destOrd="0" presId="urn:microsoft.com/office/officeart/2005/8/layout/cycle2"/>
    <dgm:cxn modelId="{DCC99CE0-8F10-4C6E-969E-FBED59952BC4}" type="presOf" srcId="{0BE5CEEA-B9CF-4040-BE58-EE64AB29BEFA}" destId="{FFAE0F77-DD42-4FD6-ACD8-42B088467CC3}" srcOrd="0" destOrd="0" presId="urn:microsoft.com/office/officeart/2005/8/layout/cycle2"/>
    <dgm:cxn modelId="{85D9A2F6-9F9B-4549-A1EB-70CCC5959A1B}" srcId="{30EDDB37-7CF1-49E5-A587-C7775ECCAD58}" destId="{1662823F-D371-40C7-A30D-C3B29BE02DB1}" srcOrd="0" destOrd="0" parTransId="{4519CBE9-F2D4-46BA-B9AD-F27286102245}" sibTransId="{0BE5CEEA-B9CF-4040-BE58-EE64AB29BEFA}"/>
    <dgm:cxn modelId="{D46332F7-9945-467B-A3E2-DA591A1F046F}" type="presOf" srcId="{96F6CBA8-C971-4EC8-804F-BE7B1D0FE61B}" destId="{61F68E63-18CE-4D5C-B915-BC1ED69AE64D}" srcOrd="0" destOrd="0" presId="urn:microsoft.com/office/officeart/2005/8/layout/cycle2"/>
    <dgm:cxn modelId="{C122C7C6-E434-49FB-B414-FFFFF8512EC3}" type="presParOf" srcId="{169A32E3-D178-4BC3-A6AC-C919A9990501}" destId="{20372CD8-05C4-4343-B569-733D76969606}" srcOrd="0" destOrd="0" presId="urn:microsoft.com/office/officeart/2005/8/layout/cycle2"/>
    <dgm:cxn modelId="{5F5AA572-4360-46DA-AFC8-9FAA442C9B0F}" type="presParOf" srcId="{169A32E3-D178-4BC3-A6AC-C919A9990501}" destId="{FFAE0F77-DD42-4FD6-ACD8-42B088467CC3}" srcOrd="1" destOrd="0" presId="urn:microsoft.com/office/officeart/2005/8/layout/cycle2"/>
    <dgm:cxn modelId="{2D2C9D63-BE71-473C-97B4-ECEA802A1B3C}" type="presParOf" srcId="{FFAE0F77-DD42-4FD6-ACD8-42B088467CC3}" destId="{C1190246-105B-460A-9782-C5642F7D5004}" srcOrd="0" destOrd="0" presId="urn:microsoft.com/office/officeart/2005/8/layout/cycle2"/>
    <dgm:cxn modelId="{F229C91F-C42C-48E2-86BB-02DAD714E6B0}" type="presParOf" srcId="{169A32E3-D178-4BC3-A6AC-C919A9990501}" destId="{C5947322-FD98-49A3-80AE-70B64C62DC71}" srcOrd="2" destOrd="0" presId="urn:microsoft.com/office/officeart/2005/8/layout/cycle2"/>
    <dgm:cxn modelId="{044C8424-DF71-48BE-B210-0BEDE4C6F2B8}" type="presParOf" srcId="{169A32E3-D178-4BC3-A6AC-C919A9990501}" destId="{B745EA27-721C-41EC-9D07-91042CA0E4EA}" srcOrd="3" destOrd="0" presId="urn:microsoft.com/office/officeart/2005/8/layout/cycle2"/>
    <dgm:cxn modelId="{D3BE187B-F982-4895-AFBB-25AA1EB4B753}" type="presParOf" srcId="{B745EA27-721C-41EC-9D07-91042CA0E4EA}" destId="{B7389167-43E8-4E42-BA17-FAC4FB437681}" srcOrd="0" destOrd="0" presId="urn:microsoft.com/office/officeart/2005/8/layout/cycle2"/>
    <dgm:cxn modelId="{4880379E-9336-4CF8-8376-54EDAC0F7E9A}" type="presParOf" srcId="{169A32E3-D178-4BC3-A6AC-C919A9990501}" destId="{1E1B9104-0387-4A19-8424-AEA6032ACF6F}" srcOrd="4" destOrd="0" presId="urn:microsoft.com/office/officeart/2005/8/layout/cycle2"/>
    <dgm:cxn modelId="{8F37A645-F05A-41C3-986C-8D30A2635DBD}" type="presParOf" srcId="{169A32E3-D178-4BC3-A6AC-C919A9990501}" destId="{D89B20D8-FAB5-40DB-A051-6E57162EE5F3}" srcOrd="5" destOrd="0" presId="urn:microsoft.com/office/officeart/2005/8/layout/cycle2"/>
    <dgm:cxn modelId="{77425385-5D6E-4D72-9F0B-6D9B129556E6}" type="presParOf" srcId="{D89B20D8-FAB5-40DB-A051-6E57162EE5F3}" destId="{AF6050E2-E288-4200-B75A-2A4321AE4663}" srcOrd="0" destOrd="0" presId="urn:microsoft.com/office/officeart/2005/8/layout/cycle2"/>
    <dgm:cxn modelId="{7C774B8C-FF94-4D55-8733-FB0E942DA011}" type="presParOf" srcId="{169A32E3-D178-4BC3-A6AC-C919A9990501}" destId="{E2236868-66E8-4497-B9AD-07F4066CEA94}" srcOrd="6" destOrd="0" presId="urn:microsoft.com/office/officeart/2005/8/layout/cycle2"/>
    <dgm:cxn modelId="{51C50E9B-0D6F-4783-A6DB-FCA3BD9FFA1C}" type="presParOf" srcId="{169A32E3-D178-4BC3-A6AC-C919A9990501}" destId="{61F68E63-18CE-4D5C-B915-BC1ED69AE64D}" srcOrd="7" destOrd="0" presId="urn:microsoft.com/office/officeart/2005/8/layout/cycle2"/>
    <dgm:cxn modelId="{BCD95E08-9E64-4C93-B0D6-3833E7E0815D}" type="presParOf" srcId="{61F68E63-18CE-4D5C-B915-BC1ED69AE64D}" destId="{90BE4592-0D87-46DC-81A7-F15C7254558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EDDB37-7CF1-49E5-A587-C7775ECCAD58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662823F-D371-40C7-A30D-C3B29BE02DB1}">
      <dgm:prSet phldrT="[Text]" phldr="0"/>
      <dgm:spPr/>
      <dgm:t>
        <a:bodyPr/>
        <a:lstStyle/>
        <a:p>
          <a:r>
            <a:rPr lang="en-GB" dirty="0"/>
            <a:t>Inspect</a:t>
          </a:r>
        </a:p>
      </dgm:t>
    </dgm:pt>
    <dgm:pt modelId="{4519CBE9-F2D4-46BA-B9AD-F27286102245}" type="parTrans" cxnId="{85D9A2F6-9F9B-4549-A1EB-70CCC5959A1B}">
      <dgm:prSet/>
      <dgm:spPr/>
      <dgm:t>
        <a:bodyPr/>
        <a:lstStyle/>
        <a:p>
          <a:endParaRPr lang="en-GB"/>
        </a:p>
      </dgm:t>
    </dgm:pt>
    <dgm:pt modelId="{0BE5CEEA-B9CF-4040-BE58-EE64AB29BEFA}" type="sibTrans" cxnId="{85D9A2F6-9F9B-4549-A1EB-70CCC5959A1B}">
      <dgm:prSet/>
      <dgm:spPr/>
      <dgm:t>
        <a:bodyPr/>
        <a:lstStyle/>
        <a:p>
          <a:endParaRPr lang="en-GB"/>
        </a:p>
      </dgm:t>
    </dgm:pt>
    <dgm:pt modelId="{FCD89979-A016-4B62-A0BB-4A7178A42328}">
      <dgm:prSet phldrT="[Text]" phldr="0"/>
      <dgm:spPr/>
      <dgm:t>
        <a:bodyPr/>
        <a:lstStyle/>
        <a:p>
          <a:r>
            <a:rPr lang="en-GB" dirty="0"/>
            <a:t>Understand</a:t>
          </a:r>
        </a:p>
      </dgm:t>
    </dgm:pt>
    <dgm:pt modelId="{C126D436-1380-44EF-AD83-96516F1FDF7B}" type="parTrans" cxnId="{DDD3DCAD-54DC-43F5-A80E-E10901776900}">
      <dgm:prSet/>
      <dgm:spPr/>
      <dgm:t>
        <a:bodyPr/>
        <a:lstStyle/>
        <a:p>
          <a:endParaRPr lang="en-GB"/>
        </a:p>
      </dgm:t>
    </dgm:pt>
    <dgm:pt modelId="{9E66CB56-9052-4ED4-AC1E-A4A5EE56B138}" type="sibTrans" cxnId="{DDD3DCAD-54DC-43F5-A80E-E10901776900}">
      <dgm:prSet/>
      <dgm:spPr/>
      <dgm:t>
        <a:bodyPr/>
        <a:lstStyle/>
        <a:p>
          <a:endParaRPr lang="en-GB"/>
        </a:p>
      </dgm:t>
    </dgm:pt>
    <dgm:pt modelId="{5019272C-67AE-4294-A4A7-6E06D9D84122}">
      <dgm:prSet phldrT="[Text]" phldr="0"/>
      <dgm:spPr/>
      <dgm:t>
        <a:bodyPr/>
        <a:lstStyle/>
        <a:p>
          <a:r>
            <a:rPr lang="en-GB" dirty="0"/>
            <a:t>Clean</a:t>
          </a:r>
        </a:p>
      </dgm:t>
    </dgm:pt>
    <dgm:pt modelId="{3FE1B741-137C-4F74-A05C-83393F3F824D}" type="parTrans" cxnId="{DC279216-4C79-44B0-88F5-9E42DC6518D3}">
      <dgm:prSet/>
      <dgm:spPr/>
      <dgm:t>
        <a:bodyPr/>
        <a:lstStyle/>
        <a:p>
          <a:endParaRPr lang="en-GB"/>
        </a:p>
      </dgm:t>
    </dgm:pt>
    <dgm:pt modelId="{92242387-3324-4782-AC39-29017CC6051F}" type="sibTrans" cxnId="{DC279216-4C79-44B0-88F5-9E42DC6518D3}">
      <dgm:prSet/>
      <dgm:spPr/>
      <dgm:t>
        <a:bodyPr/>
        <a:lstStyle/>
        <a:p>
          <a:endParaRPr lang="en-GB"/>
        </a:p>
      </dgm:t>
    </dgm:pt>
    <dgm:pt modelId="{6CDF0D1C-599B-4EF6-9F92-2F0B33C94AB5}">
      <dgm:prSet phldrT="[Text]" phldr="0"/>
      <dgm:spPr/>
      <dgm:t>
        <a:bodyPr/>
        <a:lstStyle/>
        <a:p>
          <a:r>
            <a:rPr lang="en-GB" dirty="0"/>
            <a:t>Document</a:t>
          </a:r>
        </a:p>
      </dgm:t>
    </dgm:pt>
    <dgm:pt modelId="{5124C525-4120-4051-AC02-CC3C8DF7C853}" type="parTrans" cxnId="{A57D6626-7914-4717-9B15-CF00215FF08C}">
      <dgm:prSet/>
      <dgm:spPr/>
      <dgm:t>
        <a:bodyPr/>
        <a:lstStyle/>
        <a:p>
          <a:endParaRPr lang="en-GB"/>
        </a:p>
      </dgm:t>
    </dgm:pt>
    <dgm:pt modelId="{96F6CBA8-C971-4EC8-804F-BE7B1D0FE61B}" type="sibTrans" cxnId="{A57D6626-7914-4717-9B15-CF00215FF08C}">
      <dgm:prSet/>
      <dgm:spPr/>
      <dgm:t>
        <a:bodyPr/>
        <a:lstStyle/>
        <a:p>
          <a:endParaRPr lang="en-GB"/>
        </a:p>
      </dgm:t>
    </dgm:pt>
    <dgm:pt modelId="{54E1EBA2-BA0E-4FA0-8577-02638EAEAEF2}">
      <dgm:prSet phldrT="[Text]" phldr="0"/>
      <dgm:spPr/>
      <dgm:t>
        <a:bodyPr/>
        <a:lstStyle/>
        <a:p>
          <a:r>
            <a:rPr lang="en-GB" dirty="0"/>
            <a:t>Validate</a:t>
          </a:r>
        </a:p>
      </dgm:t>
    </dgm:pt>
    <dgm:pt modelId="{6932C431-25B3-4C44-886E-1F382A8CD8A8}" type="parTrans" cxnId="{9AEDC12F-65C4-4758-9CF7-0C9EB906EF19}">
      <dgm:prSet/>
      <dgm:spPr/>
      <dgm:t>
        <a:bodyPr/>
        <a:lstStyle/>
        <a:p>
          <a:endParaRPr lang="en-GB"/>
        </a:p>
      </dgm:t>
    </dgm:pt>
    <dgm:pt modelId="{A40CCB09-E03F-4F1C-B7B7-B874B6E50824}" type="sibTrans" cxnId="{9AEDC12F-65C4-4758-9CF7-0C9EB906EF19}">
      <dgm:prSet/>
      <dgm:spPr/>
      <dgm:t>
        <a:bodyPr/>
        <a:lstStyle/>
        <a:p>
          <a:endParaRPr lang="en-GB"/>
        </a:p>
      </dgm:t>
    </dgm:pt>
    <dgm:pt modelId="{169A32E3-D178-4BC3-A6AC-C919A9990501}" type="pres">
      <dgm:prSet presAssocID="{30EDDB37-7CF1-49E5-A587-C7775ECCAD58}" presName="cycle" presStyleCnt="0">
        <dgm:presLayoutVars>
          <dgm:dir/>
          <dgm:resizeHandles val="exact"/>
        </dgm:presLayoutVars>
      </dgm:prSet>
      <dgm:spPr/>
    </dgm:pt>
    <dgm:pt modelId="{20372CD8-05C4-4343-B569-733D76969606}" type="pres">
      <dgm:prSet presAssocID="{1662823F-D371-40C7-A30D-C3B29BE02DB1}" presName="node" presStyleLbl="node1" presStyleIdx="0" presStyleCnt="5">
        <dgm:presLayoutVars>
          <dgm:bulletEnabled val="1"/>
        </dgm:presLayoutVars>
      </dgm:prSet>
      <dgm:spPr/>
    </dgm:pt>
    <dgm:pt modelId="{FFAE0F77-DD42-4FD6-ACD8-42B088467CC3}" type="pres">
      <dgm:prSet presAssocID="{0BE5CEEA-B9CF-4040-BE58-EE64AB29BEFA}" presName="sibTrans" presStyleLbl="sibTrans2D1" presStyleIdx="0" presStyleCnt="5"/>
      <dgm:spPr/>
    </dgm:pt>
    <dgm:pt modelId="{C1190246-105B-460A-9782-C5642F7D5004}" type="pres">
      <dgm:prSet presAssocID="{0BE5CEEA-B9CF-4040-BE58-EE64AB29BEFA}" presName="connectorText" presStyleLbl="sibTrans2D1" presStyleIdx="0" presStyleCnt="5"/>
      <dgm:spPr/>
    </dgm:pt>
    <dgm:pt modelId="{C5947322-FD98-49A3-80AE-70B64C62DC71}" type="pres">
      <dgm:prSet presAssocID="{FCD89979-A016-4B62-A0BB-4A7178A42328}" presName="node" presStyleLbl="node1" presStyleIdx="1" presStyleCnt="5">
        <dgm:presLayoutVars>
          <dgm:bulletEnabled val="1"/>
        </dgm:presLayoutVars>
      </dgm:prSet>
      <dgm:spPr/>
    </dgm:pt>
    <dgm:pt modelId="{B745EA27-721C-41EC-9D07-91042CA0E4EA}" type="pres">
      <dgm:prSet presAssocID="{9E66CB56-9052-4ED4-AC1E-A4A5EE56B138}" presName="sibTrans" presStyleLbl="sibTrans2D1" presStyleIdx="1" presStyleCnt="5"/>
      <dgm:spPr/>
    </dgm:pt>
    <dgm:pt modelId="{B7389167-43E8-4E42-BA17-FAC4FB437681}" type="pres">
      <dgm:prSet presAssocID="{9E66CB56-9052-4ED4-AC1E-A4A5EE56B138}" presName="connectorText" presStyleLbl="sibTrans2D1" presStyleIdx="1" presStyleCnt="5"/>
      <dgm:spPr/>
    </dgm:pt>
    <dgm:pt modelId="{1E1B9104-0387-4A19-8424-AEA6032ACF6F}" type="pres">
      <dgm:prSet presAssocID="{5019272C-67AE-4294-A4A7-6E06D9D84122}" presName="node" presStyleLbl="node1" presStyleIdx="2" presStyleCnt="5">
        <dgm:presLayoutVars>
          <dgm:bulletEnabled val="1"/>
        </dgm:presLayoutVars>
      </dgm:prSet>
      <dgm:spPr/>
    </dgm:pt>
    <dgm:pt modelId="{D89B20D8-FAB5-40DB-A051-6E57162EE5F3}" type="pres">
      <dgm:prSet presAssocID="{92242387-3324-4782-AC39-29017CC6051F}" presName="sibTrans" presStyleLbl="sibTrans2D1" presStyleIdx="2" presStyleCnt="5"/>
      <dgm:spPr/>
    </dgm:pt>
    <dgm:pt modelId="{AF6050E2-E288-4200-B75A-2A4321AE4663}" type="pres">
      <dgm:prSet presAssocID="{92242387-3324-4782-AC39-29017CC6051F}" presName="connectorText" presStyleLbl="sibTrans2D1" presStyleIdx="2" presStyleCnt="5"/>
      <dgm:spPr/>
    </dgm:pt>
    <dgm:pt modelId="{E2236868-66E8-4497-B9AD-07F4066CEA94}" type="pres">
      <dgm:prSet presAssocID="{6CDF0D1C-599B-4EF6-9F92-2F0B33C94AB5}" presName="node" presStyleLbl="node1" presStyleIdx="3" presStyleCnt="5">
        <dgm:presLayoutVars>
          <dgm:bulletEnabled val="1"/>
        </dgm:presLayoutVars>
      </dgm:prSet>
      <dgm:spPr/>
    </dgm:pt>
    <dgm:pt modelId="{61F68E63-18CE-4D5C-B915-BC1ED69AE64D}" type="pres">
      <dgm:prSet presAssocID="{96F6CBA8-C971-4EC8-804F-BE7B1D0FE61B}" presName="sibTrans" presStyleLbl="sibTrans2D1" presStyleIdx="3" presStyleCnt="5"/>
      <dgm:spPr/>
    </dgm:pt>
    <dgm:pt modelId="{90BE4592-0D87-46DC-81A7-F15C72545583}" type="pres">
      <dgm:prSet presAssocID="{96F6CBA8-C971-4EC8-804F-BE7B1D0FE61B}" presName="connectorText" presStyleLbl="sibTrans2D1" presStyleIdx="3" presStyleCnt="5"/>
      <dgm:spPr/>
    </dgm:pt>
    <dgm:pt modelId="{C100D2B4-3AB9-4872-946C-81BFB7441ED7}" type="pres">
      <dgm:prSet presAssocID="{54E1EBA2-BA0E-4FA0-8577-02638EAEAEF2}" presName="node" presStyleLbl="node1" presStyleIdx="4" presStyleCnt="5">
        <dgm:presLayoutVars>
          <dgm:bulletEnabled val="1"/>
        </dgm:presLayoutVars>
      </dgm:prSet>
      <dgm:spPr/>
    </dgm:pt>
    <dgm:pt modelId="{9298A8B2-980C-4ECF-90F7-928FE7B6FDBA}" type="pres">
      <dgm:prSet presAssocID="{A40CCB09-E03F-4F1C-B7B7-B874B6E50824}" presName="sibTrans" presStyleLbl="sibTrans2D1" presStyleIdx="4" presStyleCnt="5"/>
      <dgm:spPr/>
    </dgm:pt>
    <dgm:pt modelId="{8C8F0478-0B54-45D2-8280-22D627EA1E4F}" type="pres">
      <dgm:prSet presAssocID="{A40CCB09-E03F-4F1C-B7B7-B874B6E50824}" presName="connectorText" presStyleLbl="sibTrans2D1" presStyleIdx="4" presStyleCnt="5"/>
      <dgm:spPr/>
    </dgm:pt>
  </dgm:ptLst>
  <dgm:cxnLst>
    <dgm:cxn modelId="{AACDB705-3D03-4447-9179-DC816B2461D6}" type="presOf" srcId="{0BE5CEEA-B9CF-4040-BE58-EE64AB29BEFA}" destId="{C1190246-105B-460A-9782-C5642F7D5004}" srcOrd="1" destOrd="0" presId="urn:microsoft.com/office/officeart/2005/8/layout/cycle2"/>
    <dgm:cxn modelId="{401B940B-BEEA-4659-A678-1ECDAC8A807D}" type="presOf" srcId="{9E66CB56-9052-4ED4-AC1E-A4A5EE56B138}" destId="{B745EA27-721C-41EC-9D07-91042CA0E4EA}" srcOrd="0" destOrd="0" presId="urn:microsoft.com/office/officeart/2005/8/layout/cycle2"/>
    <dgm:cxn modelId="{DC279216-4C79-44B0-88F5-9E42DC6518D3}" srcId="{30EDDB37-7CF1-49E5-A587-C7775ECCAD58}" destId="{5019272C-67AE-4294-A4A7-6E06D9D84122}" srcOrd="2" destOrd="0" parTransId="{3FE1B741-137C-4F74-A05C-83393F3F824D}" sibTransId="{92242387-3324-4782-AC39-29017CC6051F}"/>
    <dgm:cxn modelId="{A57D6626-7914-4717-9B15-CF00215FF08C}" srcId="{30EDDB37-7CF1-49E5-A587-C7775ECCAD58}" destId="{6CDF0D1C-599B-4EF6-9F92-2F0B33C94AB5}" srcOrd="3" destOrd="0" parTransId="{5124C525-4120-4051-AC02-CC3C8DF7C853}" sibTransId="{96F6CBA8-C971-4EC8-804F-BE7B1D0FE61B}"/>
    <dgm:cxn modelId="{9AEDC12F-65C4-4758-9CF7-0C9EB906EF19}" srcId="{30EDDB37-7CF1-49E5-A587-C7775ECCAD58}" destId="{54E1EBA2-BA0E-4FA0-8577-02638EAEAEF2}" srcOrd="4" destOrd="0" parTransId="{6932C431-25B3-4C44-886E-1F382A8CD8A8}" sibTransId="{A40CCB09-E03F-4F1C-B7B7-B874B6E50824}"/>
    <dgm:cxn modelId="{CC0ACD65-ED3C-4DBE-830B-AA0CC39F59EB}" type="presOf" srcId="{9E66CB56-9052-4ED4-AC1E-A4A5EE56B138}" destId="{B7389167-43E8-4E42-BA17-FAC4FB437681}" srcOrd="1" destOrd="0" presId="urn:microsoft.com/office/officeart/2005/8/layout/cycle2"/>
    <dgm:cxn modelId="{F10C3E4C-CB9C-468B-A678-4818D8CB7598}" type="presOf" srcId="{6CDF0D1C-599B-4EF6-9F92-2F0B33C94AB5}" destId="{E2236868-66E8-4497-B9AD-07F4066CEA94}" srcOrd="0" destOrd="0" presId="urn:microsoft.com/office/officeart/2005/8/layout/cycle2"/>
    <dgm:cxn modelId="{EBD5AA50-0868-4D6D-8E91-1D031B65D150}" type="presOf" srcId="{92242387-3324-4782-AC39-29017CC6051F}" destId="{D89B20D8-FAB5-40DB-A051-6E57162EE5F3}" srcOrd="0" destOrd="0" presId="urn:microsoft.com/office/officeart/2005/8/layout/cycle2"/>
    <dgm:cxn modelId="{78E2FD73-0A67-4561-8911-47FDDA3CF68D}" type="presOf" srcId="{92242387-3324-4782-AC39-29017CC6051F}" destId="{AF6050E2-E288-4200-B75A-2A4321AE4663}" srcOrd="1" destOrd="0" presId="urn:microsoft.com/office/officeart/2005/8/layout/cycle2"/>
    <dgm:cxn modelId="{C3327399-0263-4B9E-AA64-4934AC810577}" type="presOf" srcId="{5019272C-67AE-4294-A4A7-6E06D9D84122}" destId="{1E1B9104-0387-4A19-8424-AEA6032ACF6F}" srcOrd="0" destOrd="0" presId="urn:microsoft.com/office/officeart/2005/8/layout/cycle2"/>
    <dgm:cxn modelId="{DDD3DCAD-54DC-43F5-A80E-E10901776900}" srcId="{30EDDB37-7CF1-49E5-A587-C7775ECCAD58}" destId="{FCD89979-A016-4B62-A0BB-4A7178A42328}" srcOrd="1" destOrd="0" parTransId="{C126D436-1380-44EF-AD83-96516F1FDF7B}" sibTransId="{9E66CB56-9052-4ED4-AC1E-A4A5EE56B138}"/>
    <dgm:cxn modelId="{657142B6-5A14-443D-B085-5B4EC0A6FC92}" type="presOf" srcId="{30EDDB37-7CF1-49E5-A587-C7775ECCAD58}" destId="{169A32E3-D178-4BC3-A6AC-C919A9990501}" srcOrd="0" destOrd="0" presId="urn:microsoft.com/office/officeart/2005/8/layout/cycle2"/>
    <dgm:cxn modelId="{DA8181C0-0763-49E0-A584-D0D3E07CC5CD}" type="presOf" srcId="{1662823F-D371-40C7-A30D-C3B29BE02DB1}" destId="{20372CD8-05C4-4343-B569-733D76969606}" srcOrd="0" destOrd="0" presId="urn:microsoft.com/office/officeart/2005/8/layout/cycle2"/>
    <dgm:cxn modelId="{64B151D5-A4DF-4706-9921-A3E6193D45FD}" type="presOf" srcId="{FCD89979-A016-4B62-A0BB-4A7178A42328}" destId="{C5947322-FD98-49A3-80AE-70B64C62DC71}" srcOrd="0" destOrd="0" presId="urn:microsoft.com/office/officeart/2005/8/layout/cycle2"/>
    <dgm:cxn modelId="{7291FED5-4208-4BB8-8A4F-F655C247250A}" type="presOf" srcId="{A40CCB09-E03F-4F1C-B7B7-B874B6E50824}" destId="{9298A8B2-980C-4ECF-90F7-928FE7B6FDBA}" srcOrd="0" destOrd="0" presId="urn:microsoft.com/office/officeart/2005/8/layout/cycle2"/>
    <dgm:cxn modelId="{5B885BD7-F800-4626-BA4D-00404E1F9B00}" type="presOf" srcId="{96F6CBA8-C971-4EC8-804F-BE7B1D0FE61B}" destId="{90BE4592-0D87-46DC-81A7-F15C72545583}" srcOrd="1" destOrd="0" presId="urn:microsoft.com/office/officeart/2005/8/layout/cycle2"/>
    <dgm:cxn modelId="{DCC99CE0-8F10-4C6E-969E-FBED59952BC4}" type="presOf" srcId="{0BE5CEEA-B9CF-4040-BE58-EE64AB29BEFA}" destId="{FFAE0F77-DD42-4FD6-ACD8-42B088467CC3}" srcOrd="0" destOrd="0" presId="urn:microsoft.com/office/officeart/2005/8/layout/cycle2"/>
    <dgm:cxn modelId="{BC7876E5-70EE-4D03-882E-2A629190C5C3}" type="presOf" srcId="{A40CCB09-E03F-4F1C-B7B7-B874B6E50824}" destId="{8C8F0478-0B54-45D2-8280-22D627EA1E4F}" srcOrd="1" destOrd="0" presId="urn:microsoft.com/office/officeart/2005/8/layout/cycle2"/>
    <dgm:cxn modelId="{85D9A2F6-9F9B-4549-A1EB-70CCC5959A1B}" srcId="{30EDDB37-7CF1-49E5-A587-C7775ECCAD58}" destId="{1662823F-D371-40C7-A30D-C3B29BE02DB1}" srcOrd="0" destOrd="0" parTransId="{4519CBE9-F2D4-46BA-B9AD-F27286102245}" sibTransId="{0BE5CEEA-B9CF-4040-BE58-EE64AB29BEFA}"/>
    <dgm:cxn modelId="{D46332F7-9945-467B-A3E2-DA591A1F046F}" type="presOf" srcId="{96F6CBA8-C971-4EC8-804F-BE7B1D0FE61B}" destId="{61F68E63-18CE-4D5C-B915-BC1ED69AE64D}" srcOrd="0" destOrd="0" presId="urn:microsoft.com/office/officeart/2005/8/layout/cycle2"/>
    <dgm:cxn modelId="{96C237F8-A079-4C43-B3AB-834B07C13A45}" type="presOf" srcId="{54E1EBA2-BA0E-4FA0-8577-02638EAEAEF2}" destId="{C100D2B4-3AB9-4872-946C-81BFB7441ED7}" srcOrd="0" destOrd="0" presId="urn:microsoft.com/office/officeart/2005/8/layout/cycle2"/>
    <dgm:cxn modelId="{C122C7C6-E434-49FB-B414-FFFFF8512EC3}" type="presParOf" srcId="{169A32E3-D178-4BC3-A6AC-C919A9990501}" destId="{20372CD8-05C4-4343-B569-733D76969606}" srcOrd="0" destOrd="0" presId="urn:microsoft.com/office/officeart/2005/8/layout/cycle2"/>
    <dgm:cxn modelId="{5F5AA572-4360-46DA-AFC8-9FAA442C9B0F}" type="presParOf" srcId="{169A32E3-D178-4BC3-A6AC-C919A9990501}" destId="{FFAE0F77-DD42-4FD6-ACD8-42B088467CC3}" srcOrd="1" destOrd="0" presId="urn:microsoft.com/office/officeart/2005/8/layout/cycle2"/>
    <dgm:cxn modelId="{2D2C9D63-BE71-473C-97B4-ECEA802A1B3C}" type="presParOf" srcId="{FFAE0F77-DD42-4FD6-ACD8-42B088467CC3}" destId="{C1190246-105B-460A-9782-C5642F7D5004}" srcOrd="0" destOrd="0" presId="urn:microsoft.com/office/officeart/2005/8/layout/cycle2"/>
    <dgm:cxn modelId="{F229C91F-C42C-48E2-86BB-02DAD714E6B0}" type="presParOf" srcId="{169A32E3-D178-4BC3-A6AC-C919A9990501}" destId="{C5947322-FD98-49A3-80AE-70B64C62DC71}" srcOrd="2" destOrd="0" presId="urn:microsoft.com/office/officeart/2005/8/layout/cycle2"/>
    <dgm:cxn modelId="{044C8424-DF71-48BE-B210-0BEDE4C6F2B8}" type="presParOf" srcId="{169A32E3-D178-4BC3-A6AC-C919A9990501}" destId="{B745EA27-721C-41EC-9D07-91042CA0E4EA}" srcOrd="3" destOrd="0" presId="urn:microsoft.com/office/officeart/2005/8/layout/cycle2"/>
    <dgm:cxn modelId="{D3BE187B-F982-4895-AFBB-25AA1EB4B753}" type="presParOf" srcId="{B745EA27-721C-41EC-9D07-91042CA0E4EA}" destId="{B7389167-43E8-4E42-BA17-FAC4FB437681}" srcOrd="0" destOrd="0" presId="urn:microsoft.com/office/officeart/2005/8/layout/cycle2"/>
    <dgm:cxn modelId="{4880379E-9336-4CF8-8376-54EDAC0F7E9A}" type="presParOf" srcId="{169A32E3-D178-4BC3-A6AC-C919A9990501}" destId="{1E1B9104-0387-4A19-8424-AEA6032ACF6F}" srcOrd="4" destOrd="0" presId="urn:microsoft.com/office/officeart/2005/8/layout/cycle2"/>
    <dgm:cxn modelId="{8F37A645-F05A-41C3-986C-8D30A2635DBD}" type="presParOf" srcId="{169A32E3-D178-4BC3-A6AC-C919A9990501}" destId="{D89B20D8-FAB5-40DB-A051-6E57162EE5F3}" srcOrd="5" destOrd="0" presId="urn:microsoft.com/office/officeart/2005/8/layout/cycle2"/>
    <dgm:cxn modelId="{77425385-5D6E-4D72-9F0B-6D9B129556E6}" type="presParOf" srcId="{D89B20D8-FAB5-40DB-A051-6E57162EE5F3}" destId="{AF6050E2-E288-4200-B75A-2A4321AE4663}" srcOrd="0" destOrd="0" presId="urn:microsoft.com/office/officeart/2005/8/layout/cycle2"/>
    <dgm:cxn modelId="{7C774B8C-FF94-4D55-8733-FB0E942DA011}" type="presParOf" srcId="{169A32E3-D178-4BC3-A6AC-C919A9990501}" destId="{E2236868-66E8-4497-B9AD-07F4066CEA94}" srcOrd="6" destOrd="0" presId="urn:microsoft.com/office/officeart/2005/8/layout/cycle2"/>
    <dgm:cxn modelId="{51C50E9B-0D6F-4783-A6DB-FCA3BD9FFA1C}" type="presParOf" srcId="{169A32E3-D178-4BC3-A6AC-C919A9990501}" destId="{61F68E63-18CE-4D5C-B915-BC1ED69AE64D}" srcOrd="7" destOrd="0" presId="urn:microsoft.com/office/officeart/2005/8/layout/cycle2"/>
    <dgm:cxn modelId="{BCD95E08-9E64-4C93-B0D6-3833E7E0815D}" type="presParOf" srcId="{61F68E63-18CE-4D5C-B915-BC1ED69AE64D}" destId="{90BE4592-0D87-46DC-81A7-F15C72545583}" srcOrd="0" destOrd="0" presId="urn:microsoft.com/office/officeart/2005/8/layout/cycle2"/>
    <dgm:cxn modelId="{21151698-5A60-438D-A7F4-B994A183B663}" type="presParOf" srcId="{169A32E3-D178-4BC3-A6AC-C919A9990501}" destId="{C100D2B4-3AB9-4872-946C-81BFB7441ED7}" srcOrd="8" destOrd="0" presId="urn:microsoft.com/office/officeart/2005/8/layout/cycle2"/>
    <dgm:cxn modelId="{98FB7714-4889-4CCB-9964-0A68D07B97D2}" type="presParOf" srcId="{169A32E3-D178-4BC3-A6AC-C919A9990501}" destId="{9298A8B2-980C-4ECF-90F7-928FE7B6FDBA}" srcOrd="9" destOrd="0" presId="urn:microsoft.com/office/officeart/2005/8/layout/cycle2"/>
    <dgm:cxn modelId="{2D9698E0-933C-45EE-A91D-63CBC8DC2AD0}" type="presParOf" srcId="{9298A8B2-980C-4ECF-90F7-928FE7B6FDBA}" destId="{8C8F0478-0B54-45D2-8280-22D627EA1E4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72CD8-05C4-4343-B569-733D76969606}">
      <dsp:nvSpPr>
        <dsp:cNvPr id="0" name=""/>
        <dsp:cNvSpPr/>
      </dsp:nvSpPr>
      <dsp:spPr>
        <a:xfrm>
          <a:off x="1534696" y="817"/>
          <a:ext cx="1020468" cy="1020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Raw Data</a:t>
          </a:r>
        </a:p>
      </dsp:txBody>
      <dsp:txXfrm>
        <a:off x="1684140" y="150261"/>
        <a:ext cx="721580" cy="721580"/>
      </dsp:txXfrm>
    </dsp:sp>
    <dsp:sp modelId="{FFAE0F77-DD42-4FD6-ACD8-42B088467CC3}">
      <dsp:nvSpPr>
        <dsp:cNvPr id="0" name=""/>
        <dsp:cNvSpPr/>
      </dsp:nvSpPr>
      <dsp:spPr>
        <a:xfrm rot="2700000">
          <a:off x="2445534" y="874809"/>
          <a:ext cx="270716" cy="3444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2457428" y="914977"/>
        <a:ext cx="189501" cy="206644"/>
      </dsp:txXfrm>
    </dsp:sp>
    <dsp:sp modelId="{C5947322-FD98-49A3-80AE-70B64C62DC71}">
      <dsp:nvSpPr>
        <dsp:cNvPr id="0" name=""/>
        <dsp:cNvSpPr/>
      </dsp:nvSpPr>
      <dsp:spPr>
        <a:xfrm>
          <a:off x="2617455" y="1083576"/>
          <a:ext cx="1020468" cy="1020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Cleaning Steps</a:t>
          </a:r>
        </a:p>
      </dsp:txBody>
      <dsp:txXfrm>
        <a:off x="2766899" y="1233020"/>
        <a:ext cx="721580" cy="721580"/>
      </dsp:txXfrm>
    </dsp:sp>
    <dsp:sp modelId="{B745EA27-721C-41EC-9D07-91042CA0E4EA}">
      <dsp:nvSpPr>
        <dsp:cNvPr id="0" name=""/>
        <dsp:cNvSpPr/>
      </dsp:nvSpPr>
      <dsp:spPr>
        <a:xfrm rot="8100000">
          <a:off x="2456369" y="1957569"/>
          <a:ext cx="270716" cy="3444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10800000">
        <a:off x="2525690" y="1997737"/>
        <a:ext cx="189501" cy="206644"/>
      </dsp:txXfrm>
    </dsp:sp>
    <dsp:sp modelId="{1E1B9104-0387-4A19-8424-AEA6032ACF6F}">
      <dsp:nvSpPr>
        <dsp:cNvPr id="0" name=""/>
        <dsp:cNvSpPr/>
      </dsp:nvSpPr>
      <dsp:spPr>
        <a:xfrm>
          <a:off x="1534696" y="2166336"/>
          <a:ext cx="1020468" cy="1020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Clean Datasets</a:t>
          </a:r>
        </a:p>
      </dsp:txBody>
      <dsp:txXfrm>
        <a:off x="1684140" y="2315780"/>
        <a:ext cx="721580" cy="721580"/>
      </dsp:txXfrm>
    </dsp:sp>
    <dsp:sp modelId="{D89B20D8-FAB5-40DB-A051-6E57162EE5F3}">
      <dsp:nvSpPr>
        <dsp:cNvPr id="0" name=""/>
        <dsp:cNvSpPr/>
      </dsp:nvSpPr>
      <dsp:spPr>
        <a:xfrm rot="13500000">
          <a:off x="1373610" y="1968404"/>
          <a:ext cx="270716" cy="3444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10800000">
        <a:off x="1442931" y="2066000"/>
        <a:ext cx="189501" cy="206644"/>
      </dsp:txXfrm>
    </dsp:sp>
    <dsp:sp modelId="{E2236868-66E8-4497-B9AD-07F4066CEA94}">
      <dsp:nvSpPr>
        <dsp:cNvPr id="0" name=""/>
        <dsp:cNvSpPr/>
      </dsp:nvSpPr>
      <dsp:spPr>
        <a:xfrm>
          <a:off x="451936" y="1083576"/>
          <a:ext cx="1020468" cy="1020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Cleaning Log</a:t>
          </a:r>
        </a:p>
      </dsp:txBody>
      <dsp:txXfrm>
        <a:off x="601380" y="1233020"/>
        <a:ext cx="721580" cy="721580"/>
      </dsp:txXfrm>
    </dsp:sp>
    <dsp:sp modelId="{61F68E63-18CE-4D5C-B915-BC1ED69AE64D}">
      <dsp:nvSpPr>
        <dsp:cNvPr id="0" name=""/>
        <dsp:cNvSpPr/>
      </dsp:nvSpPr>
      <dsp:spPr>
        <a:xfrm rot="18900000">
          <a:off x="1362774" y="885644"/>
          <a:ext cx="270716" cy="3444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1374668" y="983240"/>
        <a:ext cx="189501" cy="2066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72CD8-05C4-4343-B569-733D76969606}">
      <dsp:nvSpPr>
        <dsp:cNvPr id="0" name=""/>
        <dsp:cNvSpPr/>
      </dsp:nvSpPr>
      <dsp:spPr>
        <a:xfrm>
          <a:off x="1382630" y="43329"/>
          <a:ext cx="1137739" cy="1137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Inspect</a:t>
          </a:r>
        </a:p>
      </dsp:txBody>
      <dsp:txXfrm>
        <a:off x="1549248" y="209947"/>
        <a:ext cx="804503" cy="804503"/>
      </dsp:txXfrm>
    </dsp:sp>
    <dsp:sp modelId="{FFAE0F77-DD42-4FD6-ACD8-42B088467CC3}">
      <dsp:nvSpPr>
        <dsp:cNvPr id="0" name=""/>
        <dsp:cNvSpPr/>
      </dsp:nvSpPr>
      <dsp:spPr>
        <a:xfrm rot="2160000">
          <a:off x="2484257" y="916913"/>
          <a:ext cx="301804" cy="3839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2492903" y="967101"/>
        <a:ext cx="211263" cy="230393"/>
      </dsp:txXfrm>
    </dsp:sp>
    <dsp:sp modelId="{C5947322-FD98-49A3-80AE-70B64C62DC71}">
      <dsp:nvSpPr>
        <dsp:cNvPr id="0" name=""/>
        <dsp:cNvSpPr/>
      </dsp:nvSpPr>
      <dsp:spPr>
        <a:xfrm>
          <a:off x="2763769" y="1046785"/>
          <a:ext cx="1137739" cy="1137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Understand</a:t>
          </a:r>
        </a:p>
      </dsp:txBody>
      <dsp:txXfrm>
        <a:off x="2930387" y="1213403"/>
        <a:ext cx="804503" cy="804503"/>
      </dsp:txXfrm>
    </dsp:sp>
    <dsp:sp modelId="{B745EA27-721C-41EC-9D07-91042CA0E4EA}">
      <dsp:nvSpPr>
        <dsp:cNvPr id="0" name=""/>
        <dsp:cNvSpPr/>
      </dsp:nvSpPr>
      <dsp:spPr>
        <a:xfrm rot="6480000">
          <a:off x="2920602" y="2227352"/>
          <a:ext cx="301804" cy="3839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10800000">
        <a:off x="2979862" y="2261094"/>
        <a:ext cx="211263" cy="230393"/>
      </dsp:txXfrm>
    </dsp:sp>
    <dsp:sp modelId="{1E1B9104-0387-4A19-8424-AEA6032ACF6F}">
      <dsp:nvSpPr>
        <dsp:cNvPr id="0" name=""/>
        <dsp:cNvSpPr/>
      </dsp:nvSpPr>
      <dsp:spPr>
        <a:xfrm>
          <a:off x="2236221" y="2670412"/>
          <a:ext cx="1137739" cy="1137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Clean</a:t>
          </a:r>
        </a:p>
      </dsp:txBody>
      <dsp:txXfrm>
        <a:off x="2402839" y="2837030"/>
        <a:ext cx="804503" cy="804503"/>
      </dsp:txXfrm>
    </dsp:sp>
    <dsp:sp modelId="{D89B20D8-FAB5-40DB-A051-6E57162EE5F3}">
      <dsp:nvSpPr>
        <dsp:cNvPr id="0" name=""/>
        <dsp:cNvSpPr/>
      </dsp:nvSpPr>
      <dsp:spPr>
        <a:xfrm rot="10800000">
          <a:off x="1809139" y="3047289"/>
          <a:ext cx="301804" cy="3839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10800000">
        <a:off x="1899680" y="3124086"/>
        <a:ext cx="211263" cy="230393"/>
      </dsp:txXfrm>
    </dsp:sp>
    <dsp:sp modelId="{E2236868-66E8-4497-B9AD-07F4066CEA94}">
      <dsp:nvSpPr>
        <dsp:cNvPr id="0" name=""/>
        <dsp:cNvSpPr/>
      </dsp:nvSpPr>
      <dsp:spPr>
        <a:xfrm>
          <a:off x="529038" y="2670412"/>
          <a:ext cx="1137739" cy="1137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Document</a:t>
          </a:r>
        </a:p>
      </dsp:txBody>
      <dsp:txXfrm>
        <a:off x="695656" y="2837030"/>
        <a:ext cx="804503" cy="804503"/>
      </dsp:txXfrm>
    </dsp:sp>
    <dsp:sp modelId="{61F68E63-18CE-4D5C-B915-BC1ED69AE64D}">
      <dsp:nvSpPr>
        <dsp:cNvPr id="0" name=""/>
        <dsp:cNvSpPr/>
      </dsp:nvSpPr>
      <dsp:spPr>
        <a:xfrm rot="15120000">
          <a:off x="685871" y="2243599"/>
          <a:ext cx="301804" cy="3839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10800000">
        <a:off x="745131" y="2363451"/>
        <a:ext cx="211263" cy="230393"/>
      </dsp:txXfrm>
    </dsp:sp>
    <dsp:sp modelId="{C100D2B4-3AB9-4872-946C-81BFB7441ED7}">
      <dsp:nvSpPr>
        <dsp:cNvPr id="0" name=""/>
        <dsp:cNvSpPr/>
      </dsp:nvSpPr>
      <dsp:spPr>
        <a:xfrm>
          <a:off x="1490" y="1046785"/>
          <a:ext cx="1137739" cy="11377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Validate</a:t>
          </a:r>
        </a:p>
      </dsp:txBody>
      <dsp:txXfrm>
        <a:off x="168108" y="1213403"/>
        <a:ext cx="804503" cy="804503"/>
      </dsp:txXfrm>
    </dsp:sp>
    <dsp:sp modelId="{9298A8B2-980C-4ECF-90F7-928FE7B6FDBA}">
      <dsp:nvSpPr>
        <dsp:cNvPr id="0" name=""/>
        <dsp:cNvSpPr/>
      </dsp:nvSpPr>
      <dsp:spPr>
        <a:xfrm rot="19440000">
          <a:off x="1103117" y="926954"/>
          <a:ext cx="301804" cy="3839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1111763" y="1030360"/>
        <a:ext cx="211263" cy="230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2406B0-82C0-1763-EE57-63E93A5150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F14B2-CDAC-27E5-918D-158501A39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D3D10-F731-4672-995C-55C6E16C5DB6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A64E0-341D-1F51-F6AE-D99D497218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48FA4-4431-BBDD-E6AA-3C5C0BF98F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B05FC-8EA2-41D8-97B3-871CFE14F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4937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7A9FB-B4AA-40C7-A5AA-4B85A3DED926}" type="datetimeFigureOut">
              <a:rPr lang="en-GB" smtClean="0"/>
              <a:t>15/10/2026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427EC4-43D7-4899-AF54-D30B3AC26D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97067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4013" lvl="0" indent="-354013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Missing data may appear as:</a:t>
            </a:r>
          </a:p>
          <a:p>
            <a:pPr marL="354013" lvl="0" indent="-354013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1" dirty="0"/>
              <a:t>Blank cells</a:t>
            </a:r>
            <a:r>
              <a:rPr lang="en-GB" sz="1200" dirty="0"/>
              <a:t>, NULL, </a:t>
            </a:r>
            <a:r>
              <a:rPr lang="en-GB" sz="1200" dirty="0" err="1"/>
              <a:t>NaN</a:t>
            </a:r>
            <a:r>
              <a:rPr lang="en-GB" sz="1200" dirty="0"/>
              <a:t>, N/A, "Missing", 0, or even special codes such as 99999.</a:t>
            </a:r>
          </a:p>
          <a:p>
            <a:pPr marL="354013" lvl="0" indent="-354013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The important question is not only:</a:t>
            </a:r>
          </a:p>
          <a:p>
            <a:pPr marL="354013" lvl="0" indent="-354013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1" dirty="0"/>
              <a:t>“Is the value missing?”</a:t>
            </a:r>
            <a:endParaRPr lang="en-GB" sz="1200" dirty="0"/>
          </a:p>
          <a:p>
            <a:pPr marL="354013" lvl="0" indent="-354013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but also:</a:t>
            </a:r>
          </a:p>
          <a:p>
            <a:pPr marL="354013" lvl="0" indent="-354013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1" dirty="0"/>
              <a:t>“Why is it missing?”</a:t>
            </a:r>
            <a:endParaRPr lang="en-GB" sz="1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2158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B836-E4EE-4E06-8B91-0A9BDBDB4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62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43F9D-205F-46E1-9D12-71A9AC6E1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5913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162BC-6CA4-467E-AC86-BC77F310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33EDF-AB45-418D-8F51-D1AD2EDA3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923A67F-3C36-613E-ED45-4C44A259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67742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0AE1-99A4-41F3-BF6E-65E1013A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4259"/>
            <a:ext cx="890060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915C1-7308-4EE4-B2E5-01F49DB1D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4424B-1C03-4B66-9EF1-A229FB75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E005-405B-4CE0-928D-52F5FEE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8D7E0-ED2C-4C9E-A814-A3C47C37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70930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D467-1716-4D07-9AA3-7A664C4D1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04D9E-EF9B-4615-96B0-4EA09278B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1B99-FD4E-4ACF-95C7-037B7D19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07437-B0B6-48C7-A34A-19E95D9B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EAC33-DEA4-B6B2-71F9-C66F37B2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0588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C101-C812-4A54-B9AD-882F17E2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0F46-33F1-4156-BC49-BB22674E3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920D2-BE75-470C-9C4B-D8543D713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42DAA-7DAF-49AC-BAE0-70A3942E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13C39-64ED-4144-988B-D3ED11FE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D071622-1A56-5F5D-7C48-60ED4F46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46199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4105-5F97-48A3-AA6F-BADCE382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7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9B9BC-0773-46F4-BF10-B66027DBA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3E622-696B-4DC4-94B6-1DD605B11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C910A-7183-4227-AD5B-275F32F50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A0466-8EA4-44AE-AF38-8D0CF8770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87FD3-5C74-44AD-9CB5-28B1BF7D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7C44D-BC7B-4904-9A38-0AD77B82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FF81A8D-86AB-D0F1-C12B-93C0BC21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94801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0906-B4A4-4BEE-92C1-B3DDE11F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0F041-8ABD-4664-B1A5-6A4CA1C0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34C98-2D5E-430B-B7D8-66C11BD7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74D50-E0AF-7C43-458F-C9D7C62B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83600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FC441-C690-4EEF-920D-D09DB0F2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B84C9-EEF1-438D-91A9-23773B67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F985CD-07FD-1C2E-C8C8-FDEF54E9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15047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6BE4-6FF8-47FD-94E0-A136532F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B5A2B-F66F-41C8-A747-1E19255F4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2CDD9-C6CB-4AD9-BCCE-B1E27D979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96FB3-9D3F-40F6-A756-F494796A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2FFE2-D26A-4DBB-A9F8-21F2F25B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638C9B0-FE7A-E1B6-A360-8858370B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912261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0C0E-53E5-430A-BECB-DE76F1CC3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6A415-E8A5-4B01-8F66-20BF09CE9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08B4D-3C51-43FD-849B-425B6D6F8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423EC-1F52-4B63-A47A-58925E01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6B3AD-0636-4B60-96A1-136B5F01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BC033F7-210F-9582-63EE-42FC2599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272302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B817-3673-4DE2-BCA0-E562F2CE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E6782-58FA-4A22-8241-7CD0AF42E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997E6-7848-4967-B09B-5BD03C98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674B2-668D-4966-8849-37A9CCD4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47755C-17AC-F28B-5078-0194B60B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6984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01867C-BED4-44B7-A70E-4EF6F3399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4DCE0-AEE9-4B9E-845B-8A5FB77BA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9966C-5B0E-4D0D-9341-168BA6C38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952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01/17/2018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B4EB6-224E-4A2D-AC5D-AF0AFB62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52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19D011-EA1E-48E8-7896-82635155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75" y="6463246"/>
            <a:ext cx="2743200" cy="31097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416467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158B2-5239-4E3A-89F4-229D4B12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59"/>
            <a:ext cx="89094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24DE6-2CA7-45AF-BD92-BBC7CEF35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81150"/>
            <a:ext cx="10515600" cy="4629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Google Shape;15;p18">
            <a:extLst>
              <a:ext uri="{FF2B5EF4-FFF2-40B4-BE49-F238E27FC236}">
                <a16:creationId xmlns:a16="http://schemas.microsoft.com/office/drawing/2014/main" id="{D4C3B5C1-CC93-02A0-A1B9-974968587135}"/>
              </a:ext>
            </a:extLst>
          </p:cNvPr>
          <p:cNvSpPr/>
          <p:nvPr userDrawn="1"/>
        </p:nvSpPr>
        <p:spPr>
          <a:xfrm>
            <a:off x="0" y="6210300"/>
            <a:ext cx="1219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6;p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763B9A6-2820-62C5-FD73-4D72B09B1053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113894" y="6110413"/>
            <a:ext cx="2341051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4D38F0-A39A-2A1C-E461-813F3D011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7456" y="6444195"/>
            <a:ext cx="386443" cy="313917"/>
          </a:xfrm>
          <a:prstGeom prst="rect">
            <a:avLst/>
          </a:prstGeom>
        </p:spPr>
        <p:txBody>
          <a:bodyPr/>
          <a:lstStyle>
            <a:lvl1pPr algn="r">
              <a:defRPr sz="1050" b="0"/>
            </a:lvl1pPr>
          </a:lstStyle>
          <a:p>
            <a:fld id="{6C8DB4F7-D883-4928-8961-38134A510B78}" type="slidenum">
              <a:rPr lang="en-GB" smtClean="0"/>
              <a:pPr/>
              <a:t>‹#›</a:t>
            </a:fld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393334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>
              <a:lumMod val="50000"/>
            </a:schemeClr>
          </a:solidFill>
          <a:latin typeface="+mn-lt"/>
          <a:ea typeface="+mj-ea"/>
          <a:cs typeface="+mj-cs"/>
        </a:defRPr>
      </a:lvl1pPr>
    </p:titleStyle>
    <p:bodyStyle>
      <a:lvl1pPr marL="354013" indent="-354013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6450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69988" indent="-2555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2900" indent="-241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65338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22397A-B976-4D54-A4CD-20AA62C071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39384" y="4917186"/>
            <a:ext cx="9144000" cy="1092204"/>
          </a:xfrm>
        </p:spPr>
        <p:txBody>
          <a:bodyPr>
            <a:normAutofit/>
          </a:bodyPr>
          <a:lstStyle/>
          <a:p>
            <a:pPr lvl="0"/>
            <a:r>
              <a:rPr lang="en-GB" sz="2800" b="1" dirty="0">
                <a:solidFill>
                  <a:srgbClr val="00B0F0"/>
                </a:solidFill>
              </a:rPr>
              <a:t>Lecturer: Dr. Muhammad Iqbal</a:t>
            </a:r>
            <a:r>
              <a:rPr lang="en-GB" sz="1600" b="1" baseline="60000" dirty="0">
                <a:solidFill>
                  <a:srgbClr val="00B0F0"/>
                </a:solidFill>
              </a:rPr>
              <a:t>*</a:t>
            </a:r>
          </a:p>
          <a:p>
            <a:pPr lvl="0"/>
            <a:r>
              <a:rPr lang="en-GB" sz="2800" b="1" dirty="0">
                <a:solidFill>
                  <a:srgbClr val="00B0F0"/>
                </a:solidFill>
              </a:rPr>
              <a:t>Email: miqbal@cct.ie</a:t>
            </a:r>
          </a:p>
          <a:p>
            <a:pPr lvl="0"/>
            <a:endParaRPr lang="en-GB" sz="2800" b="1" dirty="0">
              <a:solidFill>
                <a:srgbClr val="00B0F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2CFE4FC-E589-4887-B87B-4184B451149E}"/>
              </a:ext>
            </a:extLst>
          </p:cNvPr>
          <p:cNvSpPr txBox="1">
            <a:spLocks/>
          </p:cNvSpPr>
          <p:nvPr/>
        </p:nvSpPr>
        <p:spPr>
          <a:xfrm>
            <a:off x="2539384" y="3429000"/>
            <a:ext cx="9144000" cy="10922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>
            <a:lvl1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dirty="0">
                <a:solidFill>
                  <a:schemeClr val="tx1"/>
                </a:solidFill>
              </a:rPr>
              <a:t>Exploratory Data Analysis</a:t>
            </a:r>
            <a:endParaRPr lang="en-GB" sz="2800" b="1" baseline="60000" dirty="0">
              <a:solidFill>
                <a:schemeClr val="tx1"/>
              </a:solidFill>
            </a:endParaRPr>
          </a:p>
          <a:p>
            <a:r>
              <a:rPr lang="en-GB" sz="2800" b="1" dirty="0">
                <a:solidFill>
                  <a:schemeClr val="tx1"/>
                </a:solidFill>
              </a:rPr>
              <a:t>Week 5</a:t>
            </a:r>
          </a:p>
          <a:p>
            <a:endParaRPr lang="en-GB" sz="2800" b="1" dirty="0">
              <a:solidFill>
                <a:schemeClr val="tx1"/>
              </a:solidFill>
            </a:endParaRPr>
          </a:p>
        </p:txBody>
      </p:sp>
      <p:pic>
        <p:nvPicPr>
          <p:cNvPr id="6" name="Picture 5" descr="A large building in the background&#10;&#10;Description automatically generated">
            <a:extLst>
              <a:ext uri="{FF2B5EF4-FFF2-40B4-BE49-F238E27FC236}">
                <a16:creationId xmlns:a16="http://schemas.microsoft.com/office/drawing/2014/main" id="{EADD99AE-462A-B5AA-3FB8-52585AA6A3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" t="1724"/>
          <a:stretch/>
        </p:blipFill>
        <p:spPr>
          <a:xfrm>
            <a:off x="0" y="1"/>
            <a:ext cx="3634442" cy="334171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B9C049-4DD8-3A11-342B-7C02355E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1</a:t>
            </a:fld>
            <a:endParaRPr lang="en-GB" b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376695E-5CD1-4B19-A8E8-FEEEE597FE4F}"/>
              </a:ext>
            </a:extLst>
          </p:cNvPr>
          <p:cNvSpPr txBox="1">
            <a:spLocks/>
          </p:cNvSpPr>
          <p:nvPr/>
        </p:nvSpPr>
        <p:spPr>
          <a:xfrm>
            <a:off x="2286850" y="1340158"/>
            <a:ext cx="9280156" cy="17830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3200" dirty="0"/>
              <a:t>Data Exploration and Preparation</a:t>
            </a:r>
            <a:br>
              <a:rPr lang="en-GB" sz="3200" dirty="0"/>
            </a:br>
            <a:r>
              <a:rPr lang="en-GB" sz="3200" dirty="0"/>
              <a:t>Diploma in DAB – L7</a:t>
            </a:r>
            <a:br>
              <a:rPr lang="en-GB" sz="3200" dirty="0"/>
            </a:br>
            <a:r>
              <a:rPr lang="en-GB" sz="3200" dirty="0">
                <a:solidFill>
                  <a:schemeClr val="accent4">
                    <a:lumMod val="75000"/>
                  </a:schemeClr>
                </a:solidFill>
              </a:rPr>
              <a:t>CCT College Dublin</a:t>
            </a:r>
            <a:endParaRPr lang="en-GB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653D9-BC83-E107-46BB-6F2C1134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381"/>
            <a:ext cx="8900604" cy="1325563"/>
          </a:xfrm>
        </p:spPr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622F8-0718-D96D-C70A-18475D785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5" y="1266814"/>
            <a:ext cx="10422775" cy="5113302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900"/>
              </a:spcAft>
              <a:buClrTx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Missing Data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900"/>
              </a:spcAft>
              <a:buClrTx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 of Data Cleaning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900"/>
              </a:spcAft>
              <a:buClrTx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does Data Cleaning involve?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900"/>
              </a:spcAft>
              <a:buClrTx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Documenting the Cleaning Process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900"/>
              </a:spcAft>
              <a:buClrTx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dropping Missing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900"/>
              </a:spcAft>
              <a:buClrTx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Replacing Missing Values with a Constant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900"/>
              </a:spcAft>
              <a:buClrTx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Imputation using Mean, Median or Mode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900"/>
              </a:spcAft>
              <a:buClrTx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Choosing the Appropriate Strategy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A1B2B-D3B0-8236-5333-FD80B238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2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13517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C674-FC14-0036-BA99-94EF7A0F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068"/>
            <a:ext cx="8900604" cy="1205903"/>
          </a:xfrm>
        </p:spPr>
        <p:txBody>
          <a:bodyPr/>
          <a:lstStyle/>
          <a:p>
            <a:r>
              <a:rPr lang="en-GB" dirty="0"/>
              <a:t>Introduction to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CFE5F-41E1-074C-700A-C6E99E3E0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018" y="1321724"/>
            <a:ext cx="10688782" cy="491282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Missing data refers to values that are </a:t>
            </a:r>
            <a:r>
              <a:rPr lang="en-GB" sz="2000" b="1" dirty="0"/>
              <a:t>not recorded, unavailable, or absent</a:t>
            </a:r>
            <a:r>
              <a:rPr lang="en-GB" sz="2000" dirty="0"/>
              <a:t> for one or more variables in a dataset.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Why it matters in data exploration and preparation?</a:t>
            </a:r>
            <a:endParaRPr lang="en-GB" sz="2000" dirty="0"/>
          </a:p>
          <a:p>
            <a:pPr marL="1071563" lvl="0" indent="-35718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Missing values can reduce data quality and affect the accuracy of analysis or machine-learning models.</a:t>
            </a:r>
          </a:p>
          <a:p>
            <a:pPr marL="1071563" lvl="0" indent="-35718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They may occur because of data-entry errors, unanswered survey questions, system failures, or unavailable information.</a:t>
            </a:r>
          </a:p>
          <a:p>
            <a:pPr marL="1071563" lvl="0" indent="-35718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During data exploration, missing values should be identified.</a:t>
            </a:r>
          </a:p>
          <a:p>
            <a:pPr marL="1071563" lvl="0" indent="-35718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During data preparation, they can be handled by removing affected rows/ columns, replacing values through imputation, or keeping them when the absence itself is meaningful.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Example:</a:t>
            </a:r>
            <a:br>
              <a:rPr lang="en-GB" sz="2000" dirty="0"/>
            </a:br>
            <a:r>
              <a:rPr lang="en-GB" sz="2000" dirty="0"/>
              <a:t>If a customer dataset contains </a:t>
            </a:r>
            <a:r>
              <a:rPr lang="en-GB" sz="2000" b="1" i="1" dirty="0"/>
              <a:t>Age = blank</a:t>
            </a:r>
            <a:r>
              <a:rPr lang="en-GB" sz="1800" b="1" i="1" dirty="0"/>
              <a:t> </a:t>
            </a:r>
            <a:r>
              <a:rPr lang="en-GB" sz="2000" dirty="0"/>
              <a:t>for some customers, those blank entries are considered missing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4976F-1E68-16C6-0A97-3D691BFA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3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59149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60E59-BC62-2180-C3BE-6A49C137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7A80-49F0-4E61-F358-4D6E08FA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D629F-CDE2-D978-D717-B157F2936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412"/>
            <a:ext cx="10515600" cy="4983582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Data cleaning is an essential stage of data preparation. Before analysing a dataset, we need to check whether the data is complete, valid, consistent and suitable for analysis.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We focus on four closely related areas, such as</a:t>
            </a:r>
          </a:p>
          <a:p>
            <a:pPr marL="1071563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b="1" dirty="0"/>
              <a:t>Data Cleaning</a:t>
            </a:r>
            <a:endParaRPr lang="en-GB" sz="2400" dirty="0"/>
          </a:p>
          <a:p>
            <a:pPr marL="1071563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b="1" dirty="0"/>
              <a:t>Documenting the Cleaning Process</a:t>
            </a:r>
            <a:endParaRPr lang="en-GB" sz="2400" dirty="0"/>
          </a:p>
          <a:p>
            <a:pPr marL="1071563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b="1" dirty="0"/>
              <a:t>Handling Missing Data</a:t>
            </a:r>
            <a:endParaRPr lang="en-GB" sz="2400" dirty="0"/>
          </a:p>
          <a:p>
            <a:pPr marL="1071563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b="1" dirty="0"/>
              <a:t>Dropping, Imputation and Flagging</a:t>
            </a:r>
            <a:endParaRPr lang="en-GB" sz="2400" dirty="0"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The main idea is simple: the quality of the analysis depends heavily on the quality of the data provided to the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709EE-1F09-BAEE-7EDC-17985B99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4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822998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6AA2-CC4A-72AB-A745-BA9B515D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381"/>
            <a:ext cx="8900604" cy="1325563"/>
          </a:xfrm>
        </p:spPr>
        <p:txBody>
          <a:bodyPr/>
          <a:lstStyle/>
          <a:p>
            <a:r>
              <a:rPr lang="en-GB" dirty="0"/>
              <a:t>Purpose of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D92E-9968-4D2D-7071-E98C6C1AA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229"/>
            <a:ext cx="10515599" cy="468907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Raw data is rarely ready for immediate analysis. It may contain missing values, duplicate records, inconsistent labels, incorrect data types, obsolete fields or unusual values.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We emphasise that the database values need both </a:t>
            </a:r>
            <a:r>
              <a:rPr lang="en-GB" sz="2200" b="1" dirty="0"/>
              <a:t>data cleaning</a:t>
            </a:r>
            <a:r>
              <a:rPr lang="en-GB" sz="2200" dirty="0"/>
              <a:t> and </a:t>
            </a:r>
            <a:r>
              <a:rPr lang="en-GB" sz="2200" b="1" dirty="0"/>
              <a:t>data transformation</a:t>
            </a:r>
            <a:r>
              <a:rPr lang="en-GB" sz="2200" dirty="0"/>
              <a:t> before exploration can begin.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The purpose is to minimise the effect of poor-quality inputs on the final analysis, commonly described as </a:t>
            </a:r>
            <a:r>
              <a:rPr lang="en-GB" sz="2200" b="1" dirty="0"/>
              <a:t>Garbage In → Garbage Out</a:t>
            </a:r>
            <a:r>
              <a:rPr lang="en-GB" sz="2200" dirty="0"/>
              <a:t>.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b="1" dirty="0"/>
              <a:t>Example: </a:t>
            </a:r>
            <a:r>
              <a:rPr lang="en-GB" sz="2200" dirty="0"/>
              <a:t>Imagine a supermarket dataset containing customer ages, product prices and transaction values. If ages contain text values, prices contain negative numbers and customer information is incomplete, any analysis may become misleading.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C1B87-F2E5-17FB-C102-D42EC0A7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5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92257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BCA7-DD47-FAFA-F014-20D22057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Data Cleaning involve?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E0CD2-CE81-D1D6-AA42-8EAE00EE7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821"/>
            <a:ext cx="10515600" cy="516723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Data cleaning means examining the dataset for errors and deciding how those errors should be treated.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A value may be technically stored in the database but still be incorrect. For example, a postal code such as </a:t>
            </a:r>
            <a:r>
              <a:rPr lang="en-GB" sz="2200" b="1" dirty="0"/>
              <a:t>06269</a:t>
            </a:r>
            <a:r>
              <a:rPr lang="en-GB" sz="2200" dirty="0"/>
              <a:t> can become </a:t>
            </a:r>
            <a:r>
              <a:rPr lang="en-GB" sz="2200" b="1" dirty="0"/>
              <a:t>6269</a:t>
            </a:r>
            <a:r>
              <a:rPr lang="en-GB" sz="2200" dirty="0"/>
              <a:t> when it is incorrectly stored as a numeric field. Similarly, a categorical field such as gender may simply be blank.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Cleaning involves asking questions, such as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b="1" dirty="0"/>
              <a:t>Is this value valid?</a:t>
            </a:r>
            <a:endParaRPr lang="en-GB" sz="22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b="1" dirty="0"/>
              <a:t>Is the data type correct?</a:t>
            </a:r>
            <a:endParaRPr lang="en-GB" sz="22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b="1" dirty="0"/>
              <a:t>Does this value make sense?</a:t>
            </a:r>
            <a:endParaRPr lang="en-GB" sz="22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b="1" dirty="0"/>
              <a:t>Is information missing?</a:t>
            </a:r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1983B-5B6E-5BF6-AC85-57F1C8BA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6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79588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72878-A53B-9AB0-0378-E5C4CDEE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9C880-C0F9-D114-83A1-F89D87E1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Documenting the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AF001-7285-449F-F917-07B36EAAB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9822"/>
            <a:ext cx="7491153" cy="483472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Data cleaning should be documented so that another person can understand what was changed and why.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A good cleaning record should explain</a:t>
            </a:r>
          </a:p>
          <a:p>
            <a:pPr marL="1071563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What problem was identified</a:t>
            </a:r>
            <a:endParaRPr lang="en-GB" sz="2000" dirty="0"/>
          </a:p>
          <a:p>
            <a:pPr marL="1071563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Which variable or records were affected</a:t>
            </a:r>
            <a:endParaRPr lang="en-GB" sz="2000" dirty="0"/>
          </a:p>
          <a:p>
            <a:pPr marL="1071563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What action was taken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For example: “Three missing age values were replaced using the median age because the distribution was skewed.”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Documentation improves transparency, reproducibility and accountability.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E52F9-7C8D-564C-5C49-F849E5B4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7</a:t>
            </a:fld>
            <a:endParaRPr lang="en-GB" b="0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606860C-B361-1046-00B5-1F49B11781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9092413"/>
              </p:ext>
            </p:extLst>
          </p:nvPr>
        </p:nvGraphicFramePr>
        <p:xfrm>
          <a:off x="8092614" y="2223372"/>
          <a:ext cx="4089861" cy="318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82C5E6-C47C-0516-CBFA-C2382E05A233}"/>
              </a:ext>
            </a:extLst>
          </p:cNvPr>
          <p:cNvSpPr txBox="1"/>
          <p:nvPr/>
        </p:nvSpPr>
        <p:spPr>
          <a:xfrm>
            <a:off x="8512232" y="1520481"/>
            <a:ext cx="3423112" cy="505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b="1" dirty="0">
                <a:solidFill>
                  <a:schemeClr val="accent4">
                    <a:lumMod val="75000"/>
                  </a:schemeClr>
                </a:solidFill>
              </a:rPr>
              <a:t>Recommended workflow</a:t>
            </a:r>
          </a:p>
        </p:txBody>
      </p:sp>
    </p:spTree>
    <p:extLst>
      <p:ext uri="{BB962C8B-B14F-4D97-AF65-F5344CB8AC3E}">
        <p14:creationId xmlns:p14="http://schemas.microsoft.com/office/powerpoint/2010/main" val="29096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AD6F-051F-AE01-6EBA-33805F6C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E2BD-6E5E-8CDE-4753-24578B7E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Should we drop missing data?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4533018-90C8-5090-D680-7CFDDD127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907155"/>
              </p:ext>
            </p:extLst>
          </p:nvPr>
        </p:nvGraphicFramePr>
        <p:xfrm>
          <a:off x="6235934" y="3696220"/>
          <a:ext cx="3140823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5593">
                  <a:extLst>
                    <a:ext uri="{9D8B030D-6E8A-4147-A177-3AD203B41FA5}">
                      <a16:colId xmlns:a16="http://schemas.microsoft.com/office/drawing/2014/main" val="3405752093"/>
                    </a:ext>
                  </a:extLst>
                </a:gridCol>
                <a:gridCol w="988289">
                  <a:extLst>
                    <a:ext uri="{9D8B030D-6E8A-4147-A177-3AD203B41FA5}">
                      <a16:colId xmlns:a16="http://schemas.microsoft.com/office/drawing/2014/main" val="362950019"/>
                    </a:ext>
                  </a:extLst>
                </a:gridCol>
                <a:gridCol w="1046941">
                  <a:extLst>
                    <a:ext uri="{9D8B030D-6E8A-4147-A177-3AD203B41FA5}">
                      <a16:colId xmlns:a16="http://schemas.microsoft.com/office/drawing/2014/main" val="1077291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Income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139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€42,000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729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€51,000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506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€63,000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66785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79E28-ABFA-E03B-095F-7EA81896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8</a:t>
            </a:fld>
            <a:endParaRPr lang="en-GB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65139-481A-D289-F4BA-86E309485B22}"/>
              </a:ext>
            </a:extLst>
          </p:cNvPr>
          <p:cNvSpPr txBox="1"/>
          <p:nvPr/>
        </p:nvSpPr>
        <p:spPr>
          <a:xfrm>
            <a:off x="773084" y="1463041"/>
            <a:ext cx="10033461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One possible approach is to delete rows containing missing values. However, this can be risky.</a:t>
            </a:r>
          </a:p>
          <a:p>
            <a:pPr marL="342900" indent="-342900">
              <a:spcBef>
                <a:spcPts val="6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If we delete incomplete records, it may remove valuable information from the remaining fields. The pattern of missingness may also be systematic rather than random. </a:t>
            </a:r>
          </a:p>
          <a:p>
            <a:pPr marL="342900" indent="-342900">
              <a:spcBef>
                <a:spcPts val="6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In the example provided, even a relatively small proportion of missing values could lead to a very large loss of complete records.</a:t>
            </a:r>
            <a:endParaRPr lang="en-GB" sz="2000" b="1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GB" sz="6600" dirty="0"/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If </a:t>
            </a:r>
            <a:r>
              <a:rPr lang="en-GB" sz="2000" b="1" i="1" dirty="0"/>
              <a:t>Customer B </a:t>
            </a:r>
            <a:r>
              <a:rPr lang="en-GB" sz="2000" dirty="0"/>
              <a:t>is deleted, the income information is also lost.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Question: </a:t>
            </a:r>
            <a:r>
              <a:rPr lang="en-GB" sz="2000" dirty="0"/>
              <a:t>Does deleting the record create more damage than keeping it?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D02C1F-6D4A-99C9-68E7-84E4B0EF5084}"/>
              </a:ext>
            </a:extLst>
          </p:cNvPr>
          <p:cNvSpPr txBox="1"/>
          <p:nvPr/>
        </p:nvSpPr>
        <p:spPr>
          <a:xfrm>
            <a:off x="1577340" y="4225236"/>
            <a:ext cx="3044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 err="1">
                <a:latin typeface="Consolas" panose="020B0609020204030204" pitchFamily="49" charset="0"/>
              </a:rPr>
              <a:t>df</a:t>
            </a:r>
            <a:r>
              <a:rPr lang="en-GB" sz="2000" b="1" dirty="0">
                <a:latin typeface="Consolas" panose="020B0609020204030204" pitchFamily="49" charset="0"/>
              </a:rPr>
              <a:t> = </a:t>
            </a:r>
            <a:r>
              <a:rPr lang="en-GB" sz="2000" b="1" dirty="0" err="1">
                <a:latin typeface="Consolas" panose="020B0609020204030204" pitchFamily="49" charset="0"/>
              </a:rPr>
              <a:t>df.dropna</a:t>
            </a:r>
            <a:r>
              <a:rPr lang="en-GB" sz="2000" b="1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19955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9C8B-8220-DD2B-453B-A6B2CAC45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755"/>
            <a:ext cx="10059784" cy="1325563"/>
          </a:xfrm>
        </p:spPr>
        <p:txBody>
          <a:bodyPr>
            <a:normAutofit/>
          </a:bodyPr>
          <a:lstStyle/>
          <a:p>
            <a:r>
              <a:rPr lang="en-GB" dirty="0"/>
              <a:t>Replacing Missing Values with a Constant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BAE0-9D6D-ADB2-2B40-3D7D954D8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74" y="1487978"/>
            <a:ext cx="10456025" cy="49128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A simple alternative is to replace missing values with a fixed value selected by the analyst.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For numeric variables, a constant such as </a:t>
            </a:r>
            <a:r>
              <a:rPr lang="en-GB" sz="2200" b="1" dirty="0"/>
              <a:t>0</a:t>
            </a:r>
            <a:r>
              <a:rPr lang="en-GB" sz="2200" dirty="0"/>
              <a:t> may be used. For categorical variables, a label such as </a:t>
            </a:r>
            <a:r>
              <a:rPr lang="en-GB" sz="2200" b="1" dirty="0"/>
              <a:t>“Missing”</a:t>
            </a:r>
            <a:r>
              <a:rPr lang="en-GB" sz="2200" dirty="0"/>
              <a:t> or </a:t>
            </a:r>
            <a:r>
              <a:rPr lang="en-GB" sz="2200" b="1" dirty="0"/>
              <a:t>“Unknown”</a:t>
            </a:r>
            <a:r>
              <a:rPr lang="en-GB" sz="2200" dirty="0"/>
              <a:t> may be inserted.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This method replaces missing numeric values with </a:t>
            </a:r>
            <a:r>
              <a:rPr lang="en-GB" sz="2200" b="1" dirty="0"/>
              <a:t>0.0</a:t>
            </a:r>
            <a:r>
              <a:rPr lang="en-GB" sz="2200" dirty="0"/>
              <a:t> and missing category values with </a:t>
            </a:r>
            <a:r>
              <a:rPr lang="en-GB" sz="2200" b="1" dirty="0"/>
              <a:t>“Missing”</a:t>
            </a:r>
            <a:r>
              <a:rPr lang="en-GB" sz="2200" dirty="0"/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b="1" dirty="0"/>
              <a:t>Caution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A constant must not accidentally imply real meaning.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For example, replacing a missing age with 0 may suggest that the customer is a newborn. A separate “Missing” category may be safer when the distinction matters.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FD170-00E1-7CB7-885C-245B8643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9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55125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F231-FC84-8FA7-4237-3166F95D1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2007"/>
            <a:ext cx="10121536" cy="1325563"/>
          </a:xfrm>
        </p:spPr>
        <p:txBody>
          <a:bodyPr>
            <a:normAutofit/>
          </a:bodyPr>
          <a:lstStyle/>
          <a:p>
            <a:r>
              <a:rPr lang="en-GB" dirty="0"/>
              <a:t>Imputation using Mean, Median or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1F128-BE0E-931C-5F72-16543CCCC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149"/>
            <a:ext cx="10515600" cy="481133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Another approach is </a:t>
            </a:r>
            <a:r>
              <a:rPr lang="en-GB" sz="2400" b="1" dirty="0"/>
              <a:t>imputation</a:t>
            </a:r>
            <a:r>
              <a:rPr lang="en-GB" sz="2400" dirty="0"/>
              <a:t>, where missing values are replaced with a reasonable estimate.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For categorical data, the </a:t>
            </a:r>
            <a:r>
              <a:rPr lang="en-GB" sz="2400" b="1" dirty="0"/>
              <a:t>mode</a:t>
            </a:r>
            <a:r>
              <a:rPr lang="en-GB" sz="2400" dirty="0"/>
              <a:t> may be used.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For numerical data, the </a:t>
            </a:r>
            <a:r>
              <a:rPr lang="en-GB" sz="2400" b="1" dirty="0"/>
              <a:t>mean</a:t>
            </a:r>
            <a:r>
              <a:rPr lang="en-GB" sz="2400" dirty="0"/>
              <a:t> or </a:t>
            </a:r>
            <a:r>
              <a:rPr lang="en-GB" sz="2400" b="1" dirty="0"/>
              <a:t>median</a:t>
            </a:r>
            <a:r>
              <a:rPr lang="en-GB" sz="2400" dirty="0"/>
              <a:t> may be suitable.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We replace the missing brand value with mode as </a:t>
            </a:r>
            <a:r>
              <a:rPr lang="en-GB" sz="2400" b="1" dirty="0"/>
              <a:t>US</a:t>
            </a:r>
            <a:r>
              <a:rPr lang="en-GB" sz="2400" dirty="0"/>
              <a:t>, while the missing cubic-inch value is replaced by the mean value </a:t>
            </a:r>
            <a:r>
              <a:rPr lang="en-GB" sz="2400" b="1" dirty="0"/>
              <a:t>200.65</a:t>
            </a:r>
            <a:r>
              <a:rPr lang="en-GB" sz="24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b="1" dirty="0"/>
              <a:t>Mean = 285.25</a:t>
            </a:r>
            <a:r>
              <a:rPr lang="en-GB" sz="2400" dirty="0"/>
              <a:t>, Cubic-inches: 350, missing, 302, 400, 89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b="1" dirty="0"/>
              <a:t>Median = 326</a:t>
            </a:r>
            <a:r>
              <a:rPr lang="en-GB" sz="2400" dirty="0"/>
              <a:t>, After imputation: 89, 302, 350, 400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Imputation keeps the record in the dataset, but the replacement value is an estimate rather than an original observation.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FC8A8-77DF-CF4C-F069-E24AB4F7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10</a:t>
            </a:fld>
            <a:endParaRPr lang="en-GB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62EA1-0EA9-F743-52E4-8E6FFD69B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002" y="4080407"/>
            <a:ext cx="3604572" cy="11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76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305E-7932-B0B1-2895-3AA6ADFB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8DE2-38E3-CD8E-98C9-B46A1AD5C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Limitations </a:t>
            </a:r>
            <a:br>
              <a:rPr lang="en-GB" dirty="0"/>
            </a:b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Mean and Mode Imputation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F3FC4-D449-BC42-96F4-AEF1ADDB7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606"/>
            <a:ext cx="10515600" cy="482563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Mean or mode imputation can be convenient, but it is not always the best solution.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The mean may not represent a good “typical” value. Replacing many observations with the same value can also reduce variation in the dataset artificially, which may make statistical confidence appear stronger than it really is.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b="1" dirty="0"/>
              <a:t>For Example: </a:t>
            </a:r>
            <a:r>
              <a:rPr lang="en-GB" sz="2200" dirty="0"/>
              <a:t>If salary data is strongly skewed by a small number of very high earners, the mean may be much higher than the salary of a typical employee.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In that case, the </a:t>
            </a:r>
            <a:r>
              <a:rPr lang="en-GB" sz="2200" b="1" dirty="0"/>
              <a:t>median</a:t>
            </a:r>
            <a:r>
              <a:rPr lang="en-GB" sz="2200" dirty="0"/>
              <a:t> may provide a more appropriate replacement.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b="1" dirty="0"/>
              <a:t>Main Principle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200" dirty="0"/>
              <a:t>Choose the imputation method according to the variable and its distribution.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FE8A6-B5A7-D91C-62FC-0E9DA370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11</a:t>
            </a:fld>
            <a:endParaRPr lang="en-GB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4E3AB-1F52-91A2-A895-20E45D165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287" y="-24497"/>
            <a:ext cx="4776713" cy="152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6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825C6-3B8B-C908-C350-33DE0BA2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B0D6B-8BCC-E701-0928-B56534FB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Flagging Missing or Imputed Values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596780B-B087-510B-7C1E-EABA1CB35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742123"/>
              </p:ext>
            </p:extLst>
          </p:nvPr>
        </p:nvGraphicFramePr>
        <p:xfrm>
          <a:off x="9448800" y="5520"/>
          <a:ext cx="27432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86565292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8636008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Age_Missing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166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125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190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5833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C58E9-24B1-AE16-515D-516D51A8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12</a:t>
            </a:fld>
            <a:endParaRPr lang="en-GB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12BA6-D956-BAB3-6B8E-7CA4534E44E5}"/>
              </a:ext>
            </a:extLst>
          </p:cNvPr>
          <p:cNvSpPr txBox="1"/>
          <p:nvPr/>
        </p:nvSpPr>
        <p:spPr>
          <a:xfrm>
            <a:off x="838201" y="1593256"/>
            <a:ext cx="10433857" cy="4588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A useful technique is to create an additional variable showing whether the original value was missing.</a:t>
            </a:r>
          </a:p>
          <a:p>
            <a:pPr marL="342900" indent="-342900">
              <a:spcBef>
                <a:spcPts val="6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2200" b="1" dirty="0"/>
              <a:t>For example: </a:t>
            </a:r>
            <a:r>
              <a:rPr lang="en-GB" sz="2200" dirty="0"/>
              <a:t>Here, </a:t>
            </a:r>
            <a:r>
              <a:rPr lang="en-GB" sz="2200" dirty="0">
                <a:latin typeface="+mn-lt"/>
              </a:rPr>
              <a:t>31</a:t>
            </a:r>
            <a:r>
              <a:rPr lang="en-GB" sz="2200" dirty="0"/>
              <a:t> may be an imputed value, while </a:t>
            </a:r>
            <a:r>
              <a:rPr lang="en-GB" sz="2200" b="1" i="1" dirty="0" err="1">
                <a:latin typeface="+mn-lt"/>
              </a:rPr>
              <a:t>Age_Missing</a:t>
            </a:r>
            <a:r>
              <a:rPr lang="en-GB" sz="2200" b="1" i="1" dirty="0">
                <a:latin typeface="+mn-lt"/>
              </a:rPr>
              <a:t> = 1</a:t>
            </a:r>
            <a:r>
              <a:rPr lang="en-GB" sz="2200" b="1" i="1" dirty="0"/>
              <a:t> </a:t>
            </a:r>
            <a:r>
              <a:rPr lang="en-GB" sz="2200" dirty="0"/>
              <a:t>tells us that the original observation was unavailable.</a:t>
            </a:r>
          </a:p>
          <a:p>
            <a:pPr marL="342900" indent="-342900">
              <a:spcBef>
                <a:spcPts val="6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Flagging helps to preserve information about the original condition of the dataset. It is particularly useful when missingness itself could be meaningful.</a:t>
            </a:r>
          </a:p>
          <a:p>
            <a:pPr marL="342900" indent="-342900">
              <a:spcBef>
                <a:spcPts val="6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For example, customers who do not provide income information may behave differently from customers who do.</a:t>
            </a:r>
          </a:p>
          <a:p>
            <a:pPr marL="342900" indent="-342900">
              <a:spcBef>
                <a:spcPts val="6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2200" b="1" dirty="0"/>
              <a:t>Good Practice</a:t>
            </a:r>
          </a:p>
          <a:p>
            <a:pPr marL="342900" indent="-342900">
              <a:spcBef>
                <a:spcPts val="6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Impute the value when appropriate, but keep a record that it was originally missing.</a:t>
            </a:r>
          </a:p>
        </p:txBody>
      </p:sp>
    </p:spTree>
    <p:extLst>
      <p:ext uri="{BB962C8B-B14F-4D97-AF65-F5344CB8AC3E}">
        <p14:creationId xmlns:p14="http://schemas.microsoft.com/office/powerpoint/2010/main" val="1114471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77A76-76F6-A7A0-431E-0AB1FDDA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5070"/>
            <a:ext cx="8900604" cy="1325563"/>
          </a:xfrm>
        </p:spPr>
        <p:txBody>
          <a:bodyPr/>
          <a:lstStyle/>
          <a:p>
            <a:r>
              <a:rPr lang="en-GB" dirty="0"/>
              <a:t>Choosing the Appropriate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48447-1F60-4D73-86A3-D94DF990D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413"/>
            <a:ext cx="7441275" cy="52696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900"/>
              </a:spcAft>
            </a:pPr>
            <a:r>
              <a:rPr lang="en-GB" sz="2000" dirty="0"/>
              <a:t>There is no single correct solution for every missing-data problem.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900"/>
              </a:spcAft>
            </a:pPr>
            <a:r>
              <a:rPr lang="en-GB" sz="2000" b="1" dirty="0"/>
              <a:t>Dropping</a:t>
            </a:r>
            <a:r>
              <a:rPr lang="en-GB" sz="2000" dirty="0"/>
              <a:t> may be acceptable when only a very small number of observations are affected and their removal is unlikely to introduce bias.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900"/>
              </a:spcAft>
            </a:pPr>
            <a:r>
              <a:rPr lang="en-GB" sz="2000" b="1" dirty="0"/>
              <a:t>Imputation</a:t>
            </a:r>
            <a:r>
              <a:rPr lang="en-GB" sz="2000" dirty="0"/>
              <a:t> may be preferable when retaining the observation is important, but the replacement method should be appropriate for the variable and distribution.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900"/>
              </a:spcAft>
            </a:pPr>
            <a:r>
              <a:rPr lang="en-GB" sz="2000" b="1" dirty="0"/>
              <a:t>Flagging</a:t>
            </a:r>
            <a:r>
              <a:rPr lang="en-GB" sz="2000" dirty="0"/>
              <a:t> is useful when the fact that a value was missing may itself contain information.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900"/>
              </a:spcAft>
            </a:pPr>
            <a:r>
              <a:rPr lang="en-GB" sz="2000" dirty="0"/>
              <a:t>Advanced imputation methods estimate missing values using interpolation, regression, classification trees, or regression trees, based on neighbouring values or relationships with other attributes in the dataset.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15AB8-B8B1-C694-E21D-A9EC7D9C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13</a:t>
            </a:fld>
            <a:endParaRPr lang="en-GB" b="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E3A7BDF-CD65-8285-CD09-D45D19650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1740481"/>
              </p:ext>
            </p:extLst>
          </p:nvPr>
        </p:nvGraphicFramePr>
        <p:xfrm>
          <a:off x="8279476" y="2141994"/>
          <a:ext cx="3903000" cy="3851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C448B2A-C7A2-B599-6B65-09EFBB787CB1}"/>
              </a:ext>
            </a:extLst>
          </p:cNvPr>
          <p:cNvSpPr txBox="1"/>
          <p:nvPr/>
        </p:nvSpPr>
        <p:spPr>
          <a:xfrm>
            <a:off x="8512232" y="1520481"/>
            <a:ext cx="3423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b="1" dirty="0">
                <a:solidFill>
                  <a:schemeClr val="accent4">
                    <a:lumMod val="75000"/>
                  </a:schemeClr>
                </a:solidFill>
              </a:rPr>
              <a:t>Final Cleaning Principle</a:t>
            </a:r>
          </a:p>
        </p:txBody>
      </p:sp>
    </p:spTree>
    <p:extLst>
      <p:ext uri="{BB962C8B-B14F-4D97-AF65-F5344CB8AC3E}">
        <p14:creationId xmlns:p14="http://schemas.microsoft.com/office/powerpoint/2010/main" val="3148560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1A6B-5EF3-4B91-B0E7-34938219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3228"/>
            <a:ext cx="8900604" cy="1325563"/>
          </a:xfrm>
        </p:spPr>
        <p:txBody>
          <a:bodyPr/>
          <a:lstStyle/>
          <a:p>
            <a:r>
              <a:rPr lang="en-GB" dirty="0"/>
              <a:t>Resources/ References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572B14-14C1-46BC-9B40-0753E4545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62" y="1261317"/>
            <a:ext cx="8209243" cy="513948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Pierson, L. (2026) “Data Science For Dummies”. 4th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For Dummies. Available at: https://learning.oreilly.com/library/view/data-science-for/9781394424085/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Foxwell, H.J. (2020) Creating Good Data: A Guide to Dataset Structure and Data Representation. Berkeley, CA: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Apress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10.1007/978-1-4842-6103-3.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McGregor, S.E. (2021) Practical Python Data Wrangling and Data Quality. Sebastopol, CA: O'Reilly Media. ISBN 9781492091493.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Publishing (2020) Data Preprocessing with Python for Absolute Beginners: Step-by-Step Guide with Hands-on Projects and Exercises. AI Publishing LLC. ISBN 9781734790108.</a:t>
            </a:r>
          </a:p>
          <a:p>
            <a:pPr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GB" sz="1800" dirty="0"/>
              <a:t>Kazil, J. and </a:t>
            </a:r>
            <a:r>
              <a:rPr lang="en-GB" sz="1800" dirty="0" err="1"/>
              <a:t>Jarmul</a:t>
            </a:r>
            <a:r>
              <a:rPr lang="en-GB" sz="1800" dirty="0"/>
              <a:t>, K. (2016) </a:t>
            </a:r>
            <a:r>
              <a:rPr lang="en-GB" sz="1800" i="1" dirty="0"/>
              <a:t>Data Wrangling with Python</a:t>
            </a:r>
            <a:r>
              <a:rPr lang="en-GB" sz="1800" dirty="0"/>
              <a:t>. Sebastopol, CA: O’Reilly Media, Inc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OpenAI. (2026). </a:t>
            </a:r>
          </a:p>
          <a:p>
            <a:pPr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ChatGPT. OpenAI (CCT Licensed Version).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images are used from Google search repository (https://www.google.ie/search) to enhance the level of learning.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85B34EF6-C82B-D674-ABD8-F3A00346108B}"/>
              </a:ext>
            </a:extLst>
          </p:cNvPr>
          <p:cNvSpPr txBox="1">
            <a:spLocks/>
          </p:cNvSpPr>
          <p:nvPr/>
        </p:nvSpPr>
        <p:spPr>
          <a:xfrm>
            <a:off x="8944495" y="2259265"/>
            <a:ext cx="2996120" cy="198854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IE" sz="2400" dirty="0"/>
              <a:t>Copyright Notice</a:t>
            </a:r>
            <a:br>
              <a:rPr lang="en-IE" sz="2400" dirty="0"/>
            </a:br>
            <a:r>
              <a:rPr lang="en-IE" sz="1800" dirty="0"/>
              <a:t>The following material has been communicated to you by or on behalf of CCT College Dublin in accordance with the Copyright and Related Rights Act 2000 (the Act).</a:t>
            </a:r>
            <a:br>
              <a:rPr lang="en-IE" sz="1800" dirty="0"/>
            </a:br>
            <a:r>
              <a:rPr lang="en-IE" sz="1800" dirty="0"/>
              <a:t>The material may be subject to copyright under the Act and any further reproduction, communication or distribution of this material must be in accordance with the Act.</a:t>
            </a:r>
            <a:br>
              <a:rPr lang="en-IE" sz="1800" dirty="0"/>
            </a:br>
            <a:br>
              <a:rPr lang="en-IE" sz="1800" dirty="0"/>
            </a:br>
            <a:r>
              <a:rPr lang="en-IE" sz="1200" dirty="0"/>
              <a:t>Do not remove this notice</a:t>
            </a:r>
            <a:endParaRPr lang="en-IE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CF878-4690-72A2-8FA7-FDE2793F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4F7-D883-4928-8961-38134A510B78}" type="slidenum">
              <a:rPr lang="en-GB" smtClean="0"/>
              <a:pPr/>
              <a:t>14</a:t>
            </a:fld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235696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8877</TotalTime>
  <Words>1627</Words>
  <Application>Microsoft Office PowerPoint</Application>
  <PresentationFormat>Widescreen</PresentationFormat>
  <Paragraphs>154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PowerPoint Presentation</vt:lpstr>
      <vt:lpstr>Outline</vt:lpstr>
      <vt:lpstr>Introduction to Missing Data</vt:lpstr>
      <vt:lpstr>Introduction to Data Cleaning</vt:lpstr>
      <vt:lpstr>Purpose of Data Cleaning</vt:lpstr>
      <vt:lpstr>What does Data Cleaning involve?</vt:lpstr>
      <vt:lpstr>Documenting the Cleaning Process</vt:lpstr>
      <vt:lpstr>Should we drop missing data?</vt:lpstr>
      <vt:lpstr>Replacing Missing Values with a Constant</vt:lpstr>
      <vt:lpstr>Imputation using Mean, Median or Mode</vt:lpstr>
      <vt:lpstr>Limitations  Mean and Mode Imputation</vt:lpstr>
      <vt:lpstr>Flagging Missing or Imputed Values</vt:lpstr>
      <vt:lpstr>Choosing the Appropriate Strategy</vt:lpstr>
      <vt:lpstr>Resources/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Munawar Iqbal</dc:creator>
  <cp:lastModifiedBy>Muhammad Iqbal</cp:lastModifiedBy>
  <cp:revision>322</cp:revision>
  <dcterms:created xsi:type="dcterms:W3CDTF">2020-09-11T23:34:13Z</dcterms:created>
  <dcterms:modified xsi:type="dcterms:W3CDTF">2026-10-15T16:22:59Z</dcterms:modified>
</cp:coreProperties>
</file>