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704" r:id="rId2"/>
    <p:sldId id="705" r:id="rId3"/>
    <p:sldId id="706" r:id="rId4"/>
    <p:sldId id="707" r:id="rId5"/>
    <p:sldId id="708" r:id="rId6"/>
    <p:sldId id="709" r:id="rId7"/>
    <p:sldId id="710" r:id="rId8"/>
    <p:sldId id="711" r:id="rId9"/>
    <p:sldId id="712" r:id="rId10"/>
    <p:sldId id="3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8" autoAdjust="0"/>
    <p:restoredTop sz="89201" autoAdjust="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2406B0-82C0-1763-EE57-63E93A5150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F14B2-CDAC-27E5-918D-158501A39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D3D10-F731-4672-995C-55C6E16C5DB6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A64E0-341D-1F51-F6AE-D99D497218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48FA4-4431-BBDD-E6AA-3C5C0BF98F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B05FC-8EA2-41D8-97B3-871CFE14F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4937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7A9FB-B4AA-40C7-A5AA-4B85A3DED926}" type="datetimeFigureOut">
              <a:rPr lang="en-GB" smtClean="0"/>
              <a:t>11/09/2026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27EC4-43D7-4899-AF54-D30B3AC26D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7067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  <a:buSzPct val="90000"/>
            </a:pPr>
            <a:r>
              <a:rPr lang="en-GB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Perspective</a:t>
            </a:r>
          </a:p>
          <a:p>
            <a:pPr>
              <a:spcAft>
                <a:spcPts val="1200"/>
              </a:spcAft>
              <a:buSzPct val="90000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Organisations use data to</a:t>
            </a:r>
          </a:p>
          <a:p>
            <a:pPr marL="342900" indent="-342900"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customers </a:t>
            </a:r>
          </a:p>
          <a:p>
            <a:pPr marL="342900" indent="-342900"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performance </a:t>
            </a:r>
          </a:p>
          <a:p>
            <a:pPr marL="342900" indent="-342900"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trends </a:t>
            </a:r>
          </a:p>
          <a:p>
            <a:pPr marL="342900" indent="-342900"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future outcomes </a:t>
            </a:r>
          </a:p>
          <a:p>
            <a:pPr marL="342900" indent="-342900"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decision-making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1802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764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Image source: https://www.formpl.us/blog/primary-research</a:t>
            </a:r>
          </a:p>
        </p:txBody>
      </p:sp>
    </p:spTree>
    <p:extLst>
      <p:ext uri="{BB962C8B-B14F-4D97-AF65-F5344CB8AC3E}">
        <p14:creationId xmlns:p14="http://schemas.microsoft.com/office/powerpoint/2010/main" val="4198491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B836-E4EE-4E06-8B91-0A9BDBDB4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62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43F9D-205F-46E1-9D12-71A9AC6E1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591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162BC-6CA4-467E-AC86-BC77F310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33EDF-AB45-418D-8F51-D1AD2EDA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23A67F-3C36-613E-ED45-4C44A259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67742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0AE1-99A4-41F3-BF6E-65E1013A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4259"/>
            <a:ext cx="890060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915C1-7308-4EE4-B2E5-01F49DB1D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4424B-1C03-4B66-9EF1-A229FB75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E005-405B-4CE0-928D-52F5FEE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8D7E0-ED2C-4C9E-A814-A3C47C37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70930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D467-1716-4D07-9AA3-7A664C4D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04D9E-EF9B-4615-96B0-4EA09278B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1B99-FD4E-4ACF-95C7-037B7D19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07437-B0B6-48C7-A34A-19E95D9B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EAC33-DEA4-B6B2-71F9-C66F37B2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058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C101-C812-4A54-B9AD-882F17E2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0F46-33F1-4156-BC49-BB22674E3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920D2-BE75-470C-9C4B-D8543D713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42DAA-7DAF-49AC-BAE0-70A3942E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13C39-64ED-4144-988B-D3ED11FE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D071622-1A56-5F5D-7C48-60ED4F46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46199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4105-5F97-48A3-AA6F-BADCE382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7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9B9BC-0773-46F4-BF10-B66027DBA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3E622-696B-4DC4-94B6-1DD605B11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C910A-7183-4227-AD5B-275F32F50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A0466-8EA4-44AE-AF38-8D0CF8770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87FD3-5C74-44AD-9CB5-28B1BF7D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7C44D-BC7B-4904-9A38-0AD77B82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FF81A8D-86AB-D0F1-C12B-93C0BC21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94801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0906-B4A4-4BEE-92C1-B3DDE11F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0F041-8ABD-4664-B1A5-6A4CA1C0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34C98-2D5E-430B-B7D8-66C11BD7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74D50-E0AF-7C43-458F-C9D7C62B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83600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FC441-C690-4EEF-920D-D09DB0F2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B84C9-EEF1-438D-91A9-23773B67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F985CD-07FD-1C2E-C8C8-FDEF54E9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15047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6BE4-6FF8-47FD-94E0-A136532F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B5A2B-F66F-41C8-A747-1E19255F4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2CDD9-C6CB-4AD9-BCCE-B1E27D979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96FB3-9D3F-40F6-A756-F494796A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2FFE2-D26A-4DBB-A9F8-21F2F25B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38C9B0-FE7A-E1B6-A360-8858370B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91226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0C0E-53E5-430A-BECB-DE76F1CC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6A415-E8A5-4B01-8F66-20BF09CE9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08B4D-3C51-43FD-849B-425B6D6F8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423EC-1F52-4B63-A47A-58925E01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6B3AD-0636-4B60-96A1-136B5F01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BC033F7-210F-9582-63EE-42FC2599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27230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B817-3673-4DE2-BCA0-E562F2CE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E6782-58FA-4A22-8241-7CD0AF42E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997E6-7848-4967-B09B-5BD03C98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674B2-668D-4966-8849-37A9CCD4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47755C-17AC-F28B-5078-0194B60B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6984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01867C-BED4-44B7-A70E-4EF6F3399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4DCE0-AEE9-4B9E-845B-8A5FB77BA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9966C-5B0E-4D0D-9341-168BA6C3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B4EB6-224E-4A2D-AC5D-AF0AFB62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19D011-EA1E-48E8-7896-82635155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416467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158B2-5239-4E3A-89F4-229D4B12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84"/>
            <a:ext cx="89094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24DE6-2CA7-45AF-BD92-BBC7CEF3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2145"/>
            <a:ext cx="10515600" cy="4130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Google Shape;15;p18">
            <a:extLst>
              <a:ext uri="{FF2B5EF4-FFF2-40B4-BE49-F238E27FC236}">
                <a16:creationId xmlns:a16="http://schemas.microsoft.com/office/drawing/2014/main" id="{D4C3B5C1-CC93-02A0-A1B9-974968587135}"/>
              </a:ext>
            </a:extLst>
          </p:cNvPr>
          <p:cNvSpPr/>
          <p:nvPr userDrawn="1"/>
        </p:nvSpPr>
        <p:spPr>
          <a:xfrm>
            <a:off x="0" y="6210300"/>
            <a:ext cx="1219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6;p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763B9A6-2820-62C5-FD73-4D72B09B1053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113894" y="6110413"/>
            <a:ext cx="2341051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4D38F0-A39A-2A1C-E461-813F3D011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7456" y="6444195"/>
            <a:ext cx="386443" cy="313917"/>
          </a:xfrm>
          <a:prstGeom prst="rect">
            <a:avLst/>
          </a:prstGeom>
        </p:spPr>
        <p:txBody>
          <a:bodyPr/>
          <a:lstStyle>
            <a:lvl1pPr algn="r">
              <a:defRPr sz="1050"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393334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354013" indent="-35401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6450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69988" indent="-2555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2900" indent="-241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6533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22397A-B976-4D54-A4CD-20AA62C071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39384" y="4917186"/>
            <a:ext cx="9144000" cy="1092204"/>
          </a:xfrm>
        </p:spPr>
        <p:txBody>
          <a:bodyPr>
            <a:normAutofit/>
          </a:bodyPr>
          <a:lstStyle/>
          <a:p>
            <a:pPr lvl="0"/>
            <a:r>
              <a:rPr lang="en-GB" sz="2800" b="1" dirty="0">
                <a:solidFill>
                  <a:srgbClr val="00B0F0"/>
                </a:solidFill>
              </a:rPr>
              <a:t>Lecturer: Dr. Muhammad Iqbal</a:t>
            </a:r>
            <a:r>
              <a:rPr lang="en-GB" sz="1600" b="1" baseline="60000" dirty="0">
                <a:solidFill>
                  <a:srgbClr val="00B0F0"/>
                </a:solidFill>
              </a:rPr>
              <a:t>*</a:t>
            </a:r>
          </a:p>
          <a:p>
            <a:pPr lvl="0"/>
            <a:r>
              <a:rPr lang="en-GB" sz="2800" b="1" dirty="0">
                <a:solidFill>
                  <a:srgbClr val="00B0F0"/>
                </a:solidFill>
              </a:rPr>
              <a:t>Email: miqbal@cct.ie</a:t>
            </a:r>
          </a:p>
          <a:p>
            <a:pPr lvl="0"/>
            <a:endParaRPr lang="en-GB" sz="2800" b="1" dirty="0">
              <a:solidFill>
                <a:srgbClr val="00B0F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2CFE4FC-E589-4887-B87B-4184B451149E}"/>
              </a:ext>
            </a:extLst>
          </p:cNvPr>
          <p:cNvSpPr txBox="1">
            <a:spLocks/>
          </p:cNvSpPr>
          <p:nvPr/>
        </p:nvSpPr>
        <p:spPr>
          <a:xfrm>
            <a:off x="2539384" y="3429000"/>
            <a:ext cx="9144000" cy="10922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>
            <a:lvl1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>
                <a:solidFill>
                  <a:schemeClr val="tx1"/>
                </a:solidFill>
              </a:rPr>
              <a:t>Introduction to Data Exploration</a:t>
            </a:r>
            <a:endParaRPr lang="en-GB" sz="2800" b="1" baseline="60000" dirty="0">
              <a:solidFill>
                <a:schemeClr val="tx1"/>
              </a:solidFill>
            </a:endParaRPr>
          </a:p>
          <a:p>
            <a:r>
              <a:rPr lang="en-GB" sz="2800" b="1" dirty="0">
                <a:solidFill>
                  <a:schemeClr val="tx1"/>
                </a:solidFill>
              </a:rPr>
              <a:t>Week 1</a:t>
            </a:r>
          </a:p>
          <a:p>
            <a:endParaRPr lang="en-GB" sz="2800" b="1" dirty="0">
              <a:solidFill>
                <a:schemeClr val="tx1"/>
              </a:solidFill>
            </a:endParaRPr>
          </a:p>
        </p:txBody>
      </p:sp>
      <p:pic>
        <p:nvPicPr>
          <p:cNvPr id="6" name="Picture 5" descr="A large building in the background&#10;&#10;Description automatically generated">
            <a:extLst>
              <a:ext uri="{FF2B5EF4-FFF2-40B4-BE49-F238E27FC236}">
                <a16:creationId xmlns:a16="http://schemas.microsoft.com/office/drawing/2014/main" id="{EADD99AE-462A-B5AA-3FB8-52585AA6A3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" t="1724"/>
          <a:stretch/>
        </p:blipFill>
        <p:spPr>
          <a:xfrm>
            <a:off x="0" y="1"/>
            <a:ext cx="3634442" cy="334171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B9C049-4DD8-3A11-342B-7C02355E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</a:t>
            </a:fld>
            <a:endParaRPr lang="en-GB" b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76695E-5CD1-4B19-A8E8-FEEEE597FE4F}"/>
              </a:ext>
            </a:extLst>
          </p:cNvPr>
          <p:cNvSpPr txBox="1">
            <a:spLocks/>
          </p:cNvSpPr>
          <p:nvPr/>
        </p:nvSpPr>
        <p:spPr>
          <a:xfrm>
            <a:off x="2286850" y="1340158"/>
            <a:ext cx="9280156" cy="17830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3200" dirty="0"/>
              <a:t>Data Exploration and Preparation</a:t>
            </a:r>
            <a:br>
              <a:rPr lang="en-GB" sz="3200" dirty="0"/>
            </a:br>
            <a:r>
              <a:rPr lang="en-GB" sz="3200" dirty="0"/>
              <a:t>Diploma in DAB – L7</a:t>
            </a:r>
            <a:br>
              <a:rPr lang="en-GB" sz="3200" dirty="0"/>
            </a:br>
            <a:r>
              <a:rPr lang="en-GB" sz="3200" dirty="0">
                <a:solidFill>
                  <a:schemeClr val="accent4">
                    <a:lumMod val="75000"/>
                  </a:schemeClr>
                </a:solidFill>
              </a:rPr>
              <a:t>CCT College Dublin</a:t>
            </a:r>
            <a:endParaRPr lang="en-GB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53D9-BC83-E107-46BB-6F2C1134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622F8-0718-D96D-C70A-18475D785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144"/>
            <a:ext cx="10515600" cy="4621339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Data</a:t>
            </a:r>
          </a:p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Variables, observations and attributes in Data Analytics</a:t>
            </a:r>
          </a:p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</a:t>
            </a:r>
          </a:p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and Secondary data</a:t>
            </a:r>
          </a:p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involved in data acquisition and management</a:t>
            </a:r>
          </a:p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control system</a:t>
            </a:r>
          </a:p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A1B2B-D3B0-8236-5333-FD80B238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2</a:t>
            </a:fld>
            <a:endParaRPr lang="en-GB" b="0" dirty="0"/>
          </a:p>
        </p:txBody>
      </p:sp>
      <p:pic>
        <p:nvPicPr>
          <p:cNvPr id="5" name="Picture 4" descr="Exploratory analysis - Free business and finance icons">
            <a:extLst>
              <a:ext uri="{FF2B5EF4-FFF2-40B4-BE49-F238E27FC236}">
                <a16:creationId xmlns:a16="http://schemas.microsoft.com/office/drawing/2014/main" id="{FAB65576-A0F8-DCC6-BE9C-D08052843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275" y="2269373"/>
            <a:ext cx="1999991" cy="199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C8FD-31F1-B250-2C2D-EE6F2924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ACF73-69BE-1DE9-1931-5BDE5532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AC18-AC7D-E70E-FBC0-F0E937026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474"/>
            <a:ext cx="7524404" cy="4955010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consists of recorded facts, measurements, observations or events that can be stored, processed and analysed.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Age, Price, Number of purchases, Transaction dates, Images, Social-media posts and  Sensor readings </a:t>
            </a:r>
          </a:p>
          <a:p>
            <a:pPr marL="114300" indent="0" algn="ctr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  <a:buNone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vs Information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GB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Data:</a:t>
            </a:r>
            <a:r>
              <a:rPr lang="en-GB" sz="24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observations or recorded values.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GB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Information:</a:t>
            </a:r>
            <a:r>
              <a:rPr lang="en-GB" sz="24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that has been organised, processed or interpreted to provide meaning.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€120, €95, €180, €210, €140 and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customer transaction = €149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BD050-A22A-02BD-882E-F08F04BD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3</a:t>
            </a:fld>
            <a:endParaRPr lang="en-GB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5E91D-9AA6-9D1C-49CF-06E602215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393" y="1645919"/>
            <a:ext cx="3923607" cy="392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5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7FDC-24AC-9E98-7195-A9E0B404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8E42-61B5-8BFB-DDA4-1AF41439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Understanding a Dataset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38A24-9CB7-26F1-62BC-AE3281D2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956" y="1624110"/>
            <a:ext cx="6783186" cy="448574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observation represents one individual entity or instance. For example: </a:t>
            </a:r>
            <a:r>
              <a:rPr lang="en-US" sz="2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row = one customer observation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variable represents something that can take different values. For example: Age, Region, Number of purchases and Spend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attribute is a characteristic or property describing an entity. For example, Age and Region are attributes of a customer.</a:t>
            </a: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6160C-0413-83B8-7500-A47467A4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4</a:t>
            </a:fld>
            <a:endParaRPr lang="en-GB" b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DE50D7-94F3-23FD-13E0-7BBA659FB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905150"/>
              </p:ext>
            </p:extLst>
          </p:nvPr>
        </p:nvGraphicFramePr>
        <p:xfrm>
          <a:off x="7448647" y="1736730"/>
          <a:ext cx="4580315" cy="1605616"/>
        </p:xfrm>
        <a:graphic>
          <a:graphicData uri="http://schemas.openxmlformats.org/drawingml/2006/table">
            <a:tbl>
              <a:tblPr firstRow="1" firstCol="1" bandRow="1"/>
              <a:tblGrid>
                <a:gridCol w="1204902">
                  <a:extLst>
                    <a:ext uri="{9D8B030D-6E8A-4147-A177-3AD203B41FA5}">
                      <a16:colId xmlns:a16="http://schemas.microsoft.com/office/drawing/2014/main" val="2671045730"/>
                    </a:ext>
                  </a:extLst>
                </a:gridCol>
                <a:gridCol w="737396">
                  <a:extLst>
                    <a:ext uri="{9D8B030D-6E8A-4147-A177-3AD203B41FA5}">
                      <a16:colId xmlns:a16="http://schemas.microsoft.com/office/drawing/2014/main" val="893672512"/>
                    </a:ext>
                  </a:extLst>
                </a:gridCol>
                <a:gridCol w="879339">
                  <a:extLst>
                    <a:ext uri="{9D8B030D-6E8A-4147-A177-3AD203B41FA5}">
                      <a16:colId xmlns:a16="http://schemas.microsoft.com/office/drawing/2014/main" val="87685863"/>
                    </a:ext>
                  </a:extLst>
                </a:gridCol>
                <a:gridCol w="879339">
                  <a:extLst>
                    <a:ext uri="{9D8B030D-6E8A-4147-A177-3AD203B41FA5}">
                      <a16:colId xmlns:a16="http://schemas.microsoft.com/office/drawing/2014/main" val="3792109723"/>
                    </a:ext>
                  </a:extLst>
                </a:gridCol>
                <a:gridCol w="879339">
                  <a:extLst>
                    <a:ext uri="{9D8B030D-6E8A-4147-A177-3AD203B41FA5}">
                      <a16:colId xmlns:a16="http://schemas.microsoft.com/office/drawing/2014/main" val="1887200602"/>
                    </a:ext>
                  </a:extLst>
                </a:gridCol>
              </a:tblGrid>
              <a:tr h="401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>
                          <a:effectLst/>
                        </a:rPr>
                        <a:t>Customer ID</a:t>
                      </a:r>
                      <a:endParaRPr lang="en-GB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>
                          <a:effectLst/>
                        </a:rPr>
                        <a:t>Age</a:t>
                      </a:r>
                      <a:endParaRPr lang="en-GB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>
                          <a:effectLst/>
                        </a:rPr>
                        <a:t>Region</a:t>
                      </a:r>
                      <a:endParaRPr lang="en-GB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>
                          <a:effectLst/>
                        </a:rPr>
                        <a:t>Purchases</a:t>
                      </a:r>
                      <a:endParaRPr lang="en-GB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>
                          <a:effectLst/>
                        </a:rPr>
                        <a:t>Spend</a:t>
                      </a:r>
                      <a:endParaRPr lang="en-GB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4294368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C001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24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Dublin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5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€320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1444261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C002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31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Cork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3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€190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2970431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C003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42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Galway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8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€640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489207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C37A764-34D5-ED9E-3926-A6E41AD3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42" y="3679254"/>
            <a:ext cx="4671082" cy="192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40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5FCD2-B265-C897-A160-C9134027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F574-861B-C169-DD39-3963F4A5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Types of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EF390-45B4-3D3C-07C1-F66F677F3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822"/>
            <a:ext cx="10515600" cy="4843661"/>
          </a:xfrm>
        </p:spPr>
        <p:txBody>
          <a:bodyPr>
            <a:normAutofit fontScale="70000" lnSpcReduction="20000"/>
          </a:bodyPr>
          <a:lstStyle/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the type of data is important because it determines which analytical techniques can be applied.</a:t>
            </a:r>
          </a:p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Data: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groups or labels. For example, Department, Country, Customer type and Product category</a:t>
            </a:r>
          </a:p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Nominal: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 without a natural order. For example: Dublin, Cork, Galway</a:t>
            </a:r>
          </a:p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Ordinal: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 with a meaningful order. For example: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Medium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</a:t>
            </a:r>
          </a:p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Data: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measurable quantities.</a:t>
            </a:r>
          </a:p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Data: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Usually countable values. For example: Number of purchases = 6</a:t>
            </a:r>
          </a:p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Data: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take values within a range. For example: Revenue = €1,245.75</a:t>
            </a:r>
          </a:p>
          <a:p>
            <a:pPr marL="571500" indent="-457200">
              <a:lnSpc>
                <a:spcPct val="120000"/>
              </a:lnSpc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Customer Satisfaction: Poor / Average / Good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ABCCF-C3EF-E807-EBE4-9E85EDED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5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92252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67E4A-BC05-5E41-C226-0DA35FDF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CCF3-0F80-583B-54FE-F69FAC8E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B7023-33A0-539B-EDB2-33185B65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814"/>
            <a:ext cx="11090564" cy="501760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management concerns how data is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Stored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Organised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Maintained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Shared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Archived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data management makes data easier 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Locate, Understand,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Reproduce, Protect and Share appropriately.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Data Management Practices are</a:t>
            </a:r>
          </a:p>
          <a:p>
            <a:pPr marL="898525" indent="-358775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organization: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folder structures and Meaningful file names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98525" indent="-358775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dictionaries, README files and Metadata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98525" indent="-358775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Accuracy, Completeness, Consistency and Validity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98525" indent="-358775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provenance: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did the data originate? When was it collected? How was it transformed?</a:t>
            </a:r>
          </a:p>
          <a:p>
            <a:pPr marL="898525" indent="-358775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Principle: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analysis begins with well-managed and well-understood data.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77686-B27E-D900-1492-46727CA0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6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400997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6571-6046-B878-E6F4-2703F5F0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2557-033C-5FF5-541D-703A92CF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Primary and Secondary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B85E3-5FEB-8DF0-6A81-C5EA778F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7</a:t>
            </a:fld>
            <a:endParaRPr lang="en-GB" b="0" dirty="0"/>
          </a:p>
        </p:txBody>
      </p:sp>
      <p:sp>
        <p:nvSpPr>
          <p:cNvPr id="7" name="Google Shape;68;p3">
            <a:extLst>
              <a:ext uri="{FF2B5EF4-FFF2-40B4-BE49-F238E27FC236}">
                <a16:creationId xmlns:a16="http://schemas.microsoft.com/office/drawing/2014/main" id="{EFBB1821-FBE0-ED9F-815C-93257435AF66}"/>
              </a:ext>
            </a:extLst>
          </p:cNvPr>
          <p:cNvSpPr txBox="1">
            <a:spLocks/>
          </p:cNvSpPr>
          <p:nvPr/>
        </p:nvSpPr>
        <p:spPr>
          <a:xfrm>
            <a:off x="665017" y="1415304"/>
            <a:ext cx="5245331" cy="46269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54013" indent="-3540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6450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69988" indent="-2555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12900" indent="-241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65338" indent="-2365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Data: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 directly for a particular research or business purpose. For example, Surveys, Interviews, Experiments, Customer questionnaires, Sensor measurements and Observation</a:t>
            </a:r>
          </a:p>
          <a:p>
            <a:pPr marL="357188" indent="-357188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to the research objective, greater control over collection and can provide current information</a:t>
            </a:r>
          </a:p>
          <a:p>
            <a:pPr marL="357188" indent="-357188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consuming, Can be expensive and Requires careful design</a:t>
            </a:r>
          </a:p>
        </p:txBody>
      </p:sp>
      <p:sp>
        <p:nvSpPr>
          <p:cNvPr id="8" name="Google Shape;68;p3">
            <a:extLst>
              <a:ext uri="{FF2B5EF4-FFF2-40B4-BE49-F238E27FC236}">
                <a16:creationId xmlns:a16="http://schemas.microsoft.com/office/drawing/2014/main" id="{29640BA5-C4F4-B4EA-0E4D-3A05C5FCF837}"/>
              </a:ext>
            </a:extLst>
          </p:cNvPr>
          <p:cNvSpPr txBox="1">
            <a:spLocks/>
          </p:cNvSpPr>
          <p:nvPr/>
        </p:nvSpPr>
        <p:spPr>
          <a:xfrm>
            <a:off x="6001790" y="1361848"/>
            <a:ext cx="5586152" cy="480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4000" b="0" i="0" u="none" strike="noStrike" cap="none" spc="0">
                <a:solidFill>
                  <a:srgbClr val="227B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746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•"/>
              <a:defRPr sz="3500" b="0" i="0" u="none" strike="noStrike" cap="none" spc="0">
                <a:solidFill>
                  <a:srgbClr val="227B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7BC0"/>
              </a:buClr>
              <a:buSzPts val="3000"/>
              <a:buFont typeface="Montserrat"/>
              <a:buChar char="•"/>
              <a:defRPr sz="3000" b="0" i="0" u="none" strike="noStrike" cap="none" spc="0">
                <a:solidFill>
                  <a:srgbClr val="227B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sz="2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357188" indent="-357188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80000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 Data: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that has already been collected by another organization or for another purpose. For example, Government open-data portals, Central Statistics Office datasets, Company databases, Published reports, Public datasets and Research repositories</a:t>
            </a:r>
          </a:p>
          <a:p>
            <a:pPr marL="357188" indent="-357188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80000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Usually quicker to obtain, Often inexpensive and Can contain large datasets</a:t>
            </a:r>
          </a:p>
          <a:p>
            <a:pPr marL="357188" indent="-357188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SzPct val="180000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Challenges: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may be unknown, Data may be outdated and Definitions may differ from your requirements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81452-EC38-DB8B-CE53-73B2894B0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838" y="5980667"/>
            <a:ext cx="2823480" cy="8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16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3541-5FCB-EA0A-D16C-52C51450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663F-31F7-B5A7-E26E-A7FC387C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59"/>
            <a:ext cx="10515599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What, Where and How of Data Acquisition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E8724-502E-5EBF-5E20-9574A464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2213"/>
            <a:ext cx="10515600" cy="499114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acquiring data, an analyst should ask three questions.</a:t>
            </a:r>
          </a:p>
          <a:p>
            <a:pPr marL="114300" indent="0"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  <a:buNone/>
            </a:pP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data do we need?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with the business question. For example: What factors influence customer churn?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required variables: Customer age, Contract type, Monthly charges, Customer service interactions, Length of relationship and Churn status</a:t>
            </a:r>
          </a:p>
          <a:p>
            <a:pPr marL="114300" indent="0"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  <a:buNone/>
            </a:pP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can we obtain the data?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sources include: Internal company databases, CSV/Excel files, APIs, Government open-data portals, Surveys, Public datasets, Sensors and Web-based sources</a:t>
            </a:r>
          </a:p>
          <a:p>
            <a:pPr marL="114300" indent="0"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  <a:buNone/>
            </a:pP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will we acquire it?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methods: File download, Database query, API request, Survey, Data collection system and Approved web-data collection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1200"/>
              </a:spcAft>
              <a:buSzPct val="10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collecting data, consider: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Privacy + Ethics + Licensing + Bias + Quality + Security</a:t>
            </a:r>
            <a:endParaRPr lang="en-GB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CEFD0-8672-26B3-B656-543F6623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8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4913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B605-619C-9327-AB37-85D71B24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A04D-F89E-BFAF-92E4-046D6F59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Version Control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Git and GitHub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5700D-45EF-3B86-7312-B4BD3DF8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9</a:t>
            </a:fld>
            <a:endParaRPr lang="en-GB" b="0" dirty="0"/>
          </a:p>
        </p:txBody>
      </p:sp>
      <p:sp>
        <p:nvSpPr>
          <p:cNvPr id="7" name="Google Shape;68;p3">
            <a:extLst>
              <a:ext uri="{FF2B5EF4-FFF2-40B4-BE49-F238E27FC236}">
                <a16:creationId xmlns:a16="http://schemas.microsoft.com/office/drawing/2014/main" id="{44EC3424-80D4-CF28-9030-8CFF1F9D8CC0}"/>
              </a:ext>
            </a:extLst>
          </p:cNvPr>
          <p:cNvSpPr txBox="1">
            <a:spLocks/>
          </p:cNvSpPr>
          <p:nvPr/>
        </p:nvSpPr>
        <p:spPr>
          <a:xfrm>
            <a:off x="838199" y="1388224"/>
            <a:ext cx="5504412" cy="47881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54013" indent="-3540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6450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69988" indent="-2555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12900" indent="-241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65338" indent="-2365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ct val="1000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Version Control?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an analytics project, datasets, Python files and notebooks change repeatedly.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version control, files can become: analysis_final.py, analysis_final2.py, analysis_final_revised.py and analysis_really_final.py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provides a systematic approach.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ct val="1000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Git Concepts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ct val="1000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Repository: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Folder containing the project and its version history.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ct val="1000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recorded snapshot of project changes.</a:t>
            </a:r>
          </a:p>
        </p:txBody>
      </p:sp>
      <p:sp>
        <p:nvSpPr>
          <p:cNvPr id="8" name="Google Shape;68;p3">
            <a:extLst>
              <a:ext uri="{FF2B5EF4-FFF2-40B4-BE49-F238E27FC236}">
                <a16:creationId xmlns:a16="http://schemas.microsoft.com/office/drawing/2014/main" id="{54848674-80AF-CED2-5908-282F87C6E33D}"/>
              </a:ext>
            </a:extLst>
          </p:cNvPr>
          <p:cNvSpPr txBox="1">
            <a:spLocks/>
          </p:cNvSpPr>
          <p:nvPr/>
        </p:nvSpPr>
        <p:spPr>
          <a:xfrm>
            <a:off x="6443748" y="1147151"/>
            <a:ext cx="5504412" cy="484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4000" b="0" i="0" u="none" strike="noStrike" cap="none" spc="0">
                <a:solidFill>
                  <a:srgbClr val="227B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746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•"/>
              <a:defRPr sz="3500" b="0" i="0" u="none" strike="noStrike" cap="none" spc="0">
                <a:solidFill>
                  <a:srgbClr val="227B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7BC0"/>
              </a:buClr>
              <a:buSzPts val="3000"/>
              <a:buFont typeface="Montserrat"/>
              <a:buChar char="•"/>
              <a:defRPr sz="3000" b="0" i="0" u="none" strike="noStrike" cap="none" spc="0">
                <a:solidFill>
                  <a:srgbClr val="227B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sz="2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Push: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local commits to GitHub.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Pull: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 changes from a remote repository.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separate development path used to work on changes safely.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 GitHub in Data Analytics?</a:t>
            </a:r>
          </a:p>
          <a:p>
            <a:pPr marL="898525" indent="-358775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project development</a:t>
            </a:r>
          </a:p>
          <a:p>
            <a:pPr marL="898525" indent="-358775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evidence of work</a:t>
            </a:r>
          </a:p>
          <a:p>
            <a:pPr marL="898525" indent="-358775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collaboration</a:t>
            </a:r>
          </a:p>
          <a:p>
            <a:pPr marL="898525" indent="-358775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Protects against accidental loss</a:t>
            </a:r>
          </a:p>
          <a:p>
            <a:pPr marL="898525" indent="-358775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reproducibility</a:t>
            </a:r>
          </a:p>
          <a:p>
            <a:pPr marL="898525" indent="-358775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Builds professional practice</a:t>
            </a:r>
          </a:p>
          <a:p>
            <a:pPr marL="898525" indent="-358775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80000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Assignment Practice</a:t>
            </a:r>
            <a:endParaRPr lang="en-GB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57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A6B-5EF3-4B91-B0E7-34938219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3228"/>
            <a:ext cx="8900604" cy="1325563"/>
          </a:xfrm>
        </p:spPr>
        <p:txBody>
          <a:bodyPr/>
          <a:lstStyle/>
          <a:p>
            <a:r>
              <a:rPr lang="en-GB" dirty="0"/>
              <a:t>Resources/ References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572B14-14C1-46BC-9B40-0753E4545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62" y="1261317"/>
            <a:ext cx="8209243" cy="513948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Ball, R. and Rague, B. The Beginner's Guide to Data Science, Springer Nature: The Beginner's Guide to Data Science – Springer DOI: 10.1007/978-3-031-07865-1. Springer lists the eBook/hardcover as 2022 and the softcover as 2023.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Foxwell, H.J. (2020), Creating Good Data: A Guide to Dataset Structure and Data Representation, Springer/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Apress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Creating Good Data – Springer Nature/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Apress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DOI: 10.1007/978-1-4842-6103-3.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McGregor, S.E., Practical Python Data Wrangling and Data Quality, O'Reilly Media: Practical Python Data Wrangling and Data Quality – O'Reilly. ISBN: 9781492091493. Note that O'Reilly's official page lists the publication date as December 2021, rather than 2022.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Narayana, D., Ranjan, S. and Tyagi, N. (2023), Basic Computational Techniques for Data Analysis: An Exploration in MS Excel, Routledge: Basic Computational Techniques for Data Analysis – Routledge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Publishing (2020), Data Preprocessing with Python for Absolute Beginners: Step-by-Step Guide with Hands-on Projects and Exercises, 2020 AI Publishing edition, ISBN 9781734790108: Data Preprocessing with Python for Absolute Beginners – Book listing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OpenAI. (2026). ChatGPT. OpenAI (CCT Licensed Version).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images are used from Google search repository (https://www.google.ie/search) to enhance the level of learning.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85B34EF6-C82B-D674-ABD8-F3A00346108B}"/>
              </a:ext>
            </a:extLst>
          </p:cNvPr>
          <p:cNvSpPr txBox="1">
            <a:spLocks/>
          </p:cNvSpPr>
          <p:nvPr/>
        </p:nvSpPr>
        <p:spPr>
          <a:xfrm>
            <a:off x="8944495" y="2259265"/>
            <a:ext cx="2996120" cy="198854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IE" sz="2400" dirty="0"/>
              <a:t>Copyright Notice</a:t>
            </a:r>
            <a:br>
              <a:rPr lang="en-IE" sz="2400" dirty="0"/>
            </a:br>
            <a:r>
              <a:rPr lang="en-IE" sz="1800" dirty="0"/>
              <a:t>The following material has been communicated to you by or on behalf of CCT College Dublin in accordance with the Copyright and Related Rights Act 2000 (the Act).</a:t>
            </a:r>
            <a:br>
              <a:rPr lang="en-IE" sz="1800" dirty="0"/>
            </a:br>
            <a:r>
              <a:rPr lang="en-IE" sz="1800" dirty="0"/>
              <a:t>The material may be subject to copyright under the Act and any further reproduction, communication or distribution of this material must be in accordance with the Act.</a:t>
            </a:r>
            <a:br>
              <a:rPr lang="en-IE" sz="1800" dirty="0"/>
            </a:br>
            <a:br>
              <a:rPr lang="en-IE" sz="1800" dirty="0"/>
            </a:br>
            <a:r>
              <a:rPr lang="en-IE" sz="1200" dirty="0"/>
              <a:t>Do not remove this notice</a:t>
            </a:r>
            <a:endParaRPr lang="en-IE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F878-4690-72A2-8FA7-FDE2793F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10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235696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8392</TotalTime>
  <Words>1264</Words>
  <Application>Microsoft Office PowerPoint</Application>
  <PresentationFormat>Widescreen</PresentationFormat>
  <Paragraphs>127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Outline</vt:lpstr>
      <vt:lpstr>Introduction to Data</vt:lpstr>
      <vt:lpstr>Understanding a Dataset</vt:lpstr>
      <vt:lpstr>Types of Data</vt:lpstr>
      <vt:lpstr>Data Management</vt:lpstr>
      <vt:lpstr>Primary and Secondary Data</vt:lpstr>
      <vt:lpstr>What, Where and How of Data Acquisition</vt:lpstr>
      <vt:lpstr>Version Control Git and GitHub</vt:lpstr>
      <vt:lpstr>Resources/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Munawar Iqbal</dc:creator>
  <cp:lastModifiedBy>Muhammad Iqbal</cp:lastModifiedBy>
  <cp:revision>284</cp:revision>
  <dcterms:created xsi:type="dcterms:W3CDTF">2020-09-11T23:34:13Z</dcterms:created>
  <dcterms:modified xsi:type="dcterms:W3CDTF">2026-09-12T18:46:57Z</dcterms:modified>
</cp:coreProperties>
</file>