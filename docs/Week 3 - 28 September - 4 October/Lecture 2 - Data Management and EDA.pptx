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704" r:id="rId2"/>
    <p:sldId id="705" r:id="rId3"/>
    <p:sldId id="706" r:id="rId4"/>
    <p:sldId id="707" r:id="rId5"/>
    <p:sldId id="708" r:id="rId6"/>
    <p:sldId id="709" r:id="rId7"/>
    <p:sldId id="710" r:id="rId8"/>
    <p:sldId id="713" r:id="rId9"/>
    <p:sldId id="714" r:id="rId10"/>
    <p:sldId id="715" r:id="rId11"/>
    <p:sldId id="711" r:id="rId12"/>
    <p:sldId id="712" r:id="rId13"/>
    <p:sldId id="3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8" autoAdjust="0"/>
    <p:restoredTop sz="76490" autoAdjust="0"/>
  </p:normalViewPr>
  <p:slideViewPr>
    <p:cSldViewPr snapToGrid="0">
      <p:cViewPr varScale="1">
        <p:scale>
          <a:sx n="96" d="100"/>
          <a:sy n="96" d="100"/>
        </p:scale>
        <p:origin x="226" y="62"/>
      </p:cViewPr>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47CFD40-DD3D-476C-A4BA-9BFB38A3DE34}" type="doc">
      <dgm:prSet loTypeId="urn:microsoft.com/office/officeart/2005/8/layout/cycle3" loCatId="cycle" qsTypeId="urn:microsoft.com/office/officeart/2005/8/quickstyle/simple1#1" qsCatId="simple" csTypeId="urn:microsoft.com/office/officeart/2005/8/colors/accent1_2#1" csCatId="accent1" phldr="1"/>
      <dgm:spPr/>
      <dgm:t>
        <a:bodyPr/>
        <a:lstStyle/>
        <a:p>
          <a:endParaRPr lang="en-GB"/>
        </a:p>
      </dgm:t>
    </dgm:pt>
    <dgm:pt modelId="{171047BF-C4DC-4B95-AE9E-26AE6C0D36BA}">
      <dgm:prSet phldrT="[Text]" phldr="0" custT="1"/>
      <dgm:spPr/>
      <dgm:t>
        <a:bodyPr/>
        <a:lstStyle/>
        <a:p>
          <a:r>
            <a:rPr lang="en-GB" sz="1400" dirty="0"/>
            <a:t>Collection</a:t>
          </a:r>
        </a:p>
      </dgm:t>
    </dgm:pt>
    <dgm:pt modelId="{1B5BD2D1-B378-4B7B-BA23-6A5AA076C6DE}" type="parTrans" cxnId="{EA98C40D-774C-4D2C-A815-F7FF97774C86}">
      <dgm:prSet/>
      <dgm:spPr/>
      <dgm:t>
        <a:bodyPr/>
        <a:lstStyle/>
        <a:p>
          <a:endParaRPr lang="en-GB"/>
        </a:p>
      </dgm:t>
    </dgm:pt>
    <dgm:pt modelId="{EFFCD121-F878-4AB3-9920-333E173E71BA}" type="sibTrans" cxnId="{EA98C40D-774C-4D2C-A815-F7FF97774C86}">
      <dgm:prSet/>
      <dgm:spPr/>
      <dgm:t>
        <a:bodyPr/>
        <a:lstStyle/>
        <a:p>
          <a:endParaRPr lang="en-GB" sz="3200"/>
        </a:p>
      </dgm:t>
    </dgm:pt>
    <dgm:pt modelId="{CC28F5F8-4E73-4B16-9927-6A4A6A431F2D}">
      <dgm:prSet phldrT="[Text]" phldr="0" custT="1"/>
      <dgm:spPr/>
      <dgm:t>
        <a:bodyPr/>
        <a:lstStyle/>
        <a:p>
          <a:r>
            <a:rPr lang="en-GB" sz="1400" dirty="0"/>
            <a:t>Transformation</a:t>
          </a:r>
        </a:p>
      </dgm:t>
    </dgm:pt>
    <dgm:pt modelId="{A6753223-539A-487A-97F1-939E11136B4B}" type="parTrans" cxnId="{66A266E9-46D3-4BB0-8E14-520CF05254F6}">
      <dgm:prSet/>
      <dgm:spPr/>
      <dgm:t>
        <a:bodyPr/>
        <a:lstStyle/>
        <a:p>
          <a:endParaRPr lang="en-GB"/>
        </a:p>
      </dgm:t>
    </dgm:pt>
    <dgm:pt modelId="{CAD0C9F6-4719-42CD-A7D9-E61AC0E88307}" type="sibTrans" cxnId="{66A266E9-46D3-4BB0-8E14-520CF05254F6}">
      <dgm:prSet/>
      <dgm:spPr/>
      <dgm:t>
        <a:bodyPr/>
        <a:lstStyle/>
        <a:p>
          <a:endParaRPr lang="en-GB"/>
        </a:p>
      </dgm:t>
    </dgm:pt>
    <dgm:pt modelId="{CDF6457A-D5B6-45E7-8C57-61334E7015AA}">
      <dgm:prSet phldrT="[Text]" phldr="0" custT="1"/>
      <dgm:spPr/>
      <dgm:t>
        <a:bodyPr/>
        <a:lstStyle/>
        <a:p>
          <a:r>
            <a:rPr lang="en-GB" sz="1400" dirty="0"/>
            <a:t>Analysis</a:t>
          </a:r>
        </a:p>
      </dgm:t>
    </dgm:pt>
    <dgm:pt modelId="{D1AFA19C-1A6C-42E1-982D-C3F4286C8FDB}" type="parTrans" cxnId="{30356B8A-31F2-47BD-ACF7-E37638B02A51}">
      <dgm:prSet/>
      <dgm:spPr/>
      <dgm:t>
        <a:bodyPr/>
        <a:lstStyle/>
        <a:p>
          <a:endParaRPr lang="en-GB"/>
        </a:p>
      </dgm:t>
    </dgm:pt>
    <dgm:pt modelId="{3498703F-B145-43A0-A60D-467D2BD9BD62}" type="sibTrans" cxnId="{30356B8A-31F2-47BD-ACF7-E37638B02A51}">
      <dgm:prSet/>
      <dgm:spPr/>
      <dgm:t>
        <a:bodyPr/>
        <a:lstStyle/>
        <a:p>
          <a:endParaRPr lang="en-GB"/>
        </a:p>
      </dgm:t>
    </dgm:pt>
    <dgm:pt modelId="{F1DC7583-009B-45FA-8863-6EA22A5DC27A}">
      <dgm:prSet phldrT="[Text]" phldr="0" custT="1"/>
      <dgm:spPr/>
      <dgm:t>
        <a:bodyPr/>
        <a:lstStyle/>
        <a:p>
          <a:r>
            <a:rPr lang="en-GB" sz="1400" dirty="0"/>
            <a:t>Reporting</a:t>
          </a:r>
        </a:p>
      </dgm:t>
    </dgm:pt>
    <dgm:pt modelId="{F8FC2B3F-7621-48FF-9CA0-35A7610B7DCF}" type="parTrans" cxnId="{B5BAC5BB-9BDA-4B56-A08C-85C261DD4FF7}">
      <dgm:prSet/>
      <dgm:spPr/>
      <dgm:t>
        <a:bodyPr/>
        <a:lstStyle/>
        <a:p>
          <a:endParaRPr lang="en-GB"/>
        </a:p>
      </dgm:t>
    </dgm:pt>
    <dgm:pt modelId="{0687506C-AFBD-43E7-AED6-B83741EBFC0E}" type="sibTrans" cxnId="{B5BAC5BB-9BDA-4B56-A08C-85C261DD4FF7}">
      <dgm:prSet/>
      <dgm:spPr/>
      <dgm:t>
        <a:bodyPr/>
        <a:lstStyle/>
        <a:p>
          <a:endParaRPr lang="en-GB"/>
        </a:p>
      </dgm:t>
    </dgm:pt>
    <dgm:pt modelId="{28E4FA93-A1BF-483A-A026-9888B06E0E31}">
      <dgm:prSet phldrT="[Text]" phldr="0" custT="1"/>
      <dgm:spPr/>
      <dgm:t>
        <a:bodyPr/>
        <a:lstStyle/>
        <a:p>
          <a:r>
            <a:rPr lang="en-GB" sz="1400" dirty="0"/>
            <a:t>Archiving/ Deletion</a:t>
          </a:r>
        </a:p>
      </dgm:t>
    </dgm:pt>
    <dgm:pt modelId="{F6341BEB-F378-4923-9DC7-C2E605C76731}" type="parTrans" cxnId="{E13D3D6B-6FBF-49B0-BA09-D211486136D7}">
      <dgm:prSet/>
      <dgm:spPr/>
      <dgm:t>
        <a:bodyPr/>
        <a:lstStyle/>
        <a:p>
          <a:endParaRPr lang="en-GB"/>
        </a:p>
      </dgm:t>
    </dgm:pt>
    <dgm:pt modelId="{5B01BC49-5520-4668-8CB4-E05735DEB7FA}" type="sibTrans" cxnId="{E13D3D6B-6FBF-49B0-BA09-D211486136D7}">
      <dgm:prSet/>
      <dgm:spPr/>
      <dgm:t>
        <a:bodyPr/>
        <a:lstStyle/>
        <a:p>
          <a:endParaRPr lang="en-GB"/>
        </a:p>
      </dgm:t>
    </dgm:pt>
    <dgm:pt modelId="{B0A1EBE8-4AA4-4EF6-A514-27CF95B60745}">
      <dgm:prSet phldrT="[Text]" phldr="0" custT="1"/>
      <dgm:spPr/>
      <dgm:t>
        <a:bodyPr/>
        <a:lstStyle/>
        <a:p>
          <a:r>
            <a:rPr lang="en-GB" sz="1400" dirty="0"/>
            <a:t>Storage</a:t>
          </a:r>
        </a:p>
      </dgm:t>
    </dgm:pt>
    <dgm:pt modelId="{F43D1369-B436-4D34-9811-46DC7FA8313D}" type="parTrans" cxnId="{5E286EDA-ED52-48D4-8DA1-24ED082FA526}">
      <dgm:prSet/>
      <dgm:spPr/>
      <dgm:t>
        <a:bodyPr/>
        <a:lstStyle/>
        <a:p>
          <a:endParaRPr lang="en-GB"/>
        </a:p>
      </dgm:t>
    </dgm:pt>
    <dgm:pt modelId="{02180A7C-9CB8-4A1E-ADBB-C435289D9BE3}" type="sibTrans" cxnId="{5E286EDA-ED52-48D4-8DA1-24ED082FA526}">
      <dgm:prSet/>
      <dgm:spPr/>
      <dgm:t>
        <a:bodyPr/>
        <a:lstStyle/>
        <a:p>
          <a:endParaRPr lang="en-GB"/>
        </a:p>
      </dgm:t>
    </dgm:pt>
    <dgm:pt modelId="{2BD0EC4C-9D19-42E0-A546-EBF48F448A02}">
      <dgm:prSet phldrT="[Text]" phldr="0" custT="1"/>
      <dgm:spPr/>
      <dgm:t>
        <a:bodyPr/>
        <a:lstStyle/>
        <a:p>
          <a:r>
            <a:rPr lang="en-GB" sz="1400" dirty="0"/>
            <a:t>Cleaning</a:t>
          </a:r>
        </a:p>
      </dgm:t>
    </dgm:pt>
    <dgm:pt modelId="{E19EF0D6-201D-4048-A7B2-15C8DFC1DAE4}" type="parTrans" cxnId="{92296B12-F20B-4663-8F05-9784AE0A0B58}">
      <dgm:prSet/>
      <dgm:spPr/>
      <dgm:t>
        <a:bodyPr/>
        <a:lstStyle/>
        <a:p>
          <a:endParaRPr lang="en-GB"/>
        </a:p>
      </dgm:t>
    </dgm:pt>
    <dgm:pt modelId="{A888EEC7-31AC-4FCD-A6FA-F721956F5D04}" type="sibTrans" cxnId="{92296B12-F20B-4663-8F05-9784AE0A0B58}">
      <dgm:prSet/>
      <dgm:spPr/>
      <dgm:t>
        <a:bodyPr/>
        <a:lstStyle/>
        <a:p>
          <a:endParaRPr lang="en-GB"/>
        </a:p>
      </dgm:t>
    </dgm:pt>
    <dgm:pt modelId="{08A268F2-C091-4967-840A-75D504AA8C9A}" type="pres">
      <dgm:prSet presAssocID="{647CFD40-DD3D-476C-A4BA-9BFB38A3DE34}" presName="Name0" presStyleCnt="0">
        <dgm:presLayoutVars>
          <dgm:dir/>
          <dgm:resizeHandles val="exact"/>
        </dgm:presLayoutVars>
      </dgm:prSet>
      <dgm:spPr/>
    </dgm:pt>
    <dgm:pt modelId="{575EE6E2-AED2-4083-9E2B-6C94D12B536A}" type="pres">
      <dgm:prSet presAssocID="{647CFD40-DD3D-476C-A4BA-9BFB38A3DE34}" presName="cycle" presStyleCnt="0"/>
      <dgm:spPr/>
    </dgm:pt>
    <dgm:pt modelId="{06871BC4-9A62-4D30-8499-3AE8CCF50EC7}" type="pres">
      <dgm:prSet presAssocID="{171047BF-C4DC-4B95-AE9E-26AE6C0D36BA}" presName="nodeFirstNode" presStyleLbl="node1" presStyleIdx="0" presStyleCnt="7">
        <dgm:presLayoutVars>
          <dgm:bulletEnabled val="1"/>
        </dgm:presLayoutVars>
      </dgm:prSet>
      <dgm:spPr/>
    </dgm:pt>
    <dgm:pt modelId="{DCED608F-9A11-4C86-B12B-ABE027C52573}" type="pres">
      <dgm:prSet presAssocID="{EFFCD121-F878-4AB3-9920-333E173E71BA}" presName="sibTransFirstNode" presStyleLbl="bgShp" presStyleIdx="0" presStyleCnt="1"/>
      <dgm:spPr/>
    </dgm:pt>
    <dgm:pt modelId="{59F68E47-450E-47F8-80AD-92BBC413CCD1}" type="pres">
      <dgm:prSet presAssocID="{B0A1EBE8-4AA4-4EF6-A514-27CF95B60745}" presName="nodeFollowingNodes" presStyleLbl="node1" presStyleIdx="1" presStyleCnt="7">
        <dgm:presLayoutVars>
          <dgm:bulletEnabled val="1"/>
        </dgm:presLayoutVars>
      </dgm:prSet>
      <dgm:spPr/>
    </dgm:pt>
    <dgm:pt modelId="{D2CD41AC-63CD-4006-85F4-194FE07CAE66}" type="pres">
      <dgm:prSet presAssocID="{2BD0EC4C-9D19-42E0-A546-EBF48F448A02}" presName="nodeFollowingNodes" presStyleLbl="node1" presStyleIdx="2" presStyleCnt="7">
        <dgm:presLayoutVars>
          <dgm:bulletEnabled val="1"/>
        </dgm:presLayoutVars>
      </dgm:prSet>
      <dgm:spPr/>
    </dgm:pt>
    <dgm:pt modelId="{0562E11F-E782-4FDA-B7E9-3FBCA7C101D9}" type="pres">
      <dgm:prSet presAssocID="{CC28F5F8-4E73-4B16-9927-6A4A6A431F2D}" presName="nodeFollowingNodes" presStyleLbl="node1" presStyleIdx="3" presStyleCnt="7">
        <dgm:presLayoutVars>
          <dgm:bulletEnabled val="1"/>
        </dgm:presLayoutVars>
      </dgm:prSet>
      <dgm:spPr/>
    </dgm:pt>
    <dgm:pt modelId="{1F602676-848B-4861-9113-6C47012E4832}" type="pres">
      <dgm:prSet presAssocID="{CDF6457A-D5B6-45E7-8C57-61334E7015AA}" presName="nodeFollowingNodes" presStyleLbl="node1" presStyleIdx="4" presStyleCnt="7">
        <dgm:presLayoutVars>
          <dgm:bulletEnabled val="1"/>
        </dgm:presLayoutVars>
      </dgm:prSet>
      <dgm:spPr/>
    </dgm:pt>
    <dgm:pt modelId="{E20DABC7-1494-4A39-BC77-8C4A25DDB24D}" type="pres">
      <dgm:prSet presAssocID="{F1DC7583-009B-45FA-8863-6EA22A5DC27A}" presName="nodeFollowingNodes" presStyleLbl="node1" presStyleIdx="5" presStyleCnt="7">
        <dgm:presLayoutVars>
          <dgm:bulletEnabled val="1"/>
        </dgm:presLayoutVars>
      </dgm:prSet>
      <dgm:spPr/>
    </dgm:pt>
    <dgm:pt modelId="{54E855C4-6AB9-48B1-99C6-D741905FF74A}" type="pres">
      <dgm:prSet presAssocID="{28E4FA93-A1BF-483A-A026-9888B06E0E31}" presName="nodeFollowingNodes" presStyleLbl="node1" presStyleIdx="6" presStyleCnt="7">
        <dgm:presLayoutVars>
          <dgm:bulletEnabled val="1"/>
        </dgm:presLayoutVars>
      </dgm:prSet>
      <dgm:spPr/>
    </dgm:pt>
  </dgm:ptLst>
  <dgm:cxnLst>
    <dgm:cxn modelId="{EA98C40D-774C-4D2C-A815-F7FF97774C86}" srcId="{647CFD40-DD3D-476C-A4BA-9BFB38A3DE34}" destId="{171047BF-C4DC-4B95-AE9E-26AE6C0D36BA}" srcOrd="0" destOrd="0" parTransId="{1B5BD2D1-B378-4B7B-BA23-6A5AA076C6DE}" sibTransId="{EFFCD121-F878-4AB3-9920-333E173E71BA}"/>
    <dgm:cxn modelId="{92296B12-F20B-4663-8F05-9784AE0A0B58}" srcId="{647CFD40-DD3D-476C-A4BA-9BFB38A3DE34}" destId="{2BD0EC4C-9D19-42E0-A546-EBF48F448A02}" srcOrd="2" destOrd="0" parTransId="{E19EF0D6-201D-4048-A7B2-15C8DFC1DAE4}" sibTransId="{A888EEC7-31AC-4FCD-A6FA-F721956F5D04}"/>
    <dgm:cxn modelId="{43FB5F13-4AD6-4D94-BD63-49FF603BAC6F}" type="presOf" srcId="{CC28F5F8-4E73-4B16-9927-6A4A6A431F2D}" destId="{0562E11F-E782-4FDA-B7E9-3FBCA7C101D9}" srcOrd="0" destOrd="0" presId="urn:microsoft.com/office/officeart/2005/8/layout/cycle3"/>
    <dgm:cxn modelId="{06955040-871C-4468-9521-FF747DC5FFCF}" type="presOf" srcId="{F1DC7583-009B-45FA-8863-6EA22A5DC27A}" destId="{E20DABC7-1494-4A39-BC77-8C4A25DDB24D}" srcOrd="0" destOrd="0" presId="urn:microsoft.com/office/officeart/2005/8/layout/cycle3"/>
    <dgm:cxn modelId="{779EDC60-0E1B-4903-9AA5-9A7E90A180C7}" type="presOf" srcId="{CDF6457A-D5B6-45E7-8C57-61334E7015AA}" destId="{1F602676-848B-4861-9113-6C47012E4832}" srcOrd="0" destOrd="0" presId="urn:microsoft.com/office/officeart/2005/8/layout/cycle3"/>
    <dgm:cxn modelId="{E13D3D6B-6FBF-49B0-BA09-D211486136D7}" srcId="{647CFD40-DD3D-476C-A4BA-9BFB38A3DE34}" destId="{28E4FA93-A1BF-483A-A026-9888B06E0E31}" srcOrd="6" destOrd="0" parTransId="{F6341BEB-F378-4923-9DC7-C2E605C76731}" sibTransId="{5B01BC49-5520-4668-8CB4-E05735DEB7FA}"/>
    <dgm:cxn modelId="{DA313674-A259-4716-B4FA-EEFB3DB10DC0}" type="presOf" srcId="{2BD0EC4C-9D19-42E0-A546-EBF48F448A02}" destId="{D2CD41AC-63CD-4006-85F4-194FE07CAE66}" srcOrd="0" destOrd="0" presId="urn:microsoft.com/office/officeart/2005/8/layout/cycle3"/>
    <dgm:cxn modelId="{C8452E7F-6D72-41B7-8BEA-9CD736FAF5A0}" type="presOf" srcId="{171047BF-C4DC-4B95-AE9E-26AE6C0D36BA}" destId="{06871BC4-9A62-4D30-8499-3AE8CCF50EC7}" srcOrd="0" destOrd="0" presId="urn:microsoft.com/office/officeart/2005/8/layout/cycle3"/>
    <dgm:cxn modelId="{30356B8A-31F2-47BD-ACF7-E37638B02A51}" srcId="{647CFD40-DD3D-476C-A4BA-9BFB38A3DE34}" destId="{CDF6457A-D5B6-45E7-8C57-61334E7015AA}" srcOrd="4" destOrd="0" parTransId="{D1AFA19C-1A6C-42E1-982D-C3F4286C8FDB}" sibTransId="{3498703F-B145-43A0-A60D-467D2BD9BD62}"/>
    <dgm:cxn modelId="{B5BAC5BB-9BDA-4B56-A08C-85C261DD4FF7}" srcId="{647CFD40-DD3D-476C-A4BA-9BFB38A3DE34}" destId="{F1DC7583-009B-45FA-8863-6EA22A5DC27A}" srcOrd="5" destOrd="0" parTransId="{F8FC2B3F-7621-48FF-9CA0-35A7610B7DCF}" sibTransId="{0687506C-AFBD-43E7-AED6-B83741EBFC0E}"/>
    <dgm:cxn modelId="{ACBCCDD1-BD9F-4B57-A981-4C604A66C4F9}" type="presOf" srcId="{EFFCD121-F878-4AB3-9920-333E173E71BA}" destId="{DCED608F-9A11-4C86-B12B-ABE027C52573}" srcOrd="0" destOrd="0" presId="urn:microsoft.com/office/officeart/2005/8/layout/cycle3"/>
    <dgm:cxn modelId="{5E286EDA-ED52-48D4-8DA1-24ED082FA526}" srcId="{647CFD40-DD3D-476C-A4BA-9BFB38A3DE34}" destId="{B0A1EBE8-4AA4-4EF6-A514-27CF95B60745}" srcOrd="1" destOrd="0" parTransId="{F43D1369-B436-4D34-9811-46DC7FA8313D}" sibTransId="{02180A7C-9CB8-4A1E-ADBB-C435289D9BE3}"/>
    <dgm:cxn modelId="{22A32FE9-2F04-42E2-886B-EC8591AE3D5B}" type="presOf" srcId="{28E4FA93-A1BF-483A-A026-9888B06E0E31}" destId="{54E855C4-6AB9-48B1-99C6-D741905FF74A}" srcOrd="0" destOrd="0" presId="urn:microsoft.com/office/officeart/2005/8/layout/cycle3"/>
    <dgm:cxn modelId="{5B765DE9-1CD5-400E-9FE6-5847EC0A6959}" type="presOf" srcId="{647CFD40-DD3D-476C-A4BA-9BFB38A3DE34}" destId="{08A268F2-C091-4967-840A-75D504AA8C9A}" srcOrd="0" destOrd="0" presId="urn:microsoft.com/office/officeart/2005/8/layout/cycle3"/>
    <dgm:cxn modelId="{66A266E9-46D3-4BB0-8E14-520CF05254F6}" srcId="{647CFD40-DD3D-476C-A4BA-9BFB38A3DE34}" destId="{CC28F5F8-4E73-4B16-9927-6A4A6A431F2D}" srcOrd="3" destOrd="0" parTransId="{A6753223-539A-487A-97F1-939E11136B4B}" sibTransId="{CAD0C9F6-4719-42CD-A7D9-E61AC0E88307}"/>
    <dgm:cxn modelId="{341157F0-CBAA-4143-8DB3-87A1595026CB}" type="presOf" srcId="{B0A1EBE8-4AA4-4EF6-A514-27CF95B60745}" destId="{59F68E47-450E-47F8-80AD-92BBC413CCD1}" srcOrd="0" destOrd="0" presId="urn:microsoft.com/office/officeart/2005/8/layout/cycle3"/>
    <dgm:cxn modelId="{AC5750C2-5C20-43FB-8A94-F51F9C6EA94B}" type="presParOf" srcId="{08A268F2-C091-4967-840A-75D504AA8C9A}" destId="{575EE6E2-AED2-4083-9E2B-6C94D12B536A}" srcOrd="0" destOrd="0" presId="urn:microsoft.com/office/officeart/2005/8/layout/cycle3"/>
    <dgm:cxn modelId="{A0D6957B-F19A-432B-9491-1188B9F6CA84}" type="presParOf" srcId="{575EE6E2-AED2-4083-9E2B-6C94D12B536A}" destId="{06871BC4-9A62-4D30-8499-3AE8CCF50EC7}" srcOrd="0" destOrd="0" presId="urn:microsoft.com/office/officeart/2005/8/layout/cycle3"/>
    <dgm:cxn modelId="{C54332A0-CE70-41CF-B2E1-43C16399ADFD}" type="presParOf" srcId="{575EE6E2-AED2-4083-9E2B-6C94D12B536A}" destId="{DCED608F-9A11-4C86-B12B-ABE027C52573}" srcOrd="1" destOrd="0" presId="urn:microsoft.com/office/officeart/2005/8/layout/cycle3"/>
    <dgm:cxn modelId="{9AD18DF6-65CC-4C1F-ACC9-531AF10B5D8A}" type="presParOf" srcId="{575EE6E2-AED2-4083-9E2B-6C94D12B536A}" destId="{59F68E47-450E-47F8-80AD-92BBC413CCD1}" srcOrd="2" destOrd="0" presId="urn:microsoft.com/office/officeart/2005/8/layout/cycle3"/>
    <dgm:cxn modelId="{BBC44616-FE8D-4107-8BA1-79A247FF8D70}" type="presParOf" srcId="{575EE6E2-AED2-4083-9E2B-6C94D12B536A}" destId="{D2CD41AC-63CD-4006-85F4-194FE07CAE66}" srcOrd="3" destOrd="0" presId="urn:microsoft.com/office/officeart/2005/8/layout/cycle3"/>
    <dgm:cxn modelId="{14B6CB49-C944-4050-BF67-441C57A1396D}" type="presParOf" srcId="{575EE6E2-AED2-4083-9E2B-6C94D12B536A}" destId="{0562E11F-E782-4FDA-B7E9-3FBCA7C101D9}" srcOrd="4" destOrd="0" presId="urn:microsoft.com/office/officeart/2005/8/layout/cycle3"/>
    <dgm:cxn modelId="{0E19CD62-4904-457C-928B-F9496296BD0C}" type="presParOf" srcId="{575EE6E2-AED2-4083-9E2B-6C94D12B536A}" destId="{1F602676-848B-4861-9113-6C47012E4832}" srcOrd="5" destOrd="0" presId="urn:microsoft.com/office/officeart/2005/8/layout/cycle3"/>
    <dgm:cxn modelId="{18BE5EFC-E5CE-4630-9A81-BC7B1D670D4D}" type="presParOf" srcId="{575EE6E2-AED2-4083-9E2B-6C94D12B536A}" destId="{E20DABC7-1494-4A39-BC77-8C4A25DDB24D}" srcOrd="6" destOrd="0" presId="urn:microsoft.com/office/officeart/2005/8/layout/cycle3"/>
    <dgm:cxn modelId="{CFBC4DC1-CCCB-4DC5-BEA5-0DED48A9F4CA}" type="presParOf" srcId="{575EE6E2-AED2-4083-9E2B-6C94D12B536A}" destId="{54E855C4-6AB9-48B1-99C6-D741905FF74A}" srcOrd="7"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D608F-9A11-4C86-B12B-ABE027C52573}">
      <dsp:nvSpPr>
        <dsp:cNvPr id="0" name=""/>
        <dsp:cNvSpPr/>
      </dsp:nvSpPr>
      <dsp:spPr>
        <a:xfrm>
          <a:off x="291145" y="-25041"/>
          <a:ext cx="3208311" cy="3208311"/>
        </a:xfrm>
        <a:prstGeom prst="circularArrow">
          <a:avLst>
            <a:gd name="adj1" fmla="val 5544"/>
            <a:gd name="adj2" fmla="val 330680"/>
            <a:gd name="adj3" fmla="val 14587763"/>
            <a:gd name="adj4" fmla="val 16909162"/>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871BC4-9A62-4D30-8499-3AE8CCF50EC7}">
      <dsp:nvSpPr>
        <dsp:cNvPr id="0" name=""/>
        <dsp:cNvSpPr/>
      </dsp:nvSpPr>
      <dsp:spPr>
        <a:xfrm>
          <a:off x="1421476" y="536"/>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Collection</a:t>
          </a:r>
        </a:p>
      </dsp:txBody>
      <dsp:txXfrm>
        <a:off x="1444606" y="23666"/>
        <a:ext cx="901390" cy="427565"/>
      </dsp:txXfrm>
    </dsp:sp>
    <dsp:sp modelId="{59F68E47-450E-47F8-80AD-92BBC413CCD1}">
      <dsp:nvSpPr>
        <dsp:cNvPr id="0" name=""/>
        <dsp:cNvSpPr/>
      </dsp:nvSpPr>
      <dsp:spPr>
        <a:xfrm>
          <a:off x="2491138" y="515659"/>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Storage</a:t>
          </a:r>
        </a:p>
      </dsp:txBody>
      <dsp:txXfrm>
        <a:off x="2514268" y="538789"/>
        <a:ext cx="901390" cy="427565"/>
      </dsp:txXfrm>
    </dsp:sp>
    <dsp:sp modelId="{D2CD41AC-63CD-4006-85F4-194FE07CAE66}">
      <dsp:nvSpPr>
        <dsp:cNvPr id="0" name=""/>
        <dsp:cNvSpPr/>
      </dsp:nvSpPr>
      <dsp:spPr>
        <a:xfrm>
          <a:off x="2755323" y="1673128"/>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Cleaning</a:t>
          </a:r>
        </a:p>
      </dsp:txBody>
      <dsp:txXfrm>
        <a:off x="2778453" y="1696258"/>
        <a:ext cx="901390" cy="427565"/>
      </dsp:txXfrm>
    </dsp:sp>
    <dsp:sp modelId="{0562E11F-E782-4FDA-B7E9-3FBCA7C101D9}">
      <dsp:nvSpPr>
        <dsp:cNvPr id="0" name=""/>
        <dsp:cNvSpPr/>
      </dsp:nvSpPr>
      <dsp:spPr>
        <a:xfrm>
          <a:off x="2015094" y="2601346"/>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Transformation</a:t>
          </a:r>
        </a:p>
      </dsp:txBody>
      <dsp:txXfrm>
        <a:off x="2038224" y="2624476"/>
        <a:ext cx="901390" cy="427565"/>
      </dsp:txXfrm>
    </dsp:sp>
    <dsp:sp modelId="{1F602676-848B-4861-9113-6C47012E4832}">
      <dsp:nvSpPr>
        <dsp:cNvPr id="0" name=""/>
        <dsp:cNvSpPr/>
      </dsp:nvSpPr>
      <dsp:spPr>
        <a:xfrm>
          <a:off x="827858" y="2601346"/>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Analysis</a:t>
          </a:r>
        </a:p>
      </dsp:txBody>
      <dsp:txXfrm>
        <a:off x="850988" y="2624476"/>
        <a:ext cx="901390" cy="427565"/>
      </dsp:txXfrm>
    </dsp:sp>
    <dsp:sp modelId="{E20DABC7-1494-4A39-BC77-8C4A25DDB24D}">
      <dsp:nvSpPr>
        <dsp:cNvPr id="0" name=""/>
        <dsp:cNvSpPr/>
      </dsp:nvSpPr>
      <dsp:spPr>
        <a:xfrm>
          <a:off x="87628" y="1673128"/>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Reporting</a:t>
          </a:r>
        </a:p>
      </dsp:txBody>
      <dsp:txXfrm>
        <a:off x="110758" y="1696258"/>
        <a:ext cx="901390" cy="427565"/>
      </dsp:txXfrm>
    </dsp:sp>
    <dsp:sp modelId="{54E855C4-6AB9-48B1-99C6-D741905FF74A}">
      <dsp:nvSpPr>
        <dsp:cNvPr id="0" name=""/>
        <dsp:cNvSpPr/>
      </dsp:nvSpPr>
      <dsp:spPr>
        <a:xfrm>
          <a:off x="351813" y="515659"/>
          <a:ext cx="947650" cy="473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Archiving/ Deletion</a:t>
          </a:r>
        </a:p>
      </dsp:txBody>
      <dsp:txXfrm>
        <a:off x="374943" y="538789"/>
        <a:ext cx="901390" cy="427565"/>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2406B0-82C0-1763-EE57-63E93A5150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88F14B2-CDAC-27E5-918D-158501A392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6D3D10-F731-4672-995C-55C6E16C5DB6}" type="datetimeFigureOut">
              <a:rPr lang="en-GB" smtClean="0"/>
              <a:t>01/10/2026</a:t>
            </a:fld>
            <a:endParaRPr lang="en-GB"/>
          </a:p>
        </p:txBody>
      </p:sp>
      <p:sp>
        <p:nvSpPr>
          <p:cNvPr id="4" name="Footer Placeholder 3">
            <a:extLst>
              <a:ext uri="{FF2B5EF4-FFF2-40B4-BE49-F238E27FC236}">
                <a16:creationId xmlns:a16="http://schemas.microsoft.com/office/drawing/2014/main" id="{88AA64E0-341D-1F51-F6AE-D99D497218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5148FA4-4431-BBDD-E6AA-3C5C0BF98F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FB05FC-8EA2-41D8-97B3-871CFE14F622}" type="slidenum">
              <a:rPr lang="en-GB" smtClean="0"/>
              <a:t>‹#›</a:t>
            </a:fld>
            <a:endParaRPr lang="en-GB"/>
          </a:p>
        </p:txBody>
      </p:sp>
    </p:spTree>
    <p:extLst>
      <p:ext uri="{BB962C8B-B14F-4D97-AF65-F5344CB8AC3E}">
        <p14:creationId xmlns:p14="http://schemas.microsoft.com/office/powerpoint/2010/main" val="163549379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7A9FB-B4AA-40C7-A5AA-4B85A3DED926}" type="datetimeFigureOut">
              <a:rPr lang="en-GB" smtClean="0"/>
              <a:t>01/10/2026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427EC4-43D7-4899-AF54-D30B3AC26D4A}" type="slidenum">
              <a:rPr lang="en-GB" smtClean="0"/>
              <a:t>‹#›</a:t>
            </a:fld>
            <a:endParaRPr lang="en-GB" dirty="0"/>
          </a:p>
        </p:txBody>
      </p:sp>
    </p:spTree>
    <p:extLst>
      <p:ext uri="{BB962C8B-B14F-4D97-AF65-F5344CB8AC3E}">
        <p14:creationId xmlns:p14="http://schemas.microsoft.com/office/powerpoint/2010/main" val="378970673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200"/>
              </a:spcAft>
              <a:buSzPct val="90000"/>
            </a:pPr>
            <a:r>
              <a:rPr lang="en-GB" sz="1200" b="1" dirty="0">
                <a:solidFill>
                  <a:schemeClr val="tx1"/>
                </a:solidFill>
                <a:latin typeface="Calibri" panose="020F0502020204030204" pitchFamily="34" charset="0"/>
                <a:ea typeface="Calibri" panose="020F0502020204030204" pitchFamily="34" charset="0"/>
                <a:cs typeface="Calibri" panose="020F0502020204030204" pitchFamily="34" charset="0"/>
              </a:rPr>
              <a:t>Business Perspective</a:t>
            </a:r>
          </a:p>
          <a:p>
            <a:pPr>
              <a:spcAft>
                <a:spcPts val="1200"/>
              </a:spcAft>
              <a:buSzPct val="90000"/>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Organisations use data to</a:t>
            </a:r>
          </a:p>
          <a:p>
            <a:pPr marL="342900" indent="-342900">
              <a:spcAft>
                <a:spcPts val="1200"/>
              </a:spcAft>
              <a:buSzPct val="90000"/>
              <a:buFont typeface="Arial" panose="020B0604020202020204" pitchFamily="34" charset="0"/>
              <a:buChar char="•"/>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Understand customers </a:t>
            </a:r>
          </a:p>
          <a:p>
            <a:pPr marL="342900" indent="-342900">
              <a:spcAft>
                <a:spcPts val="1200"/>
              </a:spcAft>
              <a:buSzPct val="90000"/>
              <a:buFont typeface="Arial" panose="020B0604020202020204" pitchFamily="34" charset="0"/>
              <a:buChar char="•"/>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Monitor performance </a:t>
            </a:r>
          </a:p>
          <a:p>
            <a:pPr marL="342900" indent="-342900">
              <a:spcAft>
                <a:spcPts val="1200"/>
              </a:spcAft>
              <a:buSzPct val="90000"/>
              <a:buFont typeface="Arial" panose="020B0604020202020204" pitchFamily="34" charset="0"/>
              <a:buChar char="•"/>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Identify trends </a:t>
            </a:r>
          </a:p>
          <a:p>
            <a:pPr marL="342900" indent="-342900">
              <a:spcAft>
                <a:spcPts val="1200"/>
              </a:spcAft>
              <a:buSzPct val="90000"/>
              <a:buFont typeface="Arial" panose="020B0604020202020204" pitchFamily="34" charset="0"/>
              <a:buChar char="•"/>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Predict future outcomes </a:t>
            </a:r>
          </a:p>
          <a:p>
            <a:pPr marL="342900" indent="-342900">
              <a:spcAft>
                <a:spcPts val="1200"/>
              </a:spcAft>
              <a:buSzPct val="90000"/>
              <a:buFont typeface="Arial" panose="020B0604020202020204" pitchFamily="34" charset="0"/>
              <a:buChar char="•"/>
            </a:pPr>
            <a:r>
              <a:rPr lang="en-GB" sz="1200" dirty="0">
                <a:solidFill>
                  <a:schemeClr val="tx1"/>
                </a:solidFill>
                <a:latin typeface="Calibri" panose="020F0502020204030204" pitchFamily="34" charset="0"/>
                <a:ea typeface="Calibri" panose="020F0502020204030204" pitchFamily="34" charset="0"/>
                <a:cs typeface="Calibri" panose="020F0502020204030204" pitchFamily="34" charset="0"/>
              </a:rPr>
              <a:t>Support decision-making</a:t>
            </a:r>
            <a:endParaRPr lang="en-GB" dirty="0"/>
          </a:p>
          <a:p>
            <a:endParaRPr lang="en-GB" dirty="0"/>
          </a:p>
        </p:txBody>
      </p:sp>
    </p:spTree>
    <p:extLst>
      <p:ext uri="{BB962C8B-B14F-4D97-AF65-F5344CB8AC3E}">
        <p14:creationId xmlns:p14="http://schemas.microsoft.com/office/powerpoint/2010/main" val="61180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507764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Important:</a:t>
            </a:r>
            <a:r>
              <a:rPr lang="en-GB" sz="1200" dirty="0"/>
              <a:t> Legal compliance does not automatically mean that every use of data is ethically appropriate.</a:t>
            </a:r>
          </a:p>
          <a:p>
            <a:r>
              <a:rPr lang="en-GB" sz="1200" b="1" dirty="0"/>
              <a:t>Example: </a:t>
            </a:r>
            <a:r>
              <a:rPr lang="en-GB" sz="1200" dirty="0"/>
              <a:t>A dataset may legally be available for analysis, but publishing highly detailed results could still create privacy or re-identification risks.</a:t>
            </a:r>
          </a:p>
          <a:p>
            <a:r>
              <a:rPr lang="en-US" sz="1200" b="1" dirty="0"/>
              <a:t>Lawfulness, fairness and transparency:</a:t>
            </a:r>
            <a:r>
              <a:rPr lang="en-US" sz="1200" dirty="0"/>
              <a:t> Personal data must be collected and used legally, fairly, and openly. People should know what information is being collected, why it is being collected, and how it will be used. For example, a college should clearly explain why it collects a student's contact details.</a:t>
            </a:r>
          </a:p>
          <a:p>
            <a:endParaRPr lang="en-US" sz="1200" dirty="0"/>
          </a:p>
          <a:p>
            <a:r>
              <a:rPr lang="en-US" sz="1200" b="1" dirty="0"/>
              <a:t>Purpose limitation:</a:t>
            </a:r>
            <a:r>
              <a:rPr lang="en-US" sz="1200" dirty="0"/>
              <a:t> Personal data should only be collected for a specific, clear and legitimate purpose. It should not later be used for a completely different purpose without a valid reason. For example, if an email address is collected to send course information, it should not automatically be used for unrelated marketing.</a:t>
            </a:r>
          </a:p>
          <a:p>
            <a:endParaRPr lang="en-US" sz="1200" dirty="0"/>
          </a:p>
          <a:p>
            <a:r>
              <a:rPr lang="en-US" sz="1200" b="1" dirty="0"/>
              <a:t>Data minimization:</a:t>
            </a:r>
            <a:r>
              <a:rPr lang="en-US" sz="1200" dirty="0"/>
              <a:t> </a:t>
            </a:r>
            <a:r>
              <a:rPr lang="en-US" sz="1200" dirty="0" err="1"/>
              <a:t>Organisations</a:t>
            </a:r>
            <a:r>
              <a:rPr lang="en-US" sz="1200" dirty="0"/>
              <a:t> should only collect the personal information they actually need. They should avoid collecting unnecessary details. For example, if a person's name and email address are enough to register for an event, there may be no reason to ask for their passport number.</a:t>
            </a:r>
          </a:p>
          <a:p>
            <a:endParaRPr lang="en-US" sz="1200" dirty="0"/>
          </a:p>
          <a:p>
            <a:r>
              <a:rPr lang="en-US" sz="1200" b="1" dirty="0"/>
              <a:t>Accuracy:</a:t>
            </a:r>
            <a:r>
              <a:rPr lang="en-US" sz="1200" dirty="0"/>
              <a:t> Personal data should be correct and kept up to date. Incorrect information should be corrected or deleted when necessary. For example, if a student changes their address, the college should update its records.</a:t>
            </a:r>
          </a:p>
          <a:p>
            <a:endParaRPr lang="en-US" sz="1200" dirty="0"/>
          </a:p>
          <a:p>
            <a:r>
              <a:rPr lang="en-US" sz="1200" b="1" dirty="0"/>
              <a:t>Storage limitation:</a:t>
            </a:r>
            <a:r>
              <a:rPr lang="en-US" sz="1200" dirty="0"/>
              <a:t> Personal data should not be kept for longer than necessary. </a:t>
            </a:r>
            <a:r>
              <a:rPr lang="en-US" sz="1200" dirty="0" err="1"/>
              <a:t>Organisations</a:t>
            </a:r>
            <a:r>
              <a:rPr lang="en-US" sz="1200" dirty="0"/>
              <a:t> should have rules about how long different types of information are retained and when they should be deleted or </a:t>
            </a:r>
            <a:r>
              <a:rPr lang="en-US" sz="1200" dirty="0" err="1"/>
              <a:t>anonymised</a:t>
            </a:r>
            <a:r>
              <a:rPr lang="en-US" sz="1200" dirty="0"/>
              <a:t>. For example, an </a:t>
            </a:r>
            <a:r>
              <a:rPr lang="en-US" sz="1200" dirty="0" err="1"/>
              <a:t>organisation</a:t>
            </a:r>
            <a:r>
              <a:rPr lang="en-US" sz="1200" dirty="0"/>
              <a:t> should not keep an unsuccessful job applicant's information indefinitely without a valid reason.</a:t>
            </a:r>
          </a:p>
          <a:p>
            <a:endParaRPr lang="en-US" sz="1200" dirty="0"/>
          </a:p>
          <a:p>
            <a:r>
              <a:rPr lang="en-US" sz="1200" b="1" dirty="0"/>
              <a:t>Integrity and confidentiality:</a:t>
            </a:r>
            <a:r>
              <a:rPr lang="en-US" sz="1200" dirty="0"/>
              <a:t> Personal data must be kept secure and protected against </a:t>
            </a:r>
            <a:r>
              <a:rPr lang="en-US" sz="1200" dirty="0" err="1"/>
              <a:t>unauthorised</a:t>
            </a:r>
            <a:r>
              <a:rPr lang="en-US" sz="1200" dirty="0"/>
              <a:t> access, loss, damage or disclosure. This can involve passwords, encryption, access controls, secure storage and staff training. For example, confidential student records should only be accessible to </a:t>
            </a:r>
            <a:r>
              <a:rPr lang="en-US" sz="1200" dirty="0" err="1"/>
              <a:t>authorised</a:t>
            </a:r>
            <a:r>
              <a:rPr lang="en-US" sz="1200" dirty="0"/>
              <a:t> staff.</a:t>
            </a:r>
          </a:p>
          <a:p>
            <a:endParaRPr lang="en-US" sz="1200" dirty="0"/>
          </a:p>
          <a:p>
            <a:r>
              <a:rPr lang="en-US" sz="1200" b="1" dirty="0"/>
              <a:t>Accountability:</a:t>
            </a:r>
            <a:r>
              <a:rPr lang="en-US" sz="1200" dirty="0"/>
              <a:t> </a:t>
            </a:r>
            <a:r>
              <a:rPr lang="en-US" sz="1200" dirty="0" err="1"/>
              <a:t>Organisations</a:t>
            </a:r>
            <a:r>
              <a:rPr lang="en-US" sz="1200" dirty="0"/>
              <a:t> are responsible for following GDPR and must also be able to demonstrate that they are complying with it. This can include having privacy policies, staff training, data-protection procedures, records of processing activities and appropriate security measures.</a:t>
            </a:r>
          </a:p>
          <a:p>
            <a:endParaRPr lang="en-US" sz="1200" dirty="0"/>
          </a:p>
          <a:p>
            <a:pPr lvl="0"/>
            <a:r>
              <a:rPr lang="en-GB" b="1" dirty="0"/>
              <a:t>Privacy:</a:t>
            </a:r>
            <a:r>
              <a:rPr lang="en-GB" dirty="0"/>
              <a:t> Protecting a person’s personal information and ensuring it is only collected, used, or shared appropriately.</a:t>
            </a:r>
          </a:p>
          <a:p>
            <a:pPr lvl="0"/>
            <a:r>
              <a:rPr lang="en-GB" b="1" dirty="0"/>
              <a:t>Confidentiality:</a:t>
            </a:r>
            <a:r>
              <a:rPr lang="en-GB" dirty="0"/>
              <a:t> Keeping sensitive information secret and only allowing authorised people to access it.</a:t>
            </a:r>
          </a:p>
          <a:p>
            <a:pPr lvl="0"/>
            <a:r>
              <a:rPr lang="en-GB" b="1" dirty="0"/>
              <a:t>Bias and discrimination:</a:t>
            </a:r>
            <a:r>
              <a:rPr lang="en-GB" dirty="0"/>
              <a:t> Bias is an unfair preference or prejudice that can affect decisions. Discrimination happens when people are treated unfairly because of characteristics such as age, gender, race, or disability.</a:t>
            </a:r>
          </a:p>
          <a:p>
            <a:pPr lvl="0"/>
            <a:r>
              <a:rPr lang="en-GB" b="1" dirty="0"/>
              <a:t>Transparency:</a:t>
            </a:r>
            <a:r>
              <a:rPr lang="en-GB" dirty="0"/>
              <a:t> Being clear and open about how information, systems, or decisions are made and used.</a:t>
            </a:r>
          </a:p>
          <a:p>
            <a:pPr lvl="0"/>
            <a:r>
              <a:rPr lang="en-GB" b="1" dirty="0"/>
              <a:t>Representativeness:</a:t>
            </a:r>
            <a:r>
              <a:rPr lang="en-GB" dirty="0"/>
              <a:t> Making sure that data or samples properly reflect the different groups or people they are intended to represent.</a:t>
            </a:r>
          </a:p>
          <a:p>
            <a:pPr lvl="0"/>
            <a:r>
              <a:rPr lang="en-GB" b="1" dirty="0"/>
              <a:t>Potential harm:</a:t>
            </a:r>
            <a:r>
              <a:rPr lang="en-GB" dirty="0"/>
              <a:t> Any possible negative effect that may result from using data or technology, such as financial loss, emotional distress, privacy breaches, or unfair treatment.</a:t>
            </a:r>
          </a:p>
          <a:p>
            <a:pPr lvl="0"/>
            <a:r>
              <a:rPr lang="en-GB" b="1" dirty="0"/>
              <a:t>Responsible interpretation:</a:t>
            </a:r>
            <a:r>
              <a:rPr lang="en-GB" dirty="0"/>
              <a:t> Understanding and explaining data or results carefully, considering their limitations and avoiding misleading or incorrect conclusions.</a:t>
            </a:r>
          </a:p>
          <a:p>
            <a:endParaRPr lang="en-GB" sz="1200" dirty="0"/>
          </a:p>
        </p:txBody>
      </p:sp>
    </p:spTree>
    <p:extLst>
      <p:ext uri="{BB962C8B-B14F-4D97-AF65-F5344CB8AC3E}">
        <p14:creationId xmlns:p14="http://schemas.microsoft.com/office/powerpoint/2010/main" val="419849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B836-E4EE-4E06-8B91-0A9BDBDB439E}"/>
              </a:ext>
            </a:extLst>
          </p:cNvPr>
          <p:cNvSpPr>
            <a:spLocks noGrp="1"/>
          </p:cNvSpPr>
          <p:nvPr>
            <p:ph type="ctrTitle"/>
          </p:nvPr>
        </p:nvSpPr>
        <p:spPr>
          <a:xfrm>
            <a:off x="1524000" y="1646238"/>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6A843F9D-205F-46E1-9D12-71A9AC6E13FC}"/>
              </a:ext>
            </a:extLst>
          </p:cNvPr>
          <p:cNvSpPr>
            <a:spLocks noGrp="1"/>
          </p:cNvSpPr>
          <p:nvPr>
            <p:ph type="subTitle" idx="1"/>
          </p:nvPr>
        </p:nvSpPr>
        <p:spPr>
          <a:xfrm>
            <a:off x="1524000" y="4125913"/>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42162BC-6CA4-467E-AC86-BC77F310BE51}"/>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EA333EDF-AB45-418D-8F51-D1AD2EDA3FDB}"/>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8923A67F-3C36-613E-ED45-4C44A25965F5}"/>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67742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E0AE1-99A4-41F3-BF6E-65E1013A9185}"/>
              </a:ext>
            </a:extLst>
          </p:cNvPr>
          <p:cNvSpPr>
            <a:spLocks noGrp="1"/>
          </p:cNvSpPr>
          <p:nvPr>
            <p:ph type="title" hasCustomPrompt="1"/>
          </p:nvPr>
        </p:nvSpPr>
        <p:spPr>
          <a:xfrm>
            <a:off x="838201" y="74259"/>
            <a:ext cx="8900604" cy="1325563"/>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C9A915C1-7308-4EE4-B2E5-01F49DB1D5D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A04424B-1C03-4B66-9EF1-A229FB752C71}"/>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7243E005-405B-4CE0-928D-52F5FEE11F3C}"/>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3E78D7E0-ED2C-4C9E-A814-A3C47C37ED50}"/>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709309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D467-1716-4D07-9AA3-7A664C4D19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8704D9E-EF9B-4615-96B0-4EA09278B4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501B99-FD4E-4ACF-95C7-037B7D19971E}"/>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45207437-B0B6-48C7-A34A-19E95D9BCFC6}"/>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F8AEAC33-DEA4-B6B2-71F9-C66F37B25BA1}"/>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058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AC101-C812-4A54-B9AD-882F17E2C8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EF0F46-33F1-4156-BC49-BB22674E3D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EB920D2-BE75-470C-9C4B-D8543D713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7442DAA-7DAF-49AC-BAE0-70A3942E6C36}"/>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2C113C39-64ED-4144-988B-D3ED11FEF258}"/>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3D071622-1A56-5F5D-7C48-60ED4F468F5A}"/>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46199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4105-5F97-48A3-AA6F-BADCE382C1FC}"/>
              </a:ext>
            </a:extLst>
          </p:cNvPr>
          <p:cNvSpPr>
            <a:spLocks noGrp="1"/>
          </p:cNvSpPr>
          <p:nvPr>
            <p:ph type="title"/>
          </p:nvPr>
        </p:nvSpPr>
        <p:spPr>
          <a:xfrm>
            <a:off x="838200" y="10477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779B9BC-0773-46F4-BF10-B66027DBAA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33E622-696B-4DC4-94B6-1DD605B114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49C910A-7183-4227-AD5B-275F32F506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0466-8EA4-44AE-AF38-8D0CF8770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7A87FD3-5C74-44AD-9CB5-28B1BF7DB053}"/>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8" name="Footer Placeholder 7">
            <a:extLst>
              <a:ext uri="{FF2B5EF4-FFF2-40B4-BE49-F238E27FC236}">
                <a16:creationId xmlns:a16="http://schemas.microsoft.com/office/drawing/2014/main" id="{CBD7C44D-BC7B-4904-9A38-0AD77B82DAF1}"/>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10" name="Slide Number Placeholder 5">
            <a:extLst>
              <a:ext uri="{FF2B5EF4-FFF2-40B4-BE49-F238E27FC236}">
                <a16:creationId xmlns:a16="http://schemas.microsoft.com/office/drawing/2014/main" id="{AFF81A8D-86AB-D0F1-C12B-93C0BC212312}"/>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94801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0906-B4A4-4BEE-92C1-B3DDE11F0F3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A20F041-8ABD-4664-B1A5-6A4CA1C05D75}"/>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4" name="Footer Placeholder 3">
            <a:extLst>
              <a:ext uri="{FF2B5EF4-FFF2-40B4-BE49-F238E27FC236}">
                <a16:creationId xmlns:a16="http://schemas.microsoft.com/office/drawing/2014/main" id="{98D34C98-2D5E-430B-B7D8-66C11BD7E104}"/>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D7C74D50-E0AF-7C43-458F-C9D7C62B392E}"/>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383600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7FC441-C690-4EEF-920D-D09DB0F2C495}"/>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3" name="Footer Placeholder 2">
            <a:extLst>
              <a:ext uri="{FF2B5EF4-FFF2-40B4-BE49-F238E27FC236}">
                <a16:creationId xmlns:a16="http://schemas.microsoft.com/office/drawing/2014/main" id="{B31B84C9-EEF1-438D-91A9-23773B67B2FD}"/>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5" name="Slide Number Placeholder 5">
            <a:extLst>
              <a:ext uri="{FF2B5EF4-FFF2-40B4-BE49-F238E27FC236}">
                <a16:creationId xmlns:a16="http://schemas.microsoft.com/office/drawing/2014/main" id="{C0F985CD-07FD-1C2E-C8C8-FDEF54E92ACD}"/>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3150479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6BE4-6FF8-47FD-94E0-A136532FD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0B5A2B-F66F-41C8-A747-1E19255F49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EB2CDD9-C6CB-4AD9-BCCE-B1E27D979A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96FB3-9D3F-40F6-A756-F494796AFBCA}"/>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6942FFE2-D26A-4DBB-A9F8-21F2F25BBEBF}"/>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2638C9B0-FE7A-E1B6-A360-8858370B2BFE}"/>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91226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D0C0E-53E5-430A-BECB-DE76F1CC30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3D6A415-E8A5-4B01-8F66-20BF09CE9F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0E08B4D-3C51-43FD-849B-425B6D6F8A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C423EC-1F52-4B63-A47A-58925E01D32F}"/>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6" name="Footer Placeholder 5">
            <a:extLst>
              <a:ext uri="{FF2B5EF4-FFF2-40B4-BE49-F238E27FC236}">
                <a16:creationId xmlns:a16="http://schemas.microsoft.com/office/drawing/2014/main" id="{CD86B3AD-0636-4B60-96A1-136B5F012689}"/>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ABC033F7-210F-9582-63EE-42FC2599F08F}"/>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2272302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B817-3673-4DE2-BCA0-E562F2CEF01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9E6782-58FA-4A22-8241-7CD0AF42E1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2997E6-7848-4967-B09B-5BD03C98421D}"/>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89B674B2-668D-4966-8849-37A9CCD48001}"/>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2247755C-17AC-F28B-5078-0194B60BF0A1}"/>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16984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01867C-BED4-44B7-A70E-4EF6F3399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9B4DCE0-AEE9-4B9E-845B-8A5FB77BAB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A9966C-5B0E-4D0D-9341-168BA6C3832B}"/>
              </a:ext>
            </a:extLst>
          </p:cNvPr>
          <p:cNvSpPr>
            <a:spLocks noGrp="1"/>
          </p:cNvSpPr>
          <p:nvPr>
            <p:ph type="dt" sz="half" idx="10"/>
          </p:nvPr>
        </p:nvSpPr>
        <p:spPr>
          <a:xfrm>
            <a:off x="838200" y="6489520"/>
            <a:ext cx="2743200" cy="365125"/>
          </a:xfrm>
          <a:prstGeom prst="rect">
            <a:avLst/>
          </a:prstGeom>
        </p:spPr>
        <p:txBody>
          <a:bodyPr/>
          <a:lstStyle/>
          <a:p>
            <a:r>
              <a:rPr lang="en-US"/>
              <a:t>01/17/2018</a:t>
            </a:r>
            <a:endParaRPr lang="en-GB" dirty="0"/>
          </a:p>
        </p:txBody>
      </p:sp>
      <p:sp>
        <p:nvSpPr>
          <p:cNvPr id="5" name="Footer Placeholder 4">
            <a:extLst>
              <a:ext uri="{FF2B5EF4-FFF2-40B4-BE49-F238E27FC236}">
                <a16:creationId xmlns:a16="http://schemas.microsoft.com/office/drawing/2014/main" id="{19EB4EB6-224E-4A2D-AC5D-AF0AFB62C000}"/>
              </a:ext>
            </a:extLst>
          </p:cNvPr>
          <p:cNvSpPr>
            <a:spLocks noGrp="1"/>
          </p:cNvSpPr>
          <p:nvPr>
            <p:ph type="ftr" sz="quarter" idx="11"/>
          </p:nvPr>
        </p:nvSpPr>
        <p:spPr>
          <a:xfrm>
            <a:off x="4038600" y="6489520"/>
            <a:ext cx="4114800"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2219D011-EA1E-48E8-7896-82635155B735}"/>
              </a:ext>
            </a:extLst>
          </p:cNvPr>
          <p:cNvSpPr>
            <a:spLocks noGrp="1"/>
          </p:cNvSpPr>
          <p:nvPr>
            <p:ph type="sldNum" sz="quarter" idx="12"/>
          </p:nvPr>
        </p:nvSpPr>
        <p:spPr>
          <a:xfrm>
            <a:off x="9439275" y="6463246"/>
            <a:ext cx="2743200" cy="310970"/>
          </a:xfrm>
          <a:prstGeom prst="rect">
            <a:avLst/>
          </a:prstGeom>
        </p:spPr>
        <p:txBody>
          <a:bodyPr/>
          <a:lstStyle>
            <a:lvl1pPr>
              <a:defRPr b="0"/>
            </a:lvl1pPr>
          </a:lstStyle>
          <a:p>
            <a:fld id="{6C8DB4F7-D883-4928-8961-38134A510B78}" type="slidenum">
              <a:rPr lang="en-GB" smtClean="0"/>
              <a:pPr/>
              <a:t>‹#›</a:t>
            </a:fld>
            <a:endParaRPr lang="en-GB" b="0" dirty="0"/>
          </a:p>
        </p:txBody>
      </p:sp>
    </p:spTree>
    <p:extLst>
      <p:ext uri="{BB962C8B-B14F-4D97-AF65-F5344CB8AC3E}">
        <p14:creationId xmlns:p14="http://schemas.microsoft.com/office/powerpoint/2010/main" val="4164679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2158B2-5239-4E3A-89F4-229D4B122F8A}"/>
              </a:ext>
            </a:extLst>
          </p:cNvPr>
          <p:cNvSpPr>
            <a:spLocks noGrp="1"/>
          </p:cNvSpPr>
          <p:nvPr>
            <p:ph type="title"/>
          </p:nvPr>
        </p:nvSpPr>
        <p:spPr>
          <a:xfrm>
            <a:off x="838200" y="36159"/>
            <a:ext cx="890948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9824DE6-2CA7-45AF-BD92-BBC7CEF35684}"/>
              </a:ext>
            </a:extLst>
          </p:cNvPr>
          <p:cNvSpPr>
            <a:spLocks noGrp="1"/>
          </p:cNvSpPr>
          <p:nvPr>
            <p:ph type="body" idx="1"/>
          </p:nvPr>
        </p:nvSpPr>
        <p:spPr>
          <a:xfrm>
            <a:off x="838200" y="1581150"/>
            <a:ext cx="10515600" cy="46291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Google Shape;15;p18">
            <a:extLst>
              <a:ext uri="{FF2B5EF4-FFF2-40B4-BE49-F238E27FC236}">
                <a16:creationId xmlns:a16="http://schemas.microsoft.com/office/drawing/2014/main" id="{D4C3B5C1-CC93-02A0-A1B9-974968587135}"/>
              </a:ext>
            </a:extLst>
          </p:cNvPr>
          <p:cNvSpPr/>
          <p:nvPr userDrawn="1"/>
        </p:nvSpPr>
        <p:spPr>
          <a:xfrm>
            <a:off x="0" y="6210300"/>
            <a:ext cx="12192000" cy="64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 name="Google Shape;16;p18" descr="A picture containing drawing&#10;&#10;Description automatically generated">
            <a:extLst>
              <a:ext uri="{FF2B5EF4-FFF2-40B4-BE49-F238E27FC236}">
                <a16:creationId xmlns:a16="http://schemas.microsoft.com/office/drawing/2014/main" id="{D763B9A6-2820-62C5-FD73-4D72B09B1053}"/>
              </a:ext>
            </a:extLst>
          </p:cNvPr>
          <p:cNvPicPr preferRelativeResize="0"/>
          <p:nvPr userDrawn="1"/>
        </p:nvPicPr>
        <p:blipFill rotWithShape="1">
          <a:blip r:embed="rId13">
            <a:alphaModFix/>
          </a:blip>
          <a:srcRect/>
          <a:stretch/>
        </p:blipFill>
        <p:spPr>
          <a:xfrm>
            <a:off x="9113894" y="6110413"/>
            <a:ext cx="2341051" cy="647700"/>
          </a:xfrm>
          <a:prstGeom prst="rect">
            <a:avLst/>
          </a:prstGeom>
          <a:noFill/>
          <a:ln>
            <a:noFill/>
          </a:ln>
        </p:spPr>
      </p:pic>
      <p:sp>
        <p:nvSpPr>
          <p:cNvPr id="11" name="Slide Number Placeholder 5">
            <a:extLst>
              <a:ext uri="{FF2B5EF4-FFF2-40B4-BE49-F238E27FC236}">
                <a16:creationId xmlns:a16="http://schemas.microsoft.com/office/drawing/2014/main" id="{7C4D38F0-A39A-2A1C-E461-813F3D011EAD}"/>
              </a:ext>
            </a:extLst>
          </p:cNvPr>
          <p:cNvSpPr>
            <a:spLocks noGrp="1"/>
          </p:cNvSpPr>
          <p:nvPr>
            <p:ph type="sldNum" sz="quarter" idx="4"/>
          </p:nvPr>
        </p:nvSpPr>
        <p:spPr>
          <a:xfrm>
            <a:off x="11767456" y="6444195"/>
            <a:ext cx="386443" cy="313917"/>
          </a:xfrm>
          <a:prstGeom prst="rect">
            <a:avLst/>
          </a:prstGeom>
        </p:spPr>
        <p:txBody>
          <a:bodyPr/>
          <a:lstStyle>
            <a:lvl1pPr algn="r">
              <a:defRPr sz="1050" b="0"/>
            </a:lvl1pPr>
          </a:lstStyle>
          <a:p>
            <a:fld id="{6C8DB4F7-D883-4928-8961-38134A510B78}" type="slidenum">
              <a:rPr lang="en-GB" smtClean="0"/>
              <a:pPr/>
              <a:t>‹#›</a:t>
            </a:fld>
            <a:endParaRPr lang="en-GB" sz="1050" dirty="0"/>
          </a:p>
        </p:txBody>
      </p:sp>
    </p:spTree>
    <p:extLst>
      <p:ext uri="{BB962C8B-B14F-4D97-AF65-F5344CB8AC3E}">
        <p14:creationId xmlns:p14="http://schemas.microsoft.com/office/powerpoint/2010/main" val="3933344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accent5">
              <a:lumMod val="50000"/>
            </a:schemeClr>
          </a:solidFill>
          <a:latin typeface="+mn-lt"/>
          <a:ea typeface="+mj-ea"/>
          <a:cs typeface="+mj-cs"/>
        </a:defRPr>
      </a:lvl1pPr>
    </p:titleStyle>
    <p:body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F22397A-B976-4D54-A4CD-20AA62C0719F}"/>
              </a:ext>
            </a:extLst>
          </p:cNvPr>
          <p:cNvSpPr txBox="1">
            <a:spLocks noGrp="1"/>
          </p:cNvSpPr>
          <p:nvPr>
            <p:ph type="subTitle" idx="1"/>
          </p:nvPr>
        </p:nvSpPr>
        <p:spPr>
          <a:xfrm>
            <a:off x="2539384" y="4917186"/>
            <a:ext cx="9144000" cy="1092204"/>
          </a:xfrm>
        </p:spPr>
        <p:txBody>
          <a:bodyPr>
            <a:normAutofit/>
          </a:bodyPr>
          <a:lstStyle/>
          <a:p>
            <a:pPr lvl="0"/>
            <a:r>
              <a:rPr lang="en-GB" sz="2800" b="1" dirty="0">
                <a:solidFill>
                  <a:srgbClr val="00B0F0"/>
                </a:solidFill>
              </a:rPr>
              <a:t>Lecturer: Dr. Muhammad Iqbal</a:t>
            </a:r>
            <a:r>
              <a:rPr lang="en-GB" sz="1600" b="1" baseline="60000" dirty="0">
                <a:solidFill>
                  <a:srgbClr val="00B0F0"/>
                </a:solidFill>
              </a:rPr>
              <a:t>*</a:t>
            </a:r>
          </a:p>
          <a:p>
            <a:pPr lvl="0"/>
            <a:r>
              <a:rPr lang="en-GB" sz="2800" b="1" dirty="0">
                <a:solidFill>
                  <a:srgbClr val="00B0F0"/>
                </a:solidFill>
              </a:rPr>
              <a:t>Email: miqbal@cct.ie</a:t>
            </a:r>
          </a:p>
          <a:p>
            <a:pPr lvl="0"/>
            <a:endParaRPr lang="en-GB" sz="2800" b="1" dirty="0">
              <a:solidFill>
                <a:srgbClr val="00B0F0"/>
              </a:solidFill>
            </a:endParaRPr>
          </a:p>
        </p:txBody>
      </p:sp>
      <p:sp>
        <p:nvSpPr>
          <p:cNvPr id="5" name="Subtitle 2">
            <a:extLst>
              <a:ext uri="{FF2B5EF4-FFF2-40B4-BE49-F238E27FC236}">
                <a16:creationId xmlns:a16="http://schemas.microsoft.com/office/drawing/2014/main" id="{22CFE4FC-E589-4887-B87B-4184B451149E}"/>
              </a:ext>
            </a:extLst>
          </p:cNvPr>
          <p:cNvSpPr txBox="1">
            <a:spLocks/>
          </p:cNvSpPr>
          <p:nvPr/>
        </p:nvSpPr>
        <p:spPr>
          <a:xfrm>
            <a:off x="2539384" y="3429000"/>
            <a:ext cx="9144000" cy="1092204"/>
          </a:xfrm>
          <a:prstGeom prst="rect">
            <a:avLst/>
          </a:prstGeom>
          <a:noFill/>
          <a:ln>
            <a:noFill/>
          </a:ln>
        </p:spPr>
        <p:txBody>
          <a:bodyPr vert="horz" wrap="square" lIns="91440" tIns="45720" rIns="91440" bIns="45720" anchor="t" anchorCtr="1" compatLnSpc="1">
            <a:normAutofit/>
          </a:bodyPr>
          <a:lstStyle>
            <a:lvl1pPr marL="0" marR="0" lvl="0" indent="0" algn="ctr" defTabSz="914400" rtl="0" fontAlgn="auto" hangingPunct="1">
              <a:lnSpc>
                <a:spcPct val="90000"/>
              </a:lnSpc>
              <a:spcBef>
                <a:spcPts val="1000"/>
              </a:spcBef>
              <a:spcAft>
                <a:spcPts val="0"/>
              </a:spcAft>
              <a:buSzPct val="100000"/>
              <a:buFont typeface="Arial" pitchFamily="34"/>
              <a:buNone/>
              <a:tabLst/>
              <a:defRPr lang="en-US" sz="24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b="1" dirty="0">
                <a:solidFill>
                  <a:schemeClr val="tx1"/>
                </a:solidFill>
              </a:rPr>
              <a:t>Data Management and Exploratory Data Analysis</a:t>
            </a:r>
            <a:endParaRPr lang="en-GB" sz="2800" b="1" baseline="60000" dirty="0">
              <a:solidFill>
                <a:schemeClr val="tx1"/>
              </a:solidFill>
            </a:endParaRPr>
          </a:p>
          <a:p>
            <a:r>
              <a:rPr lang="en-GB" sz="2800" b="1" dirty="0">
                <a:solidFill>
                  <a:schemeClr val="tx1"/>
                </a:solidFill>
              </a:rPr>
              <a:t>Week 3</a:t>
            </a:r>
          </a:p>
          <a:p>
            <a:endParaRPr lang="en-GB" sz="2800" b="1" dirty="0">
              <a:solidFill>
                <a:schemeClr val="tx1"/>
              </a:solidFill>
            </a:endParaRPr>
          </a:p>
        </p:txBody>
      </p:sp>
      <p:pic>
        <p:nvPicPr>
          <p:cNvPr id="6" name="Picture 5" descr="A large building in the background&#10;&#10;Description automatically generated">
            <a:extLst>
              <a:ext uri="{FF2B5EF4-FFF2-40B4-BE49-F238E27FC236}">
                <a16:creationId xmlns:a16="http://schemas.microsoft.com/office/drawing/2014/main" id="{EADD99AE-462A-B5AA-3FB8-52585AA6A3CA}"/>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0" y="1"/>
            <a:ext cx="3634442" cy="3341716"/>
          </a:xfrm>
          <a:prstGeom prst="rect">
            <a:avLst/>
          </a:prstGeom>
        </p:spPr>
      </p:pic>
      <p:sp>
        <p:nvSpPr>
          <p:cNvPr id="8" name="Slide Number Placeholder 7">
            <a:extLst>
              <a:ext uri="{FF2B5EF4-FFF2-40B4-BE49-F238E27FC236}">
                <a16:creationId xmlns:a16="http://schemas.microsoft.com/office/drawing/2014/main" id="{9EB9C049-4DD8-3A11-342B-7C02355E041F}"/>
              </a:ext>
            </a:extLst>
          </p:cNvPr>
          <p:cNvSpPr>
            <a:spLocks noGrp="1"/>
          </p:cNvSpPr>
          <p:nvPr>
            <p:ph type="sldNum" sz="quarter" idx="12"/>
          </p:nvPr>
        </p:nvSpPr>
        <p:spPr/>
        <p:txBody>
          <a:bodyPr/>
          <a:lstStyle/>
          <a:p>
            <a:fld id="{6C8DB4F7-D883-4928-8961-38134A510B78}" type="slidenum">
              <a:rPr lang="en-GB" smtClean="0"/>
              <a:pPr/>
              <a:t>1</a:t>
            </a:fld>
            <a:endParaRPr lang="en-GB" b="0" dirty="0"/>
          </a:p>
        </p:txBody>
      </p:sp>
      <p:sp>
        <p:nvSpPr>
          <p:cNvPr id="9" name="Title 1">
            <a:extLst>
              <a:ext uri="{FF2B5EF4-FFF2-40B4-BE49-F238E27FC236}">
                <a16:creationId xmlns:a16="http://schemas.microsoft.com/office/drawing/2014/main" id="{9376695E-5CD1-4B19-A8E8-FEEEE597FE4F}"/>
              </a:ext>
            </a:extLst>
          </p:cNvPr>
          <p:cNvSpPr txBox="1">
            <a:spLocks/>
          </p:cNvSpPr>
          <p:nvPr/>
        </p:nvSpPr>
        <p:spPr>
          <a:xfrm>
            <a:off x="2286850" y="1340158"/>
            <a:ext cx="9280156" cy="178301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accent5">
                    <a:lumMod val="50000"/>
                  </a:schemeClr>
                </a:solidFill>
                <a:latin typeface="+mn-lt"/>
                <a:ea typeface="+mj-ea"/>
                <a:cs typeface="+mj-cs"/>
              </a:defRPr>
            </a:lvl1pPr>
          </a:lstStyle>
          <a:p>
            <a:pPr>
              <a:lnSpc>
                <a:spcPct val="110000"/>
              </a:lnSpc>
              <a:spcAft>
                <a:spcPts val="1200"/>
              </a:spcAft>
            </a:pPr>
            <a:r>
              <a:rPr lang="en-GB" sz="3200" dirty="0"/>
              <a:t>Data Exploration and Preparation</a:t>
            </a:r>
            <a:br>
              <a:rPr lang="en-GB" sz="3200" dirty="0"/>
            </a:br>
            <a:r>
              <a:rPr lang="en-GB" sz="3200" dirty="0"/>
              <a:t>Diploma in DAB – L7</a:t>
            </a:r>
            <a:br>
              <a:rPr lang="en-GB" sz="3200" dirty="0"/>
            </a:br>
            <a:r>
              <a:rPr lang="en-GB" sz="3200" dirty="0">
                <a:solidFill>
                  <a:schemeClr val="accent4">
                    <a:lumMod val="75000"/>
                  </a:schemeClr>
                </a:solidFill>
              </a:rPr>
              <a:t>CCT College Dublin</a:t>
            </a:r>
            <a:endParaRPr lang="en-GB" sz="3200"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653D9-BC83-E107-46BB-6F2C1134F8B4}"/>
              </a:ext>
            </a:extLst>
          </p:cNvPr>
          <p:cNvSpPr>
            <a:spLocks noGrp="1"/>
          </p:cNvSpPr>
          <p:nvPr>
            <p:ph type="title"/>
          </p:nvPr>
        </p:nvSpPr>
        <p:spPr>
          <a:xfrm>
            <a:off x="838201" y="24381"/>
            <a:ext cx="8900604" cy="1325563"/>
          </a:xfrm>
        </p:spPr>
        <p:txBody>
          <a:bodyPr/>
          <a:lstStyle/>
          <a:p>
            <a:r>
              <a:rPr lang="en-GB" dirty="0"/>
              <a:t>Outline</a:t>
            </a:r>
          </a:p>
        </p:txBody>
      </p:sp>
      <p:sp>
        <p:nvSpPr>
          <p:cNvPr id="3" name="Content Placeholder 2">
            <a:extLst>
              <a:ext uri="{FF2B5EF4-FFF2-40B4-BE49-F238E27FC236}">
                <a16:creationId xmlns:a16="http://schemas.microsoft.com/office/drawing/2014/main" id="{CAB622F8-0718-D96D-C70A-18475D785E81}"/>
              </a:ext>
            </a:extLst>
          </p:cNvPr>
          <p:cNvSpPr>
            <a:spLocks noGrp="1"/>
          </p:cNvSpPr>
          <p:nvPr>
            <p:ph idx="1"/>
          </p:nvPr>
        </p:nvSpPr>
        <p:spPr>
          <a:xfrm>
            <a:off x="838200" y="1349944"/>
            <a:ext cx="10515600" cy="4917848"/>
          </a:xfrm>
        </p:spPr>
        <p:txBody>
          <a:bodyPr>
            <a:normAutofit lnSpcReduction="10000"/>
          </a:bodyPr>
          <a:lstStyle/>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Data management</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Data consistency and documentation</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Data dictionaries, Data quality and preprocessing</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Legal, ethical and regulatory constraints</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Exploratory Data Analysis</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Data visualisation</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Statistical properties</a:t>
            </a:r>
          </a:p>
          <a:p>
            <a:pPr lvl="0">
              <a:lnSpc>
                <a:spcPct val="120000"/>
              </a:lnSpc>
              <a:spcBef>
                <a:spcPts val="600"/>
              </a:spcBef>
              <a:spcAft>
                <a:spcPts val="1200"/>
              </a:spcAft>
              <a:buClrTx/>
            </a:pPr>
            <a:r>
              <a:rPr lang="en-GB" sz="2400" dirty="0">
                <a:latin typeface="Calibri" panose="020F0502020204030204" pitchFamily="34" charset="0"/>
                <a:ea typeface="Calibri" panose="020F0502020204030204" pitchFamily="34" charset="0"/>
                <a:cs typeface="Calibri" panose="020F0502020204030204" pitchFamily="34" charset="0"/>
              </a:rPr>
              <a:t>Univariate and multivariate analysis</a:t>
            </a:r>
          </a:p>
        </p:txBody>
      </p:sp>
      <p:sp>
        <p:nvSpPr>
          <p:cNvPr id="4" name="Slide Number Placeholder 3">
            <a:extLst>
              <a:ext uri="{FF2B5EF4-FFF2-40B4-BE49-F238E27FC236}">
                <a16:creationId xmlns:a16="http://schemas.microsoft.com/office/drawing/2014/main" id="{332A1B2B-D3B0-8236-5333-FD80B2383AB9}"/>
              </a:ext>
            </a:extLst>
          </p:cNvPr>
          <p:cNvSpPr>
            <a:spLocks noGrp="1"/>
          </p:cNvSpPr>
          <p:nvPr>
            <p:ph type="sldNum" sz="quarter" idx="12"/>
          </p:nvPr>
        </p:nvSpPr>
        <p:spPr/>
        <p:txBody>
          <a:bodyPr/>
          <a:lstStyle/>
          <a:p>
            <a:fld id="{6C8DB4F7-D883-4928-8961-38134A510B78}" type="slidenum">
              <a:rPr lang="en-GB" smtClean="0"/>
              <a:pPr/>
              <a:t>2</a:t>
            </a:fld>
            <a:endParaRPr lang="en-GB" b="0" dirty="0"/>
          </a:p>
        </p:txBody>
      </p:sp>
    </p:spTree>
    <p:extLst>
      <p:ext uri="{BB962C8B-B14F-4D97-AF65-F5344CB8AC3E}">
        <p14:creationId xmlns:p14="http://schemas.microsoft.com/office/powerpoint/2010/main" val="11351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6C8FD-31F1-B250-2C2D-EE6F29244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ACF73-69BE-1DE9-1931-5BDE5532BF6A}"/>
              </a:ext>
            </a:extLst>
          </p:cNvPr>
          <p:cNvSpPr>
            <a:spLocks noGrp="1"/>
          </p:cNvSpPr>
          <p:nvPr>
            <p:ph type="title"/>
          </p:nvPr>
        </p:nvSpPr>
        <p:spPr>
          <a:xfrm>
            <a:off x="838201" y="24381"/>
            <a:ext cx="8900604" cy="1325563"/>
          </a:xfrm>
        </p:spPr>
        <p:txBody>
          <a:bodyPr/>
          <a:lstStyle/>
          <a:p>
            <a:pPr>
              <a:lnSpc>
                <a:spcPct val="100000"/>
              </a:lnSpc>
              <a:spcBef>
                <a:spcPts val="600"/>
              </a:spcBef>
              <a:spcAft>
                <a:spcPts val="1200"/>
              </a:spcAft>
              <a:buSzPct val="100000"/>
            </a:pPr>
            <a:r>
              <a:rPr lang="en-US" dirty="0">
                <a:latin typeface="Calibri" panose="020F0502020204030204" pitchFamily="34" charset="0"/>
                <a:ea typeface="Calibri" panose="020F0502020204030204" pitchFamily="34" charset="0"/>
                <a:cs typeface="Calibri" panose="020F0502020204030204" pitchFamily="34" charset="0"/>
              </a:rPr>
              <a:t>Data Management Cycle</a:t>
            </a:r>
          </a:p>
        </p:txBody>
      </p:sp>
      <p:sp>
        <p:nvSpPr>
          <p:cNvPr id="3" name="Content Placeholder 2">
            <a:extLst>
              <a:ext uri="{FF2B5EF4-FFF2-40B4-BE49-F238E27FC236}">
                <a16:creationId xmlns:a16="http://schemas.microsoft.com/office/drawing/2014/main" id="{03CDAC18-AC7D-E70E-FBC0-F0E937026398}"/>
              </a:ext>
            </a:extLst>
          </p:cNvPr>
          <p:cNvSpPr>
            <a:spLocks noGrp="1"/>
          </p:cNvSpPr>
          <p:nvPr>
            <p:ph idx="1"/>
          </p:nvPr>
        </p:nvSpPr>
        <p:spPr>
          <a:xfrm>
            <a:off x="440576" y="1255222"/>
            <a:ext cx="11321934" cy="5020887"/>
          </a:xfrm>
        </p:spPr>
        <p:txBody>
          <a:bodyPr>
            <a:normAutofit lnSpcReduction="10000"/>
          </a:bodyPr>
          <a:lstStyle/>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Data management </a:t>
            </a:r>
            <a:r>
              <a:rPr lang="en-US" sz="2000" dirty="0">
                <a:latin typeface="Calibri" panose="020F0502020204030204" pitchFamily="34" charset="0"/>
                <a:ea typeface="Calibri" panose="020F0502020204030204" pitchFamily="34" charset="0"/>
                <a:cs typeface="Calibri" panose="020F0502020204030204" pitchFamily="34" charset="0"/>
              </a:rPr>
              <a:t>refers to the processes used to </a:t>
            </a:r>
            <a:r>
              <a:rPr lang="en-US" sz="2000" b="1" i="1" dirty="0">
                <a:latin typeface="Calibri" panose="020F0502020204030204" pitchFamily="34" charset="0"/>
                <a:ea typeface="Calibri" panose="020F0502020204030204" pitchFamily="34" charset="0"/>
                <a:cs typeface="Calibri" panose="020F0502020204030204" pitchFamily="34" charset="0"/>
              </a:rPr>
              <a:t>collect, store, organize, maintain, protect </a:t>
            </a:r>
            <a:r>
              <a:rPr lang="en-US" sz="2000" dirty="0">
                <a:latin typeface="Calibri" panose="020F0502020204030204" pitchFamily="34" charset="0"/>
                <a:ea typeface="Calibri" panose="020F0502020204030204" pitchFamily="34" charset="0"/>
                <a:cs typeface="Calibri" panose="020F0502020204030204" pitchFamily="34" charset="0"/>
              </a:rPr>
              <a:t>and </a:t>
            </a:r>
            <a:r>
              <a:rPr lang="en-US" sz="2000" b="1" i="1" dirty="0">
                <a:latin typeface="Calibri" panose="020F0502020204030204" pitchFamily="34" charset="0"/>
                <a:ea typeface="Calibri" panose="020F0502020204030204" pitchFamily="34" charset="0"/>
                <a:cs typeface="Calibri" panose="020F0502020204030204" pitchFamily="34" charset="0"/>
              </a:rPr>
              <a:t>use</a:t>
            </a:r>
            <a:r>
              <a:rPr lang="en-US" sz="2000" i="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data effectively. Data management helps to ensure that data are</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Accurate: </a:t>
            </a:r>
            <a:r>
              <a:rPr lang="en-US" sz="2000" dirty="0">
                <a:latin typeface="Calibri" panose="020F0502020204030204" pitchFamily="34" charset="0"/>
                <a:ea typeface="Calibri" panose="020F0502020204030204" pitchFamily="34" charset="0"/>
                <a:cs typeface="Calibri" panose="020F0502020204030204" pitchFamily="34" charset="0"/>
              </a:rPr>
              <a:t>values correctly represent the real-world situation.</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Complete: </a:t>
            </a:r>
            <a:r>
              <a:rPr lang="en-US" sz="2000" dirty="0">
                <a:latin typeface="Calibri" panose="020F0502020204030204" pitchFamily="34" charset="0"/>
                <a:ea typeface="Calibri" panose="020F0502020204030204" pitchFamily="34" charset="0"/>
                <a:cs typeface="Calibri" panose="020F0502020204030204" pitchFamily="34" charset="0"/>
              </a:rPr>
              <a:t>All required information is present </a:t>
            </a:r>
            <a:r>
              <a:rPr lang="en-US" sz="2000">
                <a:latin typeface="Calibri" panose="020F0502020204030204" pitchFamily="34" charset="0"/>
                <a:ea typeface="Calibri" panose="020F0502020204030204" pitchFamily="34" charset="0"/>
                <a:cs typeface="Calibri" panose="020F0502020204030204" pitchFamily="34" charset="0"/>
              </a:rPr>
              <a:t>without any </a:t>
            </a:r>
            <a:r>
              <a:rPr lang="en-US" sz="2000" dirty="0">
                <a:latin typeface="Calibri" panose="020F0502020204030204" pitchFamily="34" charset="0"/>
                <a:ea typeface="Calibri" panose="020F0502020204030204" pitchFamily="34" charset="0"/>
                <a:cs typeface="Calibri" panose="020F0502020204030204" pitchFamily="34" charset="0"/>
              </a:rPr>
              <a:t>missing values.</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Consistent: </a:t>
            </a:r>
            <a:r>
              <a:rPr lang="en-US" sz="2000" dirty="0">
                <a:latin typeface="Calibri" panose="020F0502020204030204" pitchFamily="34" charset="0"/>
                <a:ea typeface="Calibri" panose="020F0502020204030204" pitchFamily="34" charset="0"/>
                <a:cs typeface="Calibri" panose="020F0502020204030204" pitchFamily="34" charset="0"/>
              </a:rPr>
              <a:t>the same definitions, formats and rules are used.</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Accessible: </a:t>
            </a:r>
            <a:r>
              <a:rPr lang="en-US" sz="2000" dirty="0">
                <a:latin typeface="Calibri" panose="020F0502020204030204" pitchFamily="34" charset="0"/>
                <a:ea typeface="Calibri" panose="020F0502020204030204" pitchFamily="34" charset="0"/>
                <a:cs typeface="Calibri" panose="020F0502020204030204" pitchFamily="34" charset="0"/>
              </a:rPr>
              <a:t>authorized users can locate and understand the data.</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Secure: </a:t>
            </a:r>
            <a:r>
              <a:rPr lang="en-US" sz="2000" dirty="0">
                <a:latin typeface="Calibri" panose="020F0502020204030204" pitchFamily="34" charset="0"/>
                <a:ea typeface="Calibri" panose="020F0502020204030204" pitchFamily="34" charset="0"/>
                <a:cs typeface="Calibri" panose="020F0502020204030204" pitchFamily="34" charset="0"/>
              </a:rPr>
              <a:t>data are protected from unauthorized access.</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Documented: </a:t>
            </a:r>
            <a:r>
              <a:rPr lang="en-US" sz="2000" dirty="0">
                <a:latin typeface="Calibri" panose="020F0502020204030204" pitchFamily="34" charset="0"/>
                <a:ea typeface="Calibri" panose="020F0502020204030204" pitchFamily="34" charset="0"/>
                <a:cs typeface="Calibri" panose="020F0502020204030204" pitchFamily="34" charset="0"/>
              </a:rPr>
              <a:t>meaning, origin and transformations are recorded.</a:t>
            </a:r>
          </a:p>
          <a:p>
            <a:pPr>
              <a:lnSpc>
                <a:spcPct val="100000"/>
              </a:lnSpc>
              <a:spcBef>
                <a:spcPts val="600"/>
              </a:spcBef>
              <a:spcAft>
                <a:spcPts val="1200"/>
              </a:spcAft>
              <a:buSzPct val="100000"/>
            </a:pPr>
            <a:r>
              <a:rPr lang="en-US" sz="24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If one system records gender as Male/Female, another uses M/F, and another uses 1/2, combining the datasets may produce inconsistencies unless these codes are documented and standardized.</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BCBD050-A22A-02BD-882E-F08F04BD0BC2}"/>
              </a:ext>
            </a:extLst>
          </p:cNvPr>
          <p:cNvSpPr>
            <a:spLocks noGrp="1"/>
          </p:cNvSpPr>
          <p:nvPr>
            <p:ph type="sldNum" sz="quarter" idx="12"/>
          </p:nvPr>
        </p:nvSpPr>
        <p:spPr/>
        <p:txBody>
          <a:bodyPr/>
          <a:lstStyle/>
          <a:p>
            <a:fld id="{6C8DB4F7-D883-4928-8961-38134A510B78}" type="slidenum">
              <a:rPr lang="en-GB" smtClean="0"/>
              <a:pPr/>
              <a:t>3</a:t>
            </a:fld>
            <a:endParaRPr lang="en-GB" b="0" dirty="0"/>
          </a:p>
        </p:txBody>
      </p:sp>
      <p:graphicFrame>
        <p:nvGraphicFramePr>
          <p:cNvPr id="5" name="Diagram 4">
            <a:extLst>
              <a:ext uri="{FF2B5EF4-FFF2-40B4-BE49-F238E27FC236}">
                <a16:creationId xmlns:a16="http://schemas.microsoft.com/office/drawing/2014/main" id="{28EB219F-F6B0-DF97-9DD9-F3E3532EA779}"/>
              </a:ext>
            </a:extLst>
          </p:cNvPr>
          <p:cNvGraphicFramePr/>
          <p:nvPr>
            <p:extLst>
              <p:ext uri="{D42A27DB-BD31-4B8C-83A1-F6EECF244321}">
                <p14:modId xmlns:p14="http://schemas.microsoft.com/office/powerpoint/2010/main" val="3164634354"/>
              </p:ext>
            </p:extLst>
          </p:nvPr>
        </p:nvGraphicFramePr>
        <p:xfrm>
          <a:off x="8362605" y="2094806"/>
          <a:ext cx="3790603" cy="3075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84A8C8E8-A5EF-0A7A-1544-9F6FD503B770}"/>
              </a:ext>
            </a:extLst>
          </p:cNvPr>
          <p:cNvSpPr txBox="1"/>
          <p:nvPr/>
        </p:nvSpPr>
        <p:spPr>
          <a:xfrm>
            <a:off x="9111617" y="3432605"/>
            <a:ext cx="1699258" cy="400110"/>
          </a:xfrm>
          <a:prstGeom prst="rect">
            <a:avLst/>
          </a:prstGeom>
          <a:noFill/>
        </p:spPr>
        <p:txBody>
          <a:bodyPr wrap="square">
            <a:spAutoFit/>
          </a:bodyPr>
          <a:lstStyle/>
          <a:p>
            <a:pPr algn="ctr"/>
            <a:r>
              <a:rPr lang="en-US" sz="2000"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Data lifecycle</a:t>
            </a:r>
            <a:endParaRPr lang="en-GB" dirty="0">
              <a:solidFill>
                <a:schemeClr val="accent4">
                  <a:lumMod val="75000"/>
                </a:schemeClr>
              </a:solidFill>
            </a:endParaRPr>
          </a:p>
        </p:txBody>
      </p:sp>
    </p:spTree>
    <p:extLst>
      <p:ext uri="{BB962C8B-B14F-4D97-AF65-F5344CB8AC3E}">
        <p14:creationId xmlns:p14="http://schemas.microsoft.com/office/powerpoint/2010/main" val="2695551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A7FDC-24AC-9E98-7195-A9E0B4048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08E42-61B5-8BFB-DDA4-1AF414396586}"/>
              </a:ext>
            </a:extLst>
          </p:cNvPr>
          <p:cNvSpPr>
            <a:spLocks noGrp="1"/>
          </p:cNvSpPr>
          <p:nvPr>
            <p:ph type="title"/>
          </p:nvPr>
        </p:nvSpPr>
        <p:spPr>
          <a:xfrm>
            <a:off x="838201" y="7755"/>
            <a:ext cx="8900604" cy="1325563"/>
          </a:xfrm>
        </p:spPr>
        <p:txBody>
          <a:bodyPr/>
          <a:lstStyle/>
          <a:p>
            <a:r>
              <a:rPr lang="en-GB" dirty="0"/>
              <a:t>Data Consistency</a:t>
            </a:r>
          </a:p>
        </p:txBody>
      </p:sp>
      <p:sp>
        <p:nvSpPr>
          <p:cNvPr id="3" name="Content Placeholder 2">
            <a:extLst>
              <a:ext uri="{FF2B5EF4-FFF2-40B4-BE49-F238E27FC236}">
                <a16:creationId xmlns:a16="http://schemas.microsoft.com/office/drawing/2014/main" id="{8E238A24-9CB7-26F1-62BC-AE3281D2878E}"/>
              </a:ext>
            </a:extLst>
          </p:cNvPr>
          <p:cNvSpPr>
            <a:spLocks noGrp="1"/>
          </p:cNvSpPr>
          <p:nvPr>
            <p:ph idx="1"/>
          </p:nvPr>
        </p:nvSpPr>
        <p:spPr>
          <a:xfrm>
            <a:off x="640080" y="1180407"/>
            <a:ext cx="6259484" cy="5282839"/>
          </a:xfrm>
        </p:spPr>
        <p:txBody>
          <a:bodyPr>
            <a:normAutofit fontScale="92500" lnSpcReduction="10000"/>
          </a:bodyPr>
          <a:lstStyle/>
          <a:p>
            <a:pPr>
              <a:lnSpc>
                <a:spcPct val="100000"/>
              </a:lnSpc>
              <a:spcBef>
                <a:spcPts val="600"/>
              </a:spcBef>
              <a:spcAft>
                <a:spcPts val="1200"/>
              </a:spcAft>
            </a:pPr>
            <a:r>
              <a:rPr lang="en-GB" sz="2400" b="1" dirty="0"/>
              <a:t>Data consistency</a:t>
            </a:r>
            <a:r>
              <a:rPr lang="en-GB" sz="2400" dirty="0"/>
              <a:t> means that values, formats, definitions and relationships remain logically compatible throughout a dataset.</a:t>
            </a:r>
          </a:p>
          <a:p>
            <a:pPr>
              <a:lnSpc>
                <a:spcPct val="100000"/>
              </a:lnSpc>
              <a:spcBef>
                <a:spcPts val="600"/>
              </a:spcBef>
              <a:spcAft>
                <a:spcPts val="1200"/>
              </a:spcAft>
            </a:pPr>
            <a:r>
              <a:rPr lang="en-GB" sz="2400" b="1" dirty="0"/>
              <a:t>Requirement of Standard Formats</a:t>
            </a:r>
          </a:p>
          <a:p>
            <a:pPr marL="719138" indent="-363538">
              <a:lnSpc>
                <a:spcPct val="100000"/>
              </a:lnSpc>
              <a:spcBef>
                <a:spcPts val="600"/>
              </a:spcBef>
              <a:spcAft>
                <a:spcPts val="1200"/>
              </a:spcAft>
            </a:pPr>
            <a:r>
              <a:rPr lang="en-GB" sz="2400" dirty="0"/>
              <a:t>Use validation rules</a:t>
            </a:r>
          </a:p>
          <a:p>
            <a:pPr marL="719138" indent="-363538">
              <a:lnSpc>
                <a:spcPct val="100000"/>
              </a:lnSpc>
              <a:spcBef>
                <a:spcPts val="600"/>
              </a:spcBef>
              <a:spcAft>
                <a:spcPts val="1200"/>
              </a:spcAft>
            </a:pPr>
            <a:r>
              <a:rPr lang="en-GB" sz="2400" dirty="0"/>
              <a:t>Establish naming conventions</a:t>
            </a:r>
          </a:p>
          <a:p>
            <a:pPr marL="719138" indent="-363538">
              <a:lnSpc>
                <a:spcPct val="100000"/>
              </a:lnSpc>
              <a:spcBef>
                <a:spcPts val="600"/>
              </a:spcBef>
              <a:spcAft>
                <a:spcPts val="1200"/>
              </a:spcAft>
            </a:pPr>
            <a:r>
              <a:rPr lang="en-GB" sz="2400" dirty="0"/>
              <a:t>Use controlled categories</a:t>
            </a:r>
          </a:p>
          <a:p>
            <a:pPr marL="719138" indent="-363538">
              <a:lnSpc>
                <a:spcPct val="100000"/>
              </a:lnSpc>
              <a:spcBef>
                <a:spcPts val="600"/>
              </a:spcBef>
              <a:spcAft>
                <a:spcPts val="1200"/>
              </a:spcAft>
            </a:pPr>
            <a:r>
              <a:rPr lang="en-GB" sz="2400" dirty="0"/>
              <a:t>Document changes</a:t>
            </a:r>
          </a:p>
          <a:p>
            <a:pPr marL="719138" indent="-363538">
              <a:lnSpc>
                <a:spcPct val="100000"/>
              </a:lnSpc>
              <a:spcBef>
                <a:spcPts val="600"/>
              </a:spcBef>
              <a:spcAft>
                <a:spcPts val="1200"/>
              </a:spcAft>
            </a:pPr>
            <a:r>
              <a:rPr lang="en-GB" sz="2400" dirty="0"/>
              <a:t>Check datasets before combining them</a:t>
            </a:r>
          </a:p>
          <a:p>
            <a:pPr>
              <a:lnSpc>
                <a:spcPct val="100000"/>
              </a:lnSpc>
              <a:spcBef>
                <a:spcPts val="600"/>
              </a:spcBef>
              <a:spcAft>
                <a:spcPts val="1200"/>
              </a:spcAft>
            </a:pPr>
            <a:r>
              <a:rPr lang="en-GB" sz="2400" b="1" dirty="0"/>
              <a:t>Main principle: </a:t>
            </a:r>
            <a:r>
              <a:rPr lang="en-GB" sz="2400" dirty="0"/>
              <a:t>Consistent data make comparison, aggregation and analysis more reliable.</a:t>
            </a:r>
          </a:p>
        </p:txBody>
      </p:sp>
      <p:sp>
        <p:nvSpPr>
          <p:cNvPr id="4" name="Slide Number Placeholder 3">
            <a:extLst>
              <a:ext uri="{FF2B5EF4-FFF2-40B4-BE49-F238E27FC236}">
                <a16:creationId xmlns:a16="http://schemas.microsoft.com/office/drawing/2014/main" id="{3956160C-0413-83B8-7500-A47467A435B8}"/>
              </a:ext>
            </a:extLst>
          </p:cNvPr>
          <p:cNvSpPr>
            <a:spLocks noGrp="1"/>
          </p:cNvSpPr>
          <p:nvPr>
            <p:ph type="sldNum" sz="quarter" idx="12"/>
          </p:nvPr>
        </p:nvSpPr>
        <p:spPr/>
        <p:txBody>
          <a:bodyPr/>
          <a:lstStyle/>
          <a:p>
            <a:fld id="{6C8DB4F7-D883-4928-8961-38134A510B78}" type="slidenum">
              <a:rPr lang="en-GB" smtClean="0"/>
              <a:pPr/>
              <a:t>4</a:t>
            </a:fld>
            <a:endParaRPr lang="en-GB" b="0" dirty="0"/>
          </a:p>
        </p:txBody>
      </p:sp>
      <p:sp>
        <p:nvSpPr>
          <p:cNvPr id="9" name="TextBox 8">
            <a:extLst>
              <a:ext uri="{FF2B5EF4-FFF2-40B4-BE49-F238E27FC236}">
                <a16:creationId xmlns:a16="http://schemas.microsoft.com/office/drawing/2014/main" id="{65A2F4E5-B85D-616C-4442-80997F0C1772}"/>
              </a:ext>
            </a:extLst>
          </p:cNvPr>
          <p:cNvSpPr txBox="1"/>
          <p:nvPr/>
        </p:nvSpPr>
        <p:spPr>
          <a:xfrm>
            <a:off x="6899564" y="731521"/>
            <a:ext cx="4962237" cy="5486117"/>
          </a:xfrm>
          <a:prstGeom prst="rect">
            <a:avLst/>
          </a:prstGeom>
          <a:noFill/>
        </p:spPr>
        <p:txBody>
          <a:bodyPr wrap="square">
            <a:spAutoFit/>
          </a:bodyPr>
          <a:lstStyle/>
          <a:p>
            <a:pPr marL="342900" indent="-342900">
              <a:spcAft>
                <a:spcPts val="300"/>
              </a:spcAft>
              <a:buFont typeface="Arial" panose="020B0604020202020204" pitchFamily="34" charset="0"/>
              <a:buChar char="•"/>
            </a:pPr>
            <a:r>
              <a:rPr lang="en-GB" sz="2400" b="1" dirty="0">
                <a:solidFill>
                  <a:srgbClr val="00B050"/>
                </a:solidFill>
              </a:rPr>
              <a:t>Common consistency problems</a:t>
            </a:r>
          </a:p>
          <a:p>
            <a:pPr marL="342900" lvl="0" indent="-342900">
              <a:spcAft>
                <a:spcPts val="300"/>
              </a:spcAft>
              <a:buFont typeface="Arial" panose="020B0604020202020204" pitchFamily="34" charset="0"/>
              <a:buChar char="•"/>
            </a:pPr>
            <a:r>
              <a:rPr lang="en-GB" b="1" dirty="0">
                <a:solidFill>
                  <a:schemeClr val="accent4">
                    <a:lumMod val="75000"/>
                  </a:schemeClr>
                </a:solidFill>
              </a:rPr>
              <a:t>Different date formats: </a:t>
            </a:r>
          </a:p>
          <a:p>
            <a:pPr marL="742950" lvl="1" indent="-285750">
              <a:spcAft>
                <a:spcPts val="300"/>
              </a:spcAft>
              <a:buFont typeface="Arial" panose="020B0604020202020204" pitchFamily="34" charset="0"/>
              <a:buChar char="•"/>
            </a:pPr>
            <a:r>
              <a:rPr lang="en-GB" sz="1600" dirty="0"/>
              <a:t>21/09/2026 </a:t>
            </a:r>
          </a:p>
          <a:p>
            <a:pPr marL="742950" lvl="1" indent="-285750">
              <a:spcAft>
                <a:spcPts val="300"/>
              </a:spcAft>
              <a:buFont typeface="Arial" panose="020B0604020202020204" pitchFamily="34" charset="0"/>
              <a:buChar char="•"/>
            </a:pPr>
            <a:r>
              <a:rPr lang="en-GB" sz="1600" dirty="0"/>
              <a:t>2026-09-21 </a:t>
            </a:r>
          </a:p>
          <a:p>
            <a:pPr marL="742950" lvl="1" indent="-285750">
              <a:spcAft>
                <a:spcPts val="300"/>
              </a:spcAft>
              <a:buFont typeface="Arial" panose="020B0604020202020204" pitchFamily="34" charset="0"/>
              <a:buChar char="•"/>
            </a:pPr>
            <a:r>
              <a:rPr lang="en-GB" sz="1600" dirty="0"/>
              <a:t>Sep 21, 2026 </a:t>
            </a:r>
          </a:p>
          <a:p>
            <a:pPr marL="342900" lvl="0" indent="-342900">
              <a:spcAft>
                <a:spcPts val="300"/>
              </a:spcAft>
              <a:buFont typeface="Arial" panose="020B0604020202020204" pitchFamily="34" charset="0"/>
              <a:buChar char="•"/>
            </a:pPr>
            <a:r>
              <a:rPr lang="en-GB" b="1" dirty="0">
                <a:solidFill>
                  <a:schemeClr val="accent4">
                    <a:lumMod val="75000"/>
                  </a:schemeClr>
                </a:solidFill>
              </a:rPr>
              <a:t>Different units: </a:t>
            </a:r>
          </a:p>
          <a:p>
            <a:pPr marL="742950" lvl="1" indent="-285750">
              <a:spcAft>
                <a:spcPts val="300"/>
              </a:spcAft>
              <a:buFont typeface="Arial" panose="020B0604020202020204" pitchFamily="34" charset="0"/>
              <a:buChar char="•"/>
            </a:pPr>
            <a:r>
              <a:rPr lang="en-GB" sz="1600" dirty="0"/>
              <a:t>kilograms versus pounds </a:t>
            </a:r>
          </a:p>
          <a:p>
            <a:pPr marL="742950" lvl="1" indent="-285750">
              <a:spcAft>
                <a:spcPts val="300"/>
              </a:spcAft>
              <a:buFont typeface="Arial" panose="020B0604020202020204" pitchFamily="34" charset="0"/>
              <a:buChar char="•"/>
            </a:pPr>
            <a:r>
              <a:rPr lang="en-GB" sz="1600" dirty="0"/>
              <a:t>euro versus dollars </a:t>
            </a:r>
          </a:p>
          <a:p>
            <a:pPr marL="342900" lvl="0" indent="-342900">
              <a:spcAft>
                <a:spcPts val="300"/>
              </a:spcAft>
              <a:buFont typeface="Arial" panose="020B0604020202020204" pitchFamily="34" charset="0"/>
              <a:buChar char="•"/>
            </a:pPr>
            <a:r>
              <a:rPr lang="en-GB" b="1" dirty="0">
                <a:solidFill>
                  <a:schemeClr val="accent4">
                    <a:lumMod val="75000"/>
                  </a:schemeClr>
                </a:solidFill>
              </a:rPr>
              <a:t>Inconsistent category labels: </a:t>
            </a:r>
          </a:p>
          <a:p>
            <a:pPr marL="742950" lvl="1" indent="-285750">
              <a:spcAft>
                <a:spcPts val="300"/>
              </a:spcAft>
              <a:buFont typeface="Arial" panose="020B0604020202020204" pitchFamily="34" charset="0"/>
              <a:buChar char="•"/>
            </a:pPr>
            <a:r>
              <a:rPr lang="en-GB" sz="1600" dirty="0"/>
              <a:t>Ireland </a:t>
            </a:r>
          </a:p>
          <a:p>
            <a:pPr marL="742950" lvl="1" indent="-285750">
              <a:spcAft>
                <a:spcPts val="300"/>
              </a:spcAft>
              <a:buFont typeface="Arial" panose="020B0604020202020204" pitchFamily="34" charset="0"/>
              <a:buChar char="•"/>
            </a:pPr>
            <a:r>
              <a:rPr lang="en-GB" sz="1600" dirty="0"/>
              <a:t>IRE </a:t>
            </a:r>
          </a:p>
          <a:p>
            <a:pPr marL="742950" lvl="1" indent="-285750">
              <a:spcAft>
                <a:spcPts val="300"/>
              </a:spcAft>
              <a:buFont typeface="Arial" panose="020B0604020202020204" pitchFamily="34" charset="0"/>
              <a:buChar char="•"/>
            </a:pPr>
            <a:r>
              <a:rPr lang="en-GB" sz="1600" dirty="0"/>
              <a:t>Republic of Ireland </a:t>
            </a:r>
          </a:p>
          <a:p>
            <a:pPr marL="342900" lvl="0" indent="-342900">
              <a:spcAft>
                <a:spcPts val="300"/>
              </a:spcAft>
              <a:buFont typeface="Arial" panose="020B0604020202020204" pitchFamily="34" charset="0"/>
              <a:buChar char="•"/>
            </a:pPr>
            <a:r>
              <a:rPr lang="en-GB" b="1" dirty="0">
                <a:solidFill>
                  <a:schemeClr val="accent4">
                    <a:lumMod val="75000"/>
                  </a:schemeClr>
                </a:solidFill>
              </a:rPr>
              <a:t>Spelling differences: </a:t>
            </a:r>
          </a:p>
          <a:p>
            <a:pPr marL="742950" lvl="1" indent="-285750">
              <a:spcAft>
                <a:spcPts val="300"/>
              </a:spcAft>
              <a:buFont typeface="Arial" panose="020B0604020202020204" pitchFamily="34" charset="0"/>
              <a:buChar char="•"/>
            </a:pPr>
            <a:r>
              <a:rPr lang="en-GB" sz="1600" dirty="0"/>
              <a:t>Dublin </a:t>
            </a:r>
          </a:p>
          <a:p>
            <a:pPr marL="742950" lvl="1" indent="-285750">
              <a:spcAft>
                <a:spcPts val="300"/>
              </a:spcAft>
              <a:buFont typeface="Arial" panose="020B0604020202020204" pitchFamily="34" charset="0"/>
              <a:buChar char="•"/>
            </a:pPr>
            <a:r>
              <a:rPr lang="en-GB" sz="1600" dirty="0"/>
              <a:t>DUBLIN </a:t>
            </a:r>
          </a:p>
          <a:p>
            <a:pPr marL="742950" lvl="1" indent="-285750">
              <a:spcAft>
                <a:spcPts val="300"/>
              </a:spcAft>
              <a:buFont typeface="Arial" panose="020B0604020202020204" pitchFamily="34" charset="0"/>
              <a:buChar char="•"/>
            </a:pPr>
            <a:r>
              <a:rPr lang="en-GB" sz="1600" dirty="0" err="1"/>
              <a:t>Dubln</a:t>
            </a:r>
            <a:r>
              <a:rPr lang="en-GB" sz="1600" dirty="0"/>
              <a:t> </a:t>
            </a:r>
          </a:p>
          <a:p>
            <a:pPr marL="342900" lvl="0" indent="-342900">
              <a:spcAft>
                <a:spcPts val="300"/>
              </a:spcAft>
              <a:buFont typeface="Arial" panose="020B0604020202020204" pitchFamily="34" charset="0"/>
              <a:buChar char="•"/>
            </a:pPr>
            <a:r>
              <a:rPr lang="en-GB" dirty="0"/>
              <a:t>Duplicate records </a:t>
            </a:r>
          </a:p>
          <a:p>
            <a:pPr marL="342900" lvl="0" indent="-342900">
              <a:spcAft>
                <a:spcPts val="300"/>
              </a:spcAft>
              <a:buFont typeface="Arial" panose="020B0604020202020204" pitchFamily="34" charset="0"/>
              <a:buChar char="•"/>
            </a:pPr>
            <a:r>
              <a:rPr lang="en-GB" dirty="0"/>
              <a:t>Different definitions for the same variable. </a:t>
            </a:r>
          </a:p>
        </p:txBody>
      </p:sp>
    </p:spTree>
    <p:extLst>
      <p:ext uri="{BB962C8B-B14F-4D97-AF65-F5344CB8AC3E}">
        <p14:creationId xmlns:p14="http://schemas.microsoft.com/office/powerpoint/2010/main" val="3611240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5FCD2-B265-C897-A160-C9134027A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AF574-861B-C169-DD39-3963F4A5DA43}"/>
              </a:ext>
            </a:extLst>
          </p:cNvPr>
          <p:cNvSpPr>
            <a:spLocks noGrp="1"/>
          </p:cNvSpPr>
          <p:nvPr>
            <p:ph type="title"/>
          </p:nvPr>
        </p:nvSpPr>
        <p:spPr>
          <a:xfrm>
            <a:off x="838200" y="74259"/>
            <a:ext cx="9956799" cy="1325563"/>
          </a:xfrm>
        </p:spPr>
        <p:txBody>
          <a:bodyPr/>
          <a:lstStyle/>
          <a:p>
            <a:r>
              <a:rPr lang="en-GB" dirty="0"/>
              <a:t>Documentation and the Data Dictionary</a:t>
            </a:r>
          </a:p>
        </p:txBody>
      </p:sp>
      <p:sp>
        <p:nvSpPr>
          <p:cNvPr id="3" name="Content Placeholder 2">
            <a:extLst>
              <a:ext uri="{FF2B5EF4-FFF2-40B4-BE49-F238E27FC236}">
                <a16:creationId xmlns:a16="http://schemas.microsoft.com/office/drawing/2014/main" id="{6CFEF390-45B4-3D3C-07C1-F66F677F3A82}"/>
              </a:ext>
            </a:extLst>
          </p:cNvPr>
          <p:cNvSpPr>
            <a:spLocks noGrp="1"/>
          </p:cNvSpPr>
          <p:nvPr>
            <p:ph idx="1"/>
          </p:nvPr>
        </p:nvSpPr>
        <p:spPr>
          <a:xfrm>
            <a:off x="922867" y="1456261"/>
            <a:ext cx="10430933" cy="711204"/>
          </a:xfrm>
        </p:spPr>
        <p:txBody>
          <a:bodyPr>
            <a:normAutofit lnSpcReduction="10000"/>
          </a:bodyPr>
          <a:lstStyle/>
          <a:p>
            <a:pPr>
              <a:lnSpc>
                <a:spcPct val="100000"/>
              </a:lnSpc>
              <a:spcBef>
                <a:spcPts val="600"/>
              </a:spcBef>
              <a:spcAft>
                <a:spcPts val="1200"/>
              </a:spcAft>
            </a:pPr>
            <a:r>
              <a:rPr lang="en-GB" sz="2200" dirty="0"/>
              <a:t>A </a:t>
            </a:r>
            <a:r>
              <a:rPr lang="en-GB" sz="2200" b="1" dirty="0"/>
              <a:t>data dictionary</a:t>
            </a:r>
            <a:r>
              <a:rPr lang="en-GB" sz="2200" dirty="0"/>
              <a:t> is documentation that explains the structure, meaning and permitted values of variables within a dataset.</a:t>
            </a:r>
          </a:p>
        </p:txBody>
      </p:sp>
      <p:sp>
        <p:nvSpPr>
          <p:cNvPr id="4" name="Slide Number Placeholder 3">
            <a:extLst>
              <a:ext uri="{FF2B5EF4-FFF2-40B4-BE49-F238E27FC236}">
                <a16:creationId xmlns:a16="http://schemas.microsoft.com/office/drawing/2014/main" id="{B50ABCCF-C3EF-E807-EBE4-9E85EDEDAC2F}"/>
              </a:ext>
            </a:extLst>
          </p:cNvPr>
          <p:cNvSpPr>
            <a:spLocks noGrp="1"/>
          </p:cNvSpPr>
          <p:nvPr>
            <p:ph type="sldNum" sz="quarter" idx="12"/>
          </p:nvPr>
        </p:nvSpPr>
        <p:spPr/>
        <p:txBody>
          <a:bodyPr/>
          <a:lstStyle/>
          <a:p>
            <a:fld id="{6C8DB4F7-D883-4928-8961-38134A510B78}" type="slidenum">
              <a:rPr lang="en-GB" smtClean="0"/>
              <a:pPr/>
              <a:t>5</a:t>
            </a:fld>
            <a:endParaRPr lang="en-GB" b="0" dirty="0"/>
          </a:p>
        </p:txBody>
      </p:sp>
      <p:graphicFrame>
        <p:nvGraphicFramePr>
          <p:cNvPr id="5" name="Table 4">
            <a:extLst>
              <a:ext uri="{FF2B5EF4-FFF2-40B4-BE49-F238E27FC236}">
                <a16:creationId xmlns:a16="http://schemas.microsoft.com/office/drawing/2014/main" id="{20170561-39EB-F0F6-ABD8-A39C24BCDF5E}"/>
              </a:ext>
            </a:extLst>
          </p:cNvPr>
          <p:cNvGraphicFramePr>
            <a:graphicFrameLocks noGrp="1"/>
          </p:cNvGraphicFramePr>
          <p:nvPr>
            <p:extLst>
              <p:ext uri="{D42A27DB-BD31-4B8C-83A1-F6EECF244321}">
                <p14:modId xmlns:p14="http://schemas.microsoft.com/office/powerpoint/2010/main" val="4205839281"/>
              </p:ext>
            </p:extLst>
          </p:nvPr>
        </p:nvGraphicFramePr>
        <p:xfrm>
          <a:off x="6239933" y="2681164"/>
          <a:ext cx="5782735" cy="3199740"/>
        </p:xfrm>
        <a:graphic>
          <a:graphicData uri="http://schemas.openxmlformats.org/drawingml/2006/table">
            <a:tbl>
              <a:tblPr firstRow="1" firstCol="1" bandRow="1">
                <a:tableStyleId>{5940675A-B579-460E-94D1-54222C63F5DA}</a:tableStyleId>
              </a:tblPr>
              <a:tblGrid>
                <a:gridCol w="990601">
                  <a:extLst>
                    <a:ext uri="{9D8B030D-6E8A-4147-A177-3AD203B41FA5}">
                      <a16:colId xmlns:a16="http://schemas.microsoft.com/office/drawing/2014/main" val="2011933749"/>
                    </a:ext>
                  </a:extLst>
                </a:gridCol>
                <a:gridCol w="1322493">
                  <a:extLst>
                    <a:ext uri="{9D8B030D-6E8A-4147-A177-3AD203B41FA5}">
                      <a16:colId xmlns:a16="http://schemas.microsoft.com/office/drawing/2014/main" val="1543077709"/>
                    </a:ext>
                  </a:extLst>
                </a:gridCol>
                <a:gridCol w="867409">
                  <a:extLst>
                    <a:ext uri="{9D8B030D-6E8A-4147-A177-3AD203B41FA5}">
                      <a16:colId xmlns:a16="http://schemas.microsoft.com/office/drawing/2014/main" val="1967144545"/>
                    </a:ext>
                  </a:extLst>
                </a:gridCol>
                <a:gridCol w="1004093">
                  <a:extLst>
                    <a:ext uri="{9D8B030D-6E8A-4147-A177-3AD203B41FA5}">
                      <a16:colId xmlns:a16="http://schemas.microsoft.com/office/drawing/2014/main" val="2871674286"/>
                    </a:ext>
                  </a:extLst>
                </a:gridCol>
                <a:gridCol w="1598139">
                  <a:extLst>
                    <a:ext uri="{9D8B030D-6E8A-4147-A177-3AD203B41FA5}">
                      <a16:colId xmlns:a16="http://schemas.microsoft.com/office/drawing/2014/main" val="3018594420"/>
                    </a:ext>
                  </a:extLst>
                </a:gridCol>
              </a:tblGrid>
              <a:tr h="492307">
                <a:tc>
                  <a:txBody>
                    <a:bodyPr/>
                    <a:lstStyle/>
                    <a:p>
                      <a:pPr>
                        <a:lnSpc>
                          <a:spcPct val="115000"/>
                        </a:lnSpc>
                        <a:spcAft>
                          <a:spcPts val="800"/>
                        </a:spcAft>
                        <a:buNone/>
                      </a:pPr>
                      <a:r>
                        <a:rPr lang="en-GB" sz="1600" b="1" kern="100">
                          <a:effectLst/>
                        </a:rPr>
                        <a:t>Variable</a:t>
                      </a:r>
                      <a:endParaRPr lang="en-GB" sz="2400" b="1"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bg2">
                        <a:lumMod val="90000"/>
                      </a:schemeClr>
                    </a:solidFill>
                  </a:tcPr>
                </a:tc>
                <a:tc>
                  <a:txBody>
                    <a:bodyPr/>
                    <a:lstStyle/>
                    <a:p>
                      <a:pPr>
                        <a:lnSpc>
                          <a:spcPct val="115000"/>
                        </a:lnSpc>
                        <a:spcAft>
                          <a:spcPts val="800"/>
                        </a:spcAft>
                        <a:buNone/>
                      </a:pPr>
                      <a:r>
                        <a:rPr lang="en-GB" sz="1600" b="1" kern="100" dirty="0">
                          <a:effectLst/>
                        </a:rPr>
                        <a:t>Description</a:t>
                      </a:r>
                      <a:endParaRPr lang="en-GB"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bg2">
                        <a:lumMod val="90000"/>
                      </a:schemeClr>
                    </a:solidFill>
                  </a:tcPr>
                </a:tc>
                <a:tc>
                  <a:txBody>
                    <a:bodyPr/>
                    <a:lstStyle/>
                    <a:p>
                      <a:pPr>
                        <a:lnSpc>
                          <a:spcPct val="115000"/>
                        </a:lnSpc>
                        <a:spcAft>
                          <a:spcPts val="800"/>
                        </a:spcAft>
                        <a:buNone/>
                      </a:pPr>
                      <a:r>
                        <a:rPr lang="en-GB" sz="1600" b="1" kern="100">
                          <a:effectLst/>
                        </a:rPr>
                        <a:t>Type</a:t>
                      </a:r>
                      <a:endParaRPr lang="en-GB" sz="2400" b="1"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bg2">
                        <a:lumMod val="90000"/>
                      </a:schemeClr>
                    </a:solidFill>
                  </a:tcPr>
                </a:tc>
                <a:tc>
                  <a:txBody>
                    <a:bodyPr/>
                    <a:lstStyle/>
                    <a:p>
                      <a:pPr>
                        <a:lnSpc>
                          <a:spcPct val="115000"/>
                        </a:lnSpc>
                        <a:spcAft>
                          <a:spcPts val="800"/>
                        </a:spcAft>
                        <a:buNone/>
                      </a:pPr>
                      <a:r>
                        <a:rPr lang="en-GB" sz="1600" b="1" kern="100" dirty="0">
                          <a:effectLst/>
                        </a:rPr>
                        <a:t>Example</a:t>
                      </a:r>
                      <a:endParaRPr lang="en-GB"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bg2">
                        <a:lumMod val="90000"/>
                      </a:schemeClr>
                    </a:solidFill>
                  </a:tcPr>
                </a:tc>
                <a:tc>
                  <a:txBody>
                    <a:bodyPr/>
                    <a:lstStyle/>
                    <a:p>
                      <a:pPr>
                        <a:lnSpc>
                          <a:spcPct val="115000"/>
                        </a:lnSpc>
                        <a:spcAft>
                          <a:spcPts val="800"/>
                        </a:spcAft>
                        <a:buNone/>
                      </a:pPr>
                      <a:r>
                        <a:rPr lang="en-GB" sz="1600" b="1" kern="100" dirty="0">
                          <a:effectLst/>
                        </a:rPr>
                        <a:t>Allowed values</a:t>
                      </a:r>
                      <a:endParaRPr lang="en-GB"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bg2">
                        <a:lumMod val="90000"/>
                      </a:schemeClr>
                    </a:solidFill>
                  </a:tcPr>
                </a:tc>
                <a:extLst>
                  <a:ext uri="{0D108BD9-81ED-4DB2-BD59-A6C34878D82A}">
                    <a16:rowId xmlns:a16="http://schemas.microsoft.com/office/drawing/2014/main" val="1280085394"/>
                  </a:ext>
                </a:extLst>
              </a:tr>
              <a:tr h="574273">
                <a:tc>
                  <a:txBody>
                    <a:bodyPr/>
                    <a:lstStyle/>
                    <a:p>
                      <a:pPr>
                        <a:lnSpc>
                          <a:spcPct val="115000"/>
                        </a:lnSpc>
                        <a:spcAft>
                          <a:spcPts val="800"/>
                        </a:spcAft>
                        <a:buNone/>
                      </a:pPr>
                      <a:r>
                        <a:rPr lang="en-GB" sz="1600" kern="100" dirty="0">
                          <a:effectLst/>
                        </a:rPr>
                        <a:t>Student_ID</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Unique student identifier</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Integer</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10542</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Positive integers</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43151261"/>
                  </a:ext>
                </a:extLst>
              </a:tr>
              <a:tr h="492307">
                <a:tc>
                  <a:txBody>
                    <a:bodyPr/>
                    <a:lstStyle/>
                    <a:p>
                      <a:pPr>
                        <a:lnSpc>
                          <a:spcPct val="115000"/>
                        </a:lnSpc>
                        <a:spcAft>
                          <a:spcPts val="800"/>
                        </a:spcAft>
                        <a:buNone/>
                      </a:pPr>
                      <a:r>
                        <a:rPr lang="en-GB" sz="1600" kern="100" dirty="0">
                          <a:effectLst/>
                        </a:rPr>
                        <a:t>Age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Student age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Integer</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24</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18 - 100</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1177653"/>
                  </a:ext>
                </a:extLst>
              </a:tr>
              <a:tr h="574273">
                <a:tc>
                  <a:txBody>
                    <a:bodyPr/>
                    <a:lstStyle/>
                    <a:p>
                      <a:pPr>
                        <a:lnSpc>
                          <a:spcPct val="115000"/>
                        </a:lnSpc>
                        <a:spcAft>
                          <a:spcPts val="800"/>
                        </a:spcAft>
                        <a:buNone/>
                      </a:pPr>
                      <a:r>
                        <a:rPr lang="en-GB" sz="1600" kern="100" dirty="0">
                          <a:effectLst/>
                        </a:rPr>
                        <a:t>Programme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Programme enrolled</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Text</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Computing</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Defined programme list</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1474185"/>
                  </a:ext>
                </a:extLst>
              </a:tr>
              <a:tr h="574273">
                <a:tc>
                  <a:txBody>
                    <a:bodyPr/>
                    <a:lstStyle/>
                    <a:p>
                      <a:pPr>
                        <a:lnSpc>
                          <a:spcPct val="115000"/>
                        </a:lnSpc>
                        <a:spcAft>
                          <a:spcPts val="800"/>
                        </a:spcAft>
                        <a:buNone/>
                      </a:pPr>
                      <a:r>
                        <a:rPr lang="en-GB" sz="1600" kern="100" dirty="0">
                          <a:effectLst/>
                        </a:rPr>
                        <a:t>Attendance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Attendance percentage</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Decimal</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86.5</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0 - 100</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94451862"/>
                  </a:ext>
                </a:extLst>
              </a:tr>
              <a:tr h="492307">
                <a:tc>
                  <a:txBody>
                    <a:bodyPr/>
                    <a:lstStyle/>
                    <a:p>
                      <a:pPr>
                        <a:lnSpc>
                          <a:spcPct val="115000"/>
                        </a:lnSpc>
                        <a:spcAft>
                          <a:spcPts val="800"/>
                        </a:spcAft>
                        <a:buNone/>
                      </a:pPr>
                      <a:r>
                        <a:rPr lang="en-GB" sz="1600" kern="100" dirty="0">
                          <a:effectLst/>
                        </a:rPr>
                        <a:t>Status</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Student status</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Category</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a:effectLst/>
                        </a:rPr>
                        <a:t>Active</a:t>
                      </a:r>
                      <a:endParaRPr lang="en-GB"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600" kern="100" dirty="0">
                          <a:effectLst/>
                        </a:rPr>
                        <a:t>Active/ Inactive</a:t>
                      </a:r>
                      <a:endParaRPr lang="en-GB"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40440208"/>
                  </a:ext>
                </a:extLst>
              </a:tr>
            </a:tbl>
          </a:graphicData>
        </a:graphic>
      </p:graphicFrame>
      <p:sp>
        <p:nvSpPr>
          <p:cNvPr id="7" name="TextBox 6">
            <a:extLst>
              <a:ext uri="{FF2B5EF4-FFF2-40B4-BE49-F238E27FC236}">
                <a16:creationId xmlns:a16="http://schemas.microsoft.com/office/drawing/2014/main" id="{0A35760B-5CB4-7222-AF22-E63199598111}"/>
              </a:ext>
            </a:extLst>
          </p:cNvPr>
          <p:cNvSpPr txBox="1"/>
          <p:nvPr/>
        </p:nvSpPr>
        <p:spPr>
          <a:xfrm>
            <a:off x="922865" y="2238755"/>
            <a:ext cx="5317067" cy="4031873"/>
          </a:xfrm>
          <a:prstGeom prst="rect">
            <a:avLst/>
          </a:prstGeom>
          <a:noFill/>
        </p:spPr>
        <p:txBody>
          <a:bodyPr wrap="square">
            <a:spAutoFit/>
          </a:bodyPr>
          <a:lstStyle/>
          <a:p>
            <a:pPr marL="342900" lvl="0" indent="-342900">
              <a:spcBef>
                <a:spcPts val="600"/>
              </a:spcBef>
              <a:spcAft>
                <a:spcPts val="600"/>
              </a:spcAft>
              <a:buFont typeface="Arial" panose="020B0604020202020204" pitchFamily="34" charset="0"/>
              <a:buChar char="•"/>
            </a:pPr>
            <a:r>
              <a:rPr lang="en-GB" sz="2400" b="1" dirty="0">
                <a:solidFill>
                  <a:schemeClr val="accent4">
                    <a:lumMod val="75000"/>
                  </a:schemeClr>
                </a:solidFill>
              </a:rPr>
              <a:t>Characteristics</a:t>
            </a:r>
          </a:p>
          <a:p>
            <a:pPr marL="342900" lvl="0" indent="-342900">
              <a:spcBef>
                <a:spcPts val="600"/>
              </a:spcBef>
              <a:spcAft>
                <a:spcPts val="600"/>
              </a:spcAft>
              <a:buFont typeface="Arial" panose="020B0604020202020204" pitchFamily="34" charset="0"/>
              <a:buChar char="•"/>
            </a:pPr>
            <a:r>
              <a:rPr lang="en-GB" dirty="0"/>
              <a:t>Interprets variables consistently</a:t>
            </a:r>
          </a:p>
          <a:p>
            <a:pPr marL="342900" lvl="0" indent="-342900">
              <a:spcBef>
                <a:spcPts val="600"/>
              </a:spcBef>
              <a:spcAft>
                <a:spcPts val="600"/>
              </a:spcAft>
              <a:buFont typeface="Arial" panose="020B0604020202020204" pitchFamily="34" charset="0"/>
              <a:buChar char="•"/>
            </a:pPr>
            <a:r>
              <a:rPr lang="en-GB" dirty="0"/>
              <a:t>Prevents incorrect assumptions </a:t>
            </a:r>
          </a:p>
          <a:p>
            <a:pPr marL="342900" lvl="0" indent="-342900">
              <a:spcBef>
                <a:spcPts val="600"/>
              </a:spcBef>
              <a:spcAft>
                <a:spcPts val="600"/>
              </a:spcAft>
              <a:buFont typeface="Arial" panose="020B0604020202020204" pitchFamily="34" charset="0"/>
              <a:buChar char="•"/>
            </a:pPr>
            <a:r>
              <a:rPr lang="en-GB" dirty="0"/>
              <a:t>Identifies data types and permitted ranges</a:t>
            </a:r>
          </a:p>
          <a:p>
            <a:pPr marL="342900" lvl="0" indent="-342900">
              <a:spcBef>
                <a:spcPts val="600"/>
              </a:spcBef>
              <a:spcAft>
                <a:spcPts val="600"/>
              </a:spcAft>
              <a:buFont typeface="Arial" panose="020B0604020202020204" pitchFamily="34" charset="0"/>
              <a:buChar char="•"/>
            </a:pPr>
            <a:r>
              <a:rPr lang="en-GB" dirty="0"/>
              <a:t>Makes datasets easier to share</a:t>
            </a:r>
          </a:p>
          <a:p>
            <a:pPr marL="342900" lvl="0" indent="-342900">
              <a:spcBef>
                <a:spcPts val="600"/>
              </a:spcBef>
              <a:spcAft>
                <a:spcPts val="600"/>
              </a:spcAft>
              <a:buFont typeface="Arial" panose="020B0604020202020204" pitchFamily="34" charset="0"/>
              <a:buChar char="•"/>
            </a:pPr>
            <a:r>
              <a:rPr lang="en-GB" dirty="0"/>
              <a:t>Supports reproducibility</a:t>
            </a:r>
          </a:p>
          <a:p>
            <a:pPr marL="342900" lvl="0" indent="-342900">
              <a:spcBef>
                <a:spcPts val="600"/>
              </a:spcBef>
              <a:spcAft>
                <a:spcPts val="600"/>
              </a:spcAft>
              <a:buFont typeface="Arial" panose="020B0604020202020204" pitchFamily="34" charset="0"/>
              <a:buChar char="•"/>
            </a:pPr>
            <a:r>
              <a:rPr lang="en-GB" dirty="0"/>
              <a:t>Helps future users to understand historical datasets.</a:t>
            </a:r>
          </a:p>
          <a:p>
            <a:pPr marL="342900" lvl="0" indent="-342900">
              <a:spcBef>
                <a:spcPts val="600"/>
              </a:spcBef>
              <a:spcAft>
                <a:spcPts val="600"/>
              </a:spcAft>
              <a:buFont typeface="Arial" panose="020B0604020202020204" pitchFamily="34" charset="0"/>
              <a:buChar char="•"/>
            </a:pPr>
            <a:r>
              <a:rPr lang="en-GB" dirty="0"/>
              <a:t>A good data dictionary should be updated whenever the dataset structure changes.</a:t>
            </a:r>
          </a:p>
        </p:txBody>
      </p:sp>
      <p:sp>
        <p:nvSpPr>
          <p:cNvPr id="9" name="TextBox 8">
            <a:extLst>
              <a:ext uri="{FF2B5EF4-FFF2-40B4-BE49-F238E27FC236}">
                <a16:creationId xmlns:a16="http://schemas.microsoft.com/office/drawing/2014/main" id="{C171AC3B-4F58-D000-E2D7-B9BE1780BC77}"/>
              </a:ext>
            </a:extLst>
          </p:cNvPr>
          <p:cNvSpPr txBox="1"/>
          <p:nvPr/>
        </p:nvSpPr>
        <p:spPr>
          <a:xfrm>
            <a:off x="7196666" y="2227192"/>
            <a:ext cx="3699934" cy="430887"/>
          </a:xfrm>
          <a:prstGeom prst="rect">
            <a:avLst/>
          </a:prstGeom>
          <a:noFill/>
        </p:spPr>
        <p:txBody>
          <a:bodyPr wrap="square">
            <a:spAutoFit/>
          </a:bodyPr>
          <a:lstStyle/>
          <a:p>
            <a:pPr algn="ctr">
              <a:lnSpc>
                <a:spcPct val="100000"/>
              </a:lnSpc>
              <a:spcBef>
                <a:spcPts val="600"/>
              </a:spcBef>
              <a:spcAft>
                <a:spcPts val="1200"/>
              </a:spcAft>
            </a:pPr>
            <a:r>
              <a:rPr lang="en-GB" sz="2200" b="1" dirty="0"/>
              <a:t>Typical Data-dictionary Fields</a:t>
            </a:r>
          </a:p>
        </p:txBody>
      </p:sp>
    </p:spTree>
    <p:extLst>
      <p:ext uri="{BB962C8B-B14F-4D97-AF65-F5344CB8AC3E}">
        <p14:creationId xmlns:p14="http://schemas.microsoft.com/office/powerpoint/2010/main" val="392252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67E4A-BC05-5E41-C226-0DA35FDFA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9CCF3-0F80-583B-54FE-F69FAC8E3BC2}"/>
              </a:ext>
            </a:extLst>
          </p:cNvPr>
          <p:cNvSpPr>
            <a:spLocks noGrp="1"/>
          </p:cNvSpPr>
          <p:nvPr>
            <p:ph type="title"/>
          </p:nvPr>
        </p:nvSpPr>
        <p:spPr>
          <a:xfrm>
            <a:off x="838201" y="36159"/>
            <a:ext cx="8900604" cy="1325563"/>
          </a:xfrm>
        </p:spPr>
        <p:txBody>
          <a:bodyPr/>
          <a:lstStyle/>
          <a:p>
            <a:r>
              <a:rPr lang="en-GB" dirty="0"/>
              <a:t>Data Quality and Preprocessing</a:t>
            </a:r>
          </a:p>
        </p:txBody>
      </p:sp>
      <p:sp>
        <p:nvSpPr>
          <p:cNvPr id="3" name="Content Placeholder 2">
            <a:extLst>
              <a:ext uri="{FF2B5EF4-FFF2-40B4-BE49-F238E27FC236}">
                <a16:creationId xmlns:a16="http://schemas.microsoft.com/office/drawing/2014/main" id="{F5AB7023-33A0-539B-EDB2-33185B65DAF7}"/>
              </a:ext>
            </a:extLst>
          </p:cNvPr>
          <p:cNvSpPr>
            <a:spLocks noGrp="1"/>
          </p:cNvSpPr>
          <p:nvPr>
            <p:ph idx="1"/>
          </p:nvPr>
        </p:nvSpPr>
        <p:spPr>
          <a:xfrm>
            <a:off x="742951" y="1349944"/>
            <a:ext cx="5429250" cy="5458178"/>
          </a:xfrm>
        </p:spPr>
        <p:txBody>
          <a:bodyPr>
            <a:normAutofit fontScale="70000" lnSpcReduction="20000"/>
          </a:bodyPr>
          <a:lstStyle/>
          <a:p>
            <a:pPr>
              <a:lnSpc>
                <a:spcPct val="120000"/>
              </a:lnSpc>
              <a:spcBef>
                <a:spcPts val="600"/>
              </a:spcBef>
              <a:spcAft>
                <a:spcPts val="600"/>
              </a:spcAft>
              <a:buSzPct val="100000"/>
            </a:pPr>
            <a:r>
              <a:rPr lang="en-US" dirty="0">
                <a:latin typeface="Calibri" panose="020F0502020204030204" pitchFamily="34" charset="0"/>
                <a:ea typeface="Calibri" panose="020F0502020204030204" pitchFamily="34" charset="0"/>
                <a:cs typeface="Calibri" panose="020F0502020204030204" pitchFamily="34" charset="0"/>
              </a:rPr>
              <a:t>Real-world datasets are not ready for analysis.</a:t>
            </a:r>
          </a:p>
          <a:p>
            <a:pPr>
              <a:lnSpc>
                <a:spcPct val="120000"/>
              </a:lnSpc>
              <a:spcBef>
                <a:spcPts val="600"/>
              </a:spcBef>
              <a:spcAft>
                <a:spcPts val="600"/>
              </a:spcAft>
              <a:buSzPct val="100000"/>
            </a:pPr>
            <a:r>
              <a:rPr lang="en-US" dirty="0">
                <a:latin typeface="Calibri" panose="020F0502020204030204" pitchFamily="34" charset="0"/>
                <a:ea typeface="Calibri" panose="020F0502020204030204" pitchFamily="34" charset="0"/>
                <a:cs typeface="Calibri" panose="020F0502020204030204" pitchFamily="34" charset="0"/>
              </a:rPr>
              <a:t>Data preprocessing prepares raw data for reliable analysis. Common data-quality problems are mentioned below</a:t>
            </a:r>
          </a:p>
          <a:p>
            <a:pPr marL="895350" lvl="0" indent="-352425">
              <a:lnSpc>
                <a:spcPct val="120000"/>
              </a:lnSpc>
              <a:spcBef>
                <a:spcPts val="600"/>
              </a:spcBef>
              <a:spcAft>
                <a:spcPts val="600"/>
              </a:spcAft>
            </a:pPr>
            <a:r>
              <a:rPr lang="en-GB" sz="2600" dirty="0"/>
              <a:t>Missing values </a:t>
            </a:r>
          </a:p>
          <a:p>
            <a:pPr marL="895350" lvl="0" indent="-352425">
              <a:lnSpc>
                <a:spcPct val="120000"/>
              </a:lnSpc>
              <a:spcBef>
                <a:spcPts val="600"/>
              </a:spcBef>
              <a:spcAft>
                <a:spcPts val="600"/>
              </a:spcAft>
            </a:pPr>
            <a:r>
              <a:rPr lang="en-GB" sz="2600" dirty="0"/>
              <a:t>Duplicate observations </a:t>
            </a:r>
          </a:p>
          <a:p>
            <a:pPr marL="895350" lvl="0" indent="-352425">
              <a:lnSpc>
                <a:spcPct val="120000"/>
              </a:lnSpc>
              <a:spcBef>
                <a:spcPts val="600"/>
              </a:spcBef>
              <a:spcAft>
                <a:spcPts val="600"/>
              </a:spcAft>
            </a:pPr>
            <a:r>
              <a:rPr lang="en-GB" sz="2600" dirty="0"/>
              <a:t>Incorrect data types </a:t>
            </a:r>
          </a:p>
          <a:p>
            <a:pPr marL="895350" lvl="0" indent="-352425">
              <a:lnSpc>
                <a:spcPct val="120000"/>
              </a:lnSpc>
              <a:spcBef>
                <a:spcPts val="600"/>
              </a:spcBef>
              <a:spcAft>
                <a:spcPts val="600"/>
              </a:spcAft>
            </a:pPr>
            <a:r>
              <a:rPr lang="en-GB" sz="2600" dirty="0"/>
              <a:t>Invalid values </a:t>
            </a:r>
          </a:p>
          <a:p>
            <a:pPr marL="895350" lvl="0" indent="-352425">
              <a:lnSpc>
                <a:spcPct val="120000"/>
              </a:lnSpc>
              <a:spcBef>
                <a:spcPts val="600"/>
              </a:spcBef>
              <a:spcAft>
                <a:spcPts val="600"/>
              </a:spcAft>
            </a:pPr>
            <a:r>
              <a:rPr lang="en-GB" sz="2600" dirty="0"/>
              <a:t>Inconsistent formatting </a:t>
            </a:r>
          </a:p>
          <a:p>
            <a:pPr marL="895350" lvl="0" indent="-352425">
              <a:lnSpc>
                <a:spcPct val="120000"/>
              </a:lnSpc>
              <a:spcBef>
                <a:spcPts val="600"/>
              </a:spcBef>
              <a:spcAft>
                <a:spcPts val="600"/>
              </a:spcAft>
            </a:pPr>
            <a:r>
              <a:rPr lang="en-GB" sz="2600" dirty="0"/>
              <a:t>Typographical errors </a:t>
            </a:r>
          </a:p>
          <a:p>
            <a:pPr marL="895350" lvl="0" indent="-352425">
              <a:lnSpc>
                <a:spcPct val="120000"/>
              </a:lnSpc>
              <a:spcBef>
                <a:spcPts val="600"/>
              </a:spcBef>
              <a:spcAft>
                <a:spcPts val="600"/>
              </a:spcAft>
            </a:pPr>
            <a:r>
              <a:rPr lang="en-GB" sz="2600" dirty="0"/>
              <a:t>Extreme or unusual observations </a:t>
            </a:r>
          </a:p>
          <a:p>
            <a:pPr marL="895350" lvl="0" indent="-352425">
              <a:lnSpc>
                <a:spcPct val="120000"/>
              </a:lnSpc>
              <a:spcBef>
                <a:spcPts val="600"/>
              </a:spcBef>
              <a:spcAft>
                <a:spcPts val="600"/>
              </a:spcAft>
            </a:pPr>
            <a:r>
              <a:rPr lang="en-GB" sz="2600" dirty="0"/>
              <a:t>Inconsistent categories</a:t>
            </a:r>
          </a:p>
          <a:p>
            <a:pPr>
              <a:lnSpc>
                <a:spcPct val="120000"/>
              </a:lnSpc>
              <a:spcBef>
                <a:spcPts val="600"/>
              </a:spcBef>
              <a:spcAft>
                <a:spcPts val="600"/>
              </a:spcAft>
              <a:buSzPct val="100000"/>
            </a:pPr>
            <a:endParaRPr lang="en-GB"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D777686-B27E-D900-1492-46727CA0B28A}"/>
              </a:ext>
            </a:extLst>
          </p:cNvPr>
          <p:cNvSpPr>
            <a:spLocks noGrp="1"/>
          </p:cNvSpPr>
          <p:nvPr>
            <p:ph type="sldNum" sz="quarter" idx="12"/>
          </p:nvPr>
        </p:nvSpPr>
        <p:spPr/>
        <p:txBody>
          <a:bodyPr/>
          <a:lstStyle/>
          <a:p>
            <a:fld id="{6C8DB4F7-D883-4928-8961-38134A510B78}" type="slidenum">
              <a:rPr lang="en-GB" smtClean="0"/>
              <a:pPr/>
              <a:t>6</a:t>
            </a:fld>
            <a:endParaRPr lang="en-GB" b="0" dirty="0"/>
          </a:p>
        </p:txBody>
      </p:sp>
      <p:sp>
        <p:nvSpPr>
          <p:cNvPr id="7" name="TextBox 6">
            <a:extLst>
              <a:ext uri="{FF2B5EF4-FFF2-40B4-BE49-F238E27FC236}">
                <a16:creationId xmlns:a16="http://schemas.microsoft.com/office/drawing/2014/main" id="{707E34CF-47E5-9AA2-E075-0DAD9A084AA3}"/>
              </a:ext>
            </a:extLst>
          </p:cNvPr>
          <p:cNvSpPr txBox="1"/>
          <p:nvPr/>
        </p:nvSpPr>
        <p:spPr>
          <a:xfrm>
            <a:off x="6315075" y="1661601"/>
            <a:ext cx="5705475" cy="4616648"/>
          </a:xfrm>
          <a:prstGeom prst="rect">
            <a:avLst/>
          </a:prstGeom>
          <a:noFill/>
        </p:spPr>
        <p:txBody>
          <a:bodyPr wrap="square">
            <a:spAutoFit/>
          </a:bodyPr>
          <a:lstStyle/>
          <a:p>
            <a:pPr marL="342900" indent="-342900">
              <a:spcBef>
                <a:spcPts val="600"/>
              </a:spcBef>
              <a:spcAft>
                <a:spcPts val="600"/>
              </a:spcAft>
              <a:buFont typeface="+mj-lt"/>
              <a:buAutoNum type="arabicPeriod"/>
            </a:pPr>
            <a:r>
              <a:rPr lang="en-GB" b="1" dirty="0"/>
              <a:t>Inspect the dataset: </a:t>
            </a:r>
            <a:r>
              <a:rPr lang="en-GB" dirty="0"/>
              <a:t>Check rows, columns, variable types and dimensions.</a:t>
            </a:r>
          </a:p>
          <a:p>
            <a:pPr marL="342900" indent="-342900">
              <a:spcBef>
                <a:spcPts val="600"/>
              </a:spcBef>
              <a:spcAft>
                <a:spcPts val="600"/>
              </a:spcAft>
              <a:buFont typeface="+mj-lt"/>
              <a:buAutoNum type="arabicPeriod"/>
            </a:pPr>
            <a:r>
              <a:rPr lang="en-GB" b="1" dirty="0"/>
              <a:t>Identify problems: </a:t>
            </a:r>
            <a:r>
              <a:rPr lang="en-GB" dirty="0"/>
              <a:t>Find missing, invalid or inconsistent values.</a:t>
            </a:r>
          </a:p>
          <a:p>
            <a:pPr marL="342900" indent="-342900">
              <a:spcBef>
                <a:spcPts val="600"/>
              </a:spcBef>
              <a:spcAft>
                <a:spcPts val="600"/>
              </a:spcAft>
              <a:buFont typeface="+mj-lt"/>
              <a:buAutoNum type="arabicPeriod"/>
            </a:pPr>
            <a:r>
              <a:rPr lang="en-GB" b="1" dirty="0"/>
              <a:t>Clean: </a:t>
            </a:r>
            <a:r>
              <a:rPr lang="en-GB" dirty="0"/>
              <a:t>Correct errors, remove inappropriate duplicates and standardise formats.</a:t>
            </a:r>
          </a:p>
          <a:p>
            <a:pPr marL="342900" indent="-342900">
              <a:spcBef>
                <a:spcPts val="600"/>
              </a:spcBef>
              <a:spcAft>
                <a:spcPts val="600"/>
              </a:spcAft>
              <a:buFont typeface="+mj-lt"/>
              <a:buAutoNum type="arabicPeriod"/>
            </a:pPr>
            <a:r>
              <a:rPr lang="en-GB" b="1" dirty="0"/>
              <a:t>Transform: </a:t>
            </a:r>
            <a:r>
              <a:rPr lang="en-GB" dirty="0"/>
              <a:t>Create useful variables or change representations.</a:t>
            </a:r>
          </a:p>
          <a:p>
            <a:pPr marL="342900" indent="-342900">
              <a:spcBef>
                <a:spcPts val="600"/>
              </a:spcBef>
              <a:spcAft>
                <a:spcPts val="600"/>
              </a:spcAft>
              <a:buFont typeface="+mj-lt"/>
              <a:buAutoNum type="arabicPeriod"/>
            </a:pPr>
            <a:r>
              <a:rPr lang="en-GB" b="1" dirty="0"/>
              <a:t>Validate: </a:t>
            </a:r>
            <a:r>
              <a:rPr lang="en-GB" dirty="0"/>
              <a:t>Confirm that cleaning has not introduced additional problems.</a:t>
            </a:r>
          </a:p>
          <a:p>
            <a:pPr marL="342900" indent="-342900">
              <a:spcBef>
                <a:spcPts val="600"/>
              </a:spcBef>
              <a:spcAft>
                <a:spcPts val="600"/>
              </a:spcAft>
              <a:buFont typeface="+mj-lt"/>
              <a:buAutoNum type="arabicPeriod"/>
            </a:pPr>
            <a:r>
              <a:rPr lang="en-GB" b="1" dirty="0"/>
              <a:t>Document: </a:t>
            </a:r>
            <a:r>
              <a:rPr lang="en-GB" dirty="0"/>
              <a:t>Record what was changed and why.</a:t>
            </a:r>
          </a:p>
          <a:p>
            <a:pPr>
              <a:spcBef>
                <a:spcPts val="600"/>
              </a:spcBef>
              <a:spcAft>
                <a:spcPts val="600"/>
              </a:spcAft>
            </a:pPr>
            <a:r>
              <a:rPr lang="en-GB" dirty="0"/>
              <a:t>Data cleaning should not simply remove inconvenient observations; decisions should have a defensible reason.</a:t>
            </a:r>
          </a:p>
        </p:txBody>
      </p:sp>
      <p:sp>
        <p:nvSpPr>
          <p:cNvPr id="9" name="TextBox 8">
            <a:extLst>
              <a:ext uri="{FF2B5EF4-FFF2-40B4-BE49-F238E27FC236}">
                <a16:creationId xmlns:a16="http://schemas.microsoft.com/office/drawing/2014/main" id="{2E562364-5FB6-5907-CA8E-BC1EB34913B7}"/>
              </a:ext>
            </a:extLst>
          </p:cNvPr>
          <p:cNvSpPr txBox="1"/>
          <p:nvPr/>
        </p:nvSpPr>
        <p:spPr>
          <a:xfrm>
            <a:off x="6632865" y="1156068"/>
            <a:ext cx="4079080" cy="461665"/>
          </a:xfrm>
          <a:prstGeom prst="rect">
            <a:avLst/>
          </a:prstGeom>
          <a:noFill/>
        </p:spPr>
        <p:txBody>
          <a:bodyPr wrap="square">
            <a:spAutoFit/>
          </a:bodyPr>
          <a:lstStyle/>
          <a:p>
            <a:pPr>
              <a:buNone/>
            </a:pPr>
            <a:r>
              <a:rPr lang="en-GB" sz="2400" b="1" dirty="0">
                <a:solidFill>
                  <a:schemeClr val="accent4">
                    <a:lumMod val="75000"/>
                  </a:schemeClr>
                </a:solidFill>
              </a:rPr>
              <a:t>Preprocessing Workflow</a:t>
            </a:r>
          </a:p>
        </p:txBody>
      </p:sp>
    </p:spTree>
    <p:extLst>
      <p:ext uri="{BB962C8B-B14F-4D97-AF65-F5344CB8AC3E}">
        <p14:creationId xmlns:p14="http://schemas.microsoft.com/office/powerpoint/2010/main" val="400997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6571-6046-B878-E6F4-2703F5F0C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72557-033C-5FF5-541D-703A92CF9352}"/>
              </a:ext>
            </a:extLst>
          </p:cNvPr>
          <p:cNvSpPr>
            <a:spLocks noGrp="1"/>
          </p:cNvSpPr>
          <p:nvPr>
            <p:ph type="title"/>
          </p:nvPr>
        </p:nvSpPr>
        <p:spPr>
          <a:xfrm>
            <a:off x="838200" y="7584"/>
            <a:ext cx="10058399" cy="1325563"/>
          </a:xfrm>
        </p:spPr>
        <p:txBody>
          <a:bodyPr/>
          <a:lstStyle/>
          <a:p>
            <a:r>
              <a:rPr lang="en-GB" dirty="0"/>
              <a:t>Legal, Ethical and Regulatory Constraints</a:t>
            </a:r>
          </a:p>
        </p:txBody>
      </p:sp>
      <p:sp>
        <p:nvSpPr>
          <p:cNvPr id="4" name="Slide Number Placeholder 3">
            <a:extLst>
              <a:ext uri="{FF2B5EF4-FFF2-40B4-BE49-F238E27FC236}">
                <a16:creationId xmlns:a16="http://schemas.microsoft.com/office/drawing/2014/main" id="{A87B85E3-5FEB-8DF0-6A81-C5EA778F2599}"/>
              </a:ext>
            </a:extLst>
          </p:cNvPr>
          <p:cNvSpPr>
            <a:spLocks noGrp="1"/>
          </p:cNvSpPr>
          <p:nvPr>
            <p:ph type="sldNum" sz="quarter" idx="12"/>
          </p:nvPr>
        </p:nvSpPr>
        <p:spPr/>
        <p:txBody>
          <a:bodyPr/>
          <a:lstStyle/>
          <a:p>
            <a:fld id="{6C8DB4F7-D883-4928-8961-38134A510B78}" type="slidenum">
              <a:rPr lang="en-GB" smtClean="0"/>
              <a:pPr/>
              <a:t>7</a:t>
            </a:fld>
            <a:endParaRPr lang="en-GB" b="0" dirty="0"/>
          </a:p>
        </p:txBody>
      </p:sp>
      <p:sp>
        <p:nvSpPr>
          <p:cNvPr id="7" name="Google Shape;68;p3">
            <a:extLst>
              <a:ext uri="{FF2B5EF4-FFF2-40B4-BE49-F238E27FC236}">
                <a16:creationId xmlns:a16="http://schemas.microsoft.com/office/drawing/2014/main" id="{EFBB1821-FBE0-ED9F-815C-93257435AF66}"/>
              </a:ext>
            </a:extLst>
          </p:cNvPr>
          <p:cNvSpPr txBox="1">
            <a:spLocks/>
          </p:cNvSpPr>
          <p:nvPr/>
        </p:nvSpPr>
        <p:spPr>
          <a:xfrm>
            <a:off x="681794" y="1348192"/>
            <a:ext cx="5989937" cy="4832475"/>
          </a:xfrm>
          <a:prstGeom prst="rect">
            <a:avLst/>
          </a:prstGeom>
          <a:noFill/>
          <a:ln>
            <a:noFill/>
          </a:ln>
        </p:spPr>
        <p:txBody>
          <a:bodyPr spcFirstLastPara="1" vert="horz" wrap="square" lIns="91425" tIns="45700" rIns="91425" bIns="45700" rtlCol="0" anchor="t" anchorCtr="0">
            <a:noAutofit/>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600"/>
              </a:spcAft>
            </a:pPr>
            <a:r>
              <a:rPr lang="en-GB" sz="1800" dirty="0"/>
              <a:t>Working with data involves responsibilities beyond the technical analysis.</a:t>
            </a:r>
          </a:p>
          <a:p>
            <a:pPr>
              <a:lnSpc>
                <a:spcPct val="100000"/>
              </a:lnSpc>
              <a:spcBef>
                <a:spcPts val="0"/>
              </a:spcBef>
              <a:spcAft>
                <a:spcPts val="600"/>
              </a:spcAft>
            </a:pPr>
            <a:r>
              <a:rPr lang="en-GB" sz="2400" b="1" dirty="0">
                <a:solidFill>
                  <a:schemeClr val="accent4">
                    <a:lumMod val="75000"/>
                  </a:schemeClr>
                </a:solidFill>
              </a:rPr>
              <a:t>Legal considerations</a:t>
            </a:r>
          </a:p>
          <a:p>
            <a:pPr>
              <a:lnSpc>
                <a:spcPct val="100000"/>
              </a:lnSpc>
              <a:spcBef>
                <a:spcPts val="0"/>
              </a:spcBef>
              <a:spcAft>
                <a:spcPts val="1200"/>
              </a:spcAft>
            </a:pPr>
            <a:r>
              <a:rPr lang="en-GB" sz="1800" dirty="0"/>
              <a:t>For organisations operating in Ireland and the EU, personal-data processing is governed principally by the </a:t>
            </a:r>
            <a:r>
              <a:rPr lang="en-GB" sz="1800" b="1" dirty="0"/>
              <a:t>General Data Protection Regulation (GDPR)</a:t>
            </a:r>
            <a:r>
              <a:rPr lang="en-GB" sz="1800" dirty="0"/>
              <a:t> and Ireland's </a:t>
            </a:r>
            <a:r>
              <a:rPr lang="en-GB" sz="1800" b="1" dirty="0"/>
              <a:t>Data Protection Act 2018</a:t>
            </a:r>
            <a:r>
              <a:rPr lang="en-GB" sz="1800" dirty="0"/>
              <a:t>. GDPR principles include</a:t>
            </a:r>
          </a:p>
          <a:p>
            <a:pPr marL="720725" lvl="0" indent="-360363">
              <a:lnSpc>
                <a:spcPct val="100000"/>
              </a:lnSpc>
              <a:spcBef>
                <a:spcPts val="0"/>
              </a:spcBef>
              <a:spcAft>
                <a:spcPts val="600"/>
              </a:spcAft>
            </a:pPr>
            <a:r>
              <a:rPr lang="en-GB" sz="1800" dirty="0"/>
              <a:t>Lawfulness, fairness and transparency </a:t>
            </a:r>
          </a:p>
          <a:p>
            <a:pPr marL="720725" lvl="0" indent="-360363">
              <a:lnSpc>
                <a:spcPct val="100000"/>
              </a:lnSpc>
              <a:spcBef>
                <a:spcPts val="0"/>
              </a:spcBef>
              <a:spcAft>
                <a:spcPts val="600"/>
              </a:spcAft>
            </a:pPr>
            <a:r>
              <a:rPr lang="en-GB" sz="1800" dirty="0"/>
              <a:t>Purpose limitation </a:t>
            </a:r>
          </a:p>
          <a:p>
            <a:pPr marL="720725" lvl="0" indent="-360363">
              <a:lnSpc>
                <a:spcPct val="100000"/>
              </a:lnSpc>
              <a:spcBef>
                <a:spcPts val="0"/>
              </a:spcBef>
              <a:spcAft>
                <a:spcPts val="600"/>
              </a:spcAft>
            </a:pPr>
            <a:r>
              <a:rPr lang="en-GB" sz="1800" dirty="0"/>
              <a:t>Data minimisation </a:t>
            </a:r>
          </a:p>
          <a:p>
            <a:pPr marL="720725" lvl="0" indent="-360363">
              <a:lnSpc>
                <a:spcPct val="100000"/>
              </a:lnSpc>
              <a:spcBef>
                <a:spcPts val="0"/>
              </a:spcBef>
              <a:spcAft>
                <a:spcPts val="600"/>
              </a:spcAft>
            </a:pPr>
            <a:r>
              <a:rPr lang="en-GB" sz="1800" dirty="0"/>
              <a:t>Accuracy </a:t>
            </a:r>
          </a:p>
          <a:p>
            <a:pPr marL="720725" lvl="0" indent="-360363">
              <a:lnSpc>
                <a:spcPct val="100000"/>
              </a:lnSpc>
              <a:spcBef>
                <a:spcPts val="0"/>
              </a:spcBef>
              <a:spcAft>
                <a:spcPts val="600"/>
              </a:spcAft>
            </a:pPr>
            <a:r>
              <a:rPr lang="en-GB" sz="1800" dirty="0"/>
              <a:t>Storage limitation </a:t>
            </a:r>
          </a:p>
          <a:p>
            <a:pPr marL="720725" lvl="0" indent="-360363">
              <a:lnSpc>
                <a:spcPct val="100000"/>
              </a:lnSpc>
              <a:spcBef>
                <a:spcPts val="0"/>
              </a:spcBef>
              <a:spcAft>
                <a:spcPts val="600"/>
              </a:spcAft>
            </a:pPr>
            <a:r>
              <a:rPr lang="en-GB" sz="1800" dirty="0"/>
              <a:t>Integrity and confidentiality </a:t>
            </a:r>
          </a:p>
          <a:p>
            <a:pPr marL="720725" lvl="0" indent="-360363">
              <a:lnSpc>
                <a:spcPct val="100000"/>
              </a:lnSpc>
              <a:spcBef>
                <a:spcPts val="0"/>
              </a:spcBef>
              <a:spcAft>
                <a:spcPts val="600"/>
              </a:spcAft>
            </a:pPr>
            <a:r>
              <a:rPr lang="en-GB" sz="1800" dirty="0"/>
              <a:t>Accountability </a:t>
            </a:r>
            <a:endParaRPr lang="en-GB" sz="2000" dirty="0"/>
          </a:p>
        </p:txBody>
      </p:sp>
      <p:sp>
        <p:nvSpPr>
          <p:cNvPr id="6" name="Google Shape;68;p3">
            <a:extLst>
              <a:ext uri="{FF2B5EF4-FFF2-40B4-BE49-F238E27FC236}">
                <a16:creationId xmlns:a16="http://schemas.microsoft.com/office/drawing/2014/main" id="{44E97E5F-56D8-5145-8D94-C2EE20251F9B}"/>
              </a:ext>
            </a:extLst>
          </p:cNvPr>
          <p:cNvSpPr txBox="1">
            <a:spLocks/>
          </p:cNvSpPr>
          <p:nvPr/>
        </p:nvSpPr>
        <p:spPr>
          <a:xfrm>
            <a:off x="6671732" y="1468073"/>
            <a:ext cx="5050993" cy="4626970"/>
          </a:xfrm>
          <a:prstGeom prst="rect">
            <a:avLst/>
          </a:prstGeom>
          <a:noFill/>
          <a:ln>
            <a:noFill/>
          </a:ln>
        </p:spPr>
        <p:txBody>
          <a:bodyPr spcFirstLastPara="1" vert="horz" wrap="square" lIns="91425" tIns="45700" rIns="91425" bIns="45700" rtlCol="0" anchor="t" anchorCtr="0">
            <a:noAutofit/>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1200"/>
              </a:spcAft>
            </a:pPr>
            <a:r>
              <a:rPr lang="en-GB" sz="2400" b="1" dirty="0">
                <a:solidFill>
                  <a:schemeClr val="accent4">
                    <a:lumMod val="75000"/>
                  </a:schemeClr>
                </a:solidFill>
              </a:rPr>
              <a:t>Ethical considerations</a:t>
            </a:r>
          </a:p>
          <a:p>
            <a:pPr>
              <a:lnSpc>
                <a:spcPct val="100000"/>
              </a:lnSpc>
              <a:spcBef>
                <a:spcPts val="600"/>
              </a:spcBef>
              <a:spcAft>
                <a:spcPts val="1200"/>
              </a:spcAft>
            </a:pPr>
            <a:r>
              <a:rPr lang="en-GB" sz="2000" dirty="0"/>
              <a:t>Analysts should also consider </a:t>
            </a:r>
          </a:p>
          <a:p>
            <a:pPr marL="720725" lvl="0" indent="-360363">
              <a:lnSpc>
                <a:spcPct val="100000"/>
              </a:lnSpc>
              <a:spcBef>
                <a:spcPts val="600"/>
              </a:spcBef>
              <a:spcAft>
                <a:spcPts val="600"/>
              </a:spcAft>
            </a:pPr>
            <a:r>
              <a:rPr lang="en-GB" sz="2000" dirty="0"/>
              <a:t>Privacy </a:t>
            </a:r>
          </a:p>
          <a:p>
            <a:pPr marL="720725" lvl="0" indent="-360363">
              <a:lnSpc>
                <a:spcPct val="100000"/>
              </a:lnSpc>
              <a:spcBef>
                <a:spcPts val="600"/>
              </a:spcBef>
              <a:spcAft>
                <a:spcPts val="600"/>
              </a:spcAft>
            </a:pPr>
            <a:r>
              <a:rPr lang="en-GB" sz="2000" dirty="0"/>
              <a:t>Confidentiality </a:t>
            </a:r>
          </a:p>
          <a:p>
            <a:pPr marL="720725" lvl="0" indent="-360363">
              <a:lnSpc>
                <a:spcPct val="100000"/>
              </a:lnSpc>
              <a:spcBef>
                <a:spcPts val="600"/>
              </a:spcBef>
              <a:spcAft>
                <a:spcPts val="600"/>
              </a:spcAft>
            </a:pPr>
            <a:r>
              <a:rPr lang="en-GB" sz="2000" dirty="0"/>
              <a:t>Bias and discrimination </a:t>
            </a:r>
          </a:p>
          <a:p>
            <a:pPr marL="720725" lvl="0" indent="-360363">
              <a:lnSpc>
                <a:spcPct val="100000"/>
              </a:lnSpc>
              <a:spcBef>
                <a:spcPts val="600"/>
              </a:spcBef>
              <a:spcAft>
                <a:spcPts val="600"/>
              </a:spcAft>
            </a:pPr>
            <a:r>
              <a:rPr lang="en-GB" sz="2000" dirty="0"/>
              <a:t>Transparency </a:t>
            </a:r>
          </a:p>
          <a:p>
            <a:pPr marL="720725" lvl="0" indent="-360363">
              <a:lnSpc>
                <a:spcPct val="100000"/>
              </a:lnSpc>
              <a:spcBef>
                <a:spcPts val="600"/>
              </a:spcBef>
              <a:spcAft>
                <a:spcPts val="600"/>
              </a:spcAft>
            </a:pPr>
            <a:r>
              <a:rPr lang="en-GB" sz="2000" dirty="0"/>
              <a:t>Representativeness </a:t>
            </a:r>
          </a:p>
          <a:p>
            <a:pPr marL="720725" lvl="0" indent="-360363">
              <a:lnSpc>
                <a:spcPct val="100000"/>
              </a:lnSpc>
              <a:spcBef>
                <a:spcPts val="600"/>
              </a:spcBef>
              <a:spcAft>
                <a:spcPts val="600"/>
              </a:spcAft>
            </a:pPr>
            <a:r>
              <a:rPr lang="en-GB" sz="2000" dirty="0"/>
              <a:t>Potential harm </a:t>
            </a:r>
          </a:p>
          <a:p>
            <a:pPr marL="720725" lvl="0" indent="-360363">
              <a:lnSpc>
                <a:spcPct val="100000"/>
              </a:lnSpc>
              <a:spcBef>
                <a:spcPts val="600"/>
              </a:spcBef>
              <a:spcAft>
                <a:spcPts val="600"/>
              </a:spcAft>
            </a:pPr>
            <a:r>
              <a:rPr lang="en-GB" sz="2000" dirty="0"/>
              <a:t>Responsible interpretation </a:t>
            </a:r>
          </a:p>
        </p:txBody>
      </p:sp>
    </p:spTree>
    <p:extLst>
      <p:ext uri="{BB962C8B-B14F-4D97-AF65-F5344CB8AC3E}">
        <p14:creationId xmlns:p14="http://schemas.microsoft.com/office/powerpoint/2010/main" val="4201016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B213F-B87D-6D95-F3FA-0290333B93D3}"/>
              </a:ext>
            </a:extLst>
          </p:cNvPr>
          <p:cNvSpPr>
            <a:spLocks noGrp="1"/>
          </p:cNvSpPr>
          <p:nvPr>
            <p:ph type="title"/>
          </p:nvPr>
        </p:nvSpPr>
        <p:spPr>
          <a:xfrm>
            <a:off x="838201" y="14990"/>
            <a:ext cx="8900604" cy="1325563"/>
          </a:xfrm>
        </p:spPr>
        <p:txBody>
          <a:bodyPr/>
          <a:lstStyle/>
          <a:p>
            <a:r>
              <a:rPr lang="en-GB" dirty="0"/>
              <a:t>Statistical Properties of Data</a:t>
            </a:r>
          </a:p>
        </p:txBody>
      </p:sp>
      <p:sp>
        <p:nvSpPr>
          <p:cNvPr id="3" name="Content Placeholder 2">
            <a:extLst>
              <a:ext uri="{FF2B5EF4-FFF2-40B4-BE49-F238E27FC236}">
                <a16:creationId xmlns:a16="http://schemas.microsoft.com/office/drawing/2014/main" id="{BDB07A7D-0F84-57AB-5304-C14E6AC18DC7}"/>
              </a:ext>
            </a:extLst>
          </p:cNvPr>
          <p:cNvSpPr>
            <a:spLocks noGrp="1"/>
          </p:cNvSpPr>
          <p:nvPr>
            <p:ph idx="1"/>
          </p:nvPr>
        </p:nvSpPr>
        <p:spPr>
          <a:xfrm>
            <a:off x="838200" y="1298987"/>
            <a:ext cx="10447867" cy="5017913"/>
          </a:xfrm>
        </p:spPr>
        <p:txBody>
          <a:bodyPr>
            <a:normAutofit/>
          </a:bodyPr>
          <a:lstStyle/>
          <a:p>
            <a:pPr>
              <a:lnSpc>
                <a:spcPct val="100000"/>
              </a:lnSpc>
              <a:spcBef>
                <a:spcPts val="400"/>
              </a:spcBef>
              <a:spcAft>
                <a:spcPts val="600"/>
              </a:spcAft>
            </a:pPr>
            <a:r>
              <a:rPr lang="en-GB" sz="2200" dirty="0"/>
              <a:t>Descriptive statistics summarise important characteristics of a dataset.</a:t>
            </a:r>
          </a:p>
          <a:p>
            <a:pPr>
              <a:lnSpc>
                <a:spcPct val="100000"/>
              </a:lnSpc>
              <a:spcBef>
                <a:spcPts val="400"/>
              </a:spcBef>
              <a:spcAft>
                <a:spcPts val="600"/>
              </a:spcAft>
            </a:pPr>
            <a:r>
              <a:rPr lang="en-GB" sz="2400" b="1" dirty="0">
                <a:solidFill>
                  <a:schemeClr val="accent4">
                    <a:lumMod val="75000"/>
                  </a:schemeClr>
                </a:solidFill>
              </a:rPr>
              <a:t>Measures of central tendency</a:t>
            </a:r>
          </a:p>
          <a:p>
            <a:pPr marL="719138" indent="-363538">
              <a:lnSpc>
                <a:spcPct val="100000"/>
              </a:lnSpc>
              <a:spcBef>
                <a:spcPts val="400"/>
              </a:spcBef>
              <a:spcAft>
                <a:spcPts val="600"/>
              </a:spcAft>
            </a:pPr>
            <a:r>
              <a:rPr lang="en-GB" sz="2200" dirty="0"/>
              <a:t>Mean, Median, Mode</a:t>
            </a:r>
          </a:p>
          <a:p>
            <a:pPr>
              <a:lnSpc>
                <a:spcPct val="100000"/>
              </a:lnSpc>
              <a:spcBef>
                <a:spcPts val="400"/>
              </a:spcBef>
              <a:spcAft>
                <a:spcPts val="600"/>
              </a:spcAft>
            </a:pPr>
            <a:r>
              <a:rPr lang="en-GB" sz="2400" b="1" dirty="0">
                <a:solidFill>
                  <a:schemeClr val="accent4">
                    <a:lumMod val="75000"/>
                  </a:schemeClr>
                </a:solidFill>
              </a:rPr>
              <a:t>Measures of spread</a:t>
            </a:r>
          </a:p>
          <a:p>
            <a:pPr marL="719138" lvl="0" indent="-363538">
              <a:lnSpc>
                <a:spcPct val="100000"/>
              </a:lnSpc>
              <a:spcBef>
                <a:spcPts val="400"/>
              </a:spcBef>
              <a:spcAft>
                <a:spcPts val="600"/>
              </a:spcAft>
            </a:pPr>
            <a:r>
              <a:rPr lang="en-GB" sz="2200" dirty="0"/>
              <a:t>Range, Variance, Standard deviation and Interquartile range (IQR)</a:t>
            </a:r>
          </a:p>
          <a:p>
            <a:pPr>
              <a:lnSpc>
                <a:spcPct val="100000"/>
              </a:lnSpc>
              <a:spcBef>
                <a:spcPts val="400"/>
              </a:spcBef>
              <a:spcAft>
                <a:spcPts val="600"/>
              </a:spcAft>
            </a:pPr>
            <a:r>
              <a:rPr lang="en-GB" sz="2400" b="1" dirty="0">
                <a:solidFill>
                  <a:schemeClr val="accent4">
                    <a:lumMod val="75000"/>
                  </a:schemeClr>
                </a:solidFill>
              </a:rPr>
              <a:t>Distribution properties</a:t>
            </a:r>
          </a:p>
          <a:p>
            <a:pPr>
              <a:lnSpc>
                <a:spcPct val="100000"/>
              </a:lnSpc>
              <a:spcBef>
                <a:spcPts val="400"/>
              </a:spcBef>
              <a:spcAft>
                <a:spcPts val="600"/>
              </a:spcAft>
            </a:pPr>
            <a:r>
              <a:rPr lang="en-GB" sz="2200" dirty="0"/>
              <a:t>Analysts should also investigate the following properties</a:t>
            </a:r>
          </a:p>
          <a:p>
            <a:pPr marL="719138" lvl="0" indent="-363538">
              <a:lnSpc>
                <a:spcPct val="100000"/>
              </a:lnSpc>
              <a:spcBef>
                <a:spcPts val="400"/>
              </a:spcBef>
              <a:spcAft>
                <a:spcPts val="600"/>
              </a:spcAft>
            </a:pPr>
            <a:r>
              <a:rPr lang="en-GB" sz="2200" dirty="0"/>
              <a:t>Shape, Symmetry , Skewness , Outliers , Minimum and maximum values and Quartiles </a:t>
            </a:r>
          </a:p>
          <a:p>
            <a:pPr>
              <a:lnSpc>
                <a:spcPct val="100000"/>
              </a:lnSpc>
              <a:spcBef>
                <a:spcPts val="400"/>
              </a:spcBef>
              <a:spcAft>
                <a:spcPts val="600"/>
              </a:spcAft>
            </a:pPr>
            <a:r>
              <a:rPr lang="en-GB" sz="2200" b="1" dirty="0"/>
              <a:t>Example: </a:t>
            </a:r>
            <a:r>
              <a:rPr lang="en-GB" sz="2200" dirty="0"/>
              <a:t>A large difference between the mean and median can indicate a skewed distribution or the influence of extreme observations.</a:t>
            </a:r>
          </a:p>
        </p:txBody>
      </p:sp>
      <p:sp>
        <p:nvSpPr>
          <p:cNvPr id="4" name="Slide Number Placeholder 3">
            <a:extLst>
              <a:ext uri="{FF2B5EF4-FFF2-40B4-BE49-F238E27FC236}">
                <a16:creationId xmlns:a16="http://schemas.microsoft.com/office/drawing/2014/main" id="{5AECF93A-BC85-9D53-4D6E-27711598BD8F}"/>
              </a:ext>
            </a:extLst>
          </p:cNvPr>
          <p:cNvSpPr>
            <a:spLocks noGrp="1"/>
          </p:cNvSpPr>
          <p:nvPr>
            <p:ph type="sldNum" sz="quarter" idx="12"/>
          </p:nvPr>
        </p:nvSpPr>
        <p:spPr/>
        <p:txBody>
          <a:bodyPr/>
          <a:lstStyle/>
          <a:p>
            <a:fld id="{6C8DB4F7-D883-4928-8961-38134A510B78}" type="slidenum">
              <a:rPr lang="en-GB" smtClean="0"/>
              <a:pPr/>
              <a:t>8</a:t>
            </a:fld>
            <a:endParaRPr lang="en-GB" b="0" dirty="0"/>
          </a:p>
        </p:txBody>
      </p:sp>
    </p:spTree>
    <p:extLst>
      <p:ext uri="{BB962C8B-B14F-4D97-AF65-F5344CB8AC3E}">
        <p14:creationId xmlns:p14="http://schemas.microsoft.com/office/powerpoint/2010/main" val="154246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8A59-A345-7E74-AD0E-4066395F6060}"/>
              </a:ext>
            </a:extLst>
          </p:cNvPr>
          <p:cNvSpPr>
            <a:spLocks noGrp="1"/>
          </p:cNvSpPr>
          <p:nvPr>
            <p:ph type="title"/>
          </p:nvPr>
        </p:nvSpPr>
        <p:spPr>
          <a:xfrm>
            <a:off x="838201" y="23457"/>
            <a:ext cx="8900604" cy="1325563"/>
          </a:xfrm>
        </p:spPr>
        <p:txBody>
          <a:bodyPr/>
          <a:lstStyle/>
          <a:p>
            <a:r>
              <a:rPr lang="en-GB" dirty="0"/>
              <a:t>Univariate Analysis</a:t>
            </a:r>
          </a:p>
        </p:txBody>
      </p:sp>
      <p:sp>
        <p:nvSpPr>
          <p:cNvPr id="3" name="Content Placeholder 2">
            <a:extLst>
              <a:ext uri="{FF2B5EF4-FFF2-40B4-BE49-F238E27FC236}">
                <a16:creationId xmlns:a16="http://schemas.microsoft.com/office/drawing/2014/main" id="{0F1516A2-EE9D-5A8C-B1A1-0149EF3E1227}"/>
              </a:ext>
            </a:extLst>
          </p:cNvPr>
          <p:cNvSpPr>
            <a:spLocks noGrp="1"/>
          </p:cNvSpPr>
          <p:nvPr>
            <p:ph idx="1"/>
          </p:nvPr>
        </p:nvSpPr>
        <p:spPr>
          <a:xfrm>
            <a:off x="753533" y="1258349"/>
            <a:ext cx="6036734" cy="5066249"/>
          </a:xfrm>
        </p:spPr>
        <p:txBody>
          <a:bodyPr>
            <a:normAutofit fontScale="85000" lnSpcReduction="10000"/>
          </a:bodyPr>
          <a:lstStyle/>
          <a:p>
            <a:pPr>
              <a:lnSpc>
                <a:spcPct val="100000"/>
              </a:lnSpc>
              <a:spcBef>
                <a:spcPts val="200"/>
              </a:spcBef>
              <a:spcAft>
                <a:spcPts val="1200"/>
              </a:spcAft>
            </a:pPr>
            <a:r>
              <a:rPr lang="en-GB" sz="2400" b="1" dirty="0"/>
              <a:t>Univariate analysis</a:t>
            </a:r>
            <a:r>
              <a:rPr lang="en-GB" sz="2400" dirty="0"/>
              <a:t> examines one variable at a time.</a:t>
            </a:r>
          </a:p>
          <a:p>
            <a:pPr>
              <a:lnSpc>
                <a:spcPct val="100000"/>
              </a:lnSpc>
              <a:spcBef>
                <a:spcPts val="200"/>
              </a:spcBef>
              <a:spcAft>
                <a:spcPts val="1200"/>
              </a:spcAft>
            </a:pPr>
            <a:r>
              <a:rPr lang="en-GB" sz="2400" b="1" dirty="0"/>
              <a:t>Numerical variable example: </a:t>
            </a:r>
            <a:r>
              <a:rPr lang="en-GB" sz="2400" dirty="0"/>
              <a:t>Student Age</a:t>
            </a:r>
          </a:p>
          <a:p>
            <a:pPr>
              <a:lnSpc>
                <a:spcPct val="100000"/>
              </a:lnSpc>
              <a:spcBef>
                <a:spcPts val="200"/>
              </a:spcBef>
              <a:spcAft>
                <a:spcPts val="1200"/>
              </a:spcAft>
            </a:pPr>
            <a:r>
              <a:rPr lang="en-GB" sz="2400" dirty="0"/>
              <a:t>Questions might include</a:t>
            </a:r>
          </a:p>
          <a:p>
            <a:pPr lvl="0">
              <a:lnSpc>
                <a:spcPct val="100000"/>
              </a:lnSpc>
              <a:spcBef>
                <a:spcPts val="200"/>
              </a:spcBef>
              <a:spcAft>
                <a:spcPts val="1200"/>
              </a:spcAft>
            </a:pPr>
            <a:r>
              <a:rPr lang="en-GB" sz="2400" dirty="0"/>
              <a:t>What is the average age? </a:t>
            </a:r>
          </a:p>
          <a:p>
            <a:pPr lvl="0">
              <a:lnSpc>
                <a:spcPct val="100000"/>
              </a:lnSpc>
              <a:spcBef>
                <a:spcPts val="200"/>
              </a:spcBef>
              <a:spcAft>
                <a:spcPts val="1200"/>
              </a:spcAft>
            </a:pPr>
            <a:r>
              <a:rPr lang="en-GB" sz="2400" dirty="0"/>
              <a:t>What is the median? </a:t>
            </a:r>
          </a:p>
          <a:p>
            <a:pPr lvl="0">
              <a:lnSpc>
                <a:spcPct val="100000"/>
              </a:lnSpc>
              <a:spcBef>
                <a:spcPts val="200"/>
              </a:spcBef>
              <a:spcAft>
                <a:spcPts val="1200"/>
              </a:spcAft>
            </a:pPr>
            <a:r>
              <a:rPr lang="en-GB" sz="2400" dirty="0"/>
              <a:t>What is the youngest student? </a:t>
            </a:r>
          </a:p>
          <a:p>
            <a:pPr lvl="0">
              <a:lnSpc>
                <a:spcPct val="100000"/>
              </a:lnSpc>
              <a:spcBef>
                <a:spcPts val="200"/>
              </a:spcBef>
              <a:spcAft>
                <a:spcPts val="1200"/>
              </a:spcAft>
            </a:pPr>
            <a:r>
              <a:rPr lang="en-GB" sz="2400" dirty="0"/>
              <a:t>What is the oldest student? </a:t>
            </a:r>
          </a:p>
          <a:p>
            <a:pPr lvl="0">
              <a:lnSpc>
                <a:spcPct val="100000"/>
              </a:lnSpc>
              <a:spcBef>
                <a:spcPts val="200"/>
              </a:spcBef>
              <a:spcAft>
                <a:spcPts val="1200"/>
              </a:spcAft>
            </a:pPr>
            <a:r>
              <a:rPr lang="en-GB" sz="2400" dirty="0"/>
              <a:t>How widely are ages distributed? </a:t>
            </a:r>
          </a:p>
          <a:p>
            <a:pPr lvl="0">
              <a:lnSpc>
                <a:spcPct val="100000"/>
              </a:lnSpc>
              <a:spcBef>
                <a:spcPts val="200"/>
              </a:spcBef>
              <a:spcAft>
                <a:spcPts val="1200"/>
              </a:spcAft>
            </a:pPr>
            <a:r>
              <a:rPr lang="en-GB" sz="2400" dirty="0"/>
              <a:t>Are unusual values present? </a:t>
            </a:r>
          </a:p>
          <a:p>
            <a:pPr>
              <a:lnSpc>
                <a:spcPct val="100000"/>
              </a:lnSpc>
              <a:spcBef>
                <a:spcPts val="200"/>
              </a:spcBef>
              <a:spcAft>
                <a:spcPts val="1200"/>
              </a:spcAft>
            </a:pPr>
            <a:r>
              <a:rPr lang="en-GB" sz="2400" b="1" dirty="0">
                <a:solidFill>
                  <a:schemeClr val="accent4">
                    <a:lumMod val="75000"/>
                  </a:schemeClr>
                </a:solidFill>
              </a:rPr>
              <a:t>Useful techniques: </a:t>
            </a:r>
            <a:r>
              <a:rPr lang="en-GB" sz="2400" dirty="0"/>
              <a:t>Mean , Median, Standard deviation, Minimum/maximum, Quartiles, Histogram and Box plot </a:t>
            </a:r>
          </a:p>
        </p:txBody>
      </p:sp>
      <p:sp>
        <p:nvSpPr>
          <p:cNvPr id="4" name="Slide Number Placeholder 3">
            <a:extLst>
              <a:ext uri="{FF2B5EF4-FFF2-40B4-BE49-F238E27FC236}">
                <a16:creationId xmlns:a16="http://schemas.microsoft.com/office/drawing/2014/main" id="{BEA58700-23CF-D55E-C304-B1FD9291277F}"/>
              </a:ext>
            </a:extLst>
          </p:cNvPr>
          <p:cNvSpPr>
            <a:spLocks noGrp="1"/>
          </p:cNvSpPr>
          <p:nvPr>
            <p:ph type="sldNum" sz="quarter" idx="12"/>
          </p:nvPr>
        </p:nvSpPr>
        <p:spPr/>
        <p:txBody>
          <a:bodyPr/>
          <a:lstStyle/>
          <a:p>
            <a:fld id="{6C8DB4F7-D883-4928-8961-38134A510B78}" type="slidenum">
              <a:rPr lang="en-GB" smtClean="0"/>
              <a:pPr/>
              <a:t>9</a:t>
            </a:fld>
            <a:endParaRPr lang="en-GB" b="0" dirty="0"/>
          </a:p>
        </p:txBody>
      </p:sp>
      <p:sp>
        <p:nvSpPr>
          <p:cNvPr id="5" name="Content Placeholder 2">
            <a:extLst>
              <a:ext uri="{FF2B5EF4-FFF2-40B4-BE49-F238E27FC236}">
                <a16:creationId xmlns:a16="http://schemas.microsoft.com/office/drawing/2014/main" id="{03CDFD9F-7DCE-78CA-D698-013384217B03}"/>
              </a:ext>
            </a:extLst>
          </p:cNvPr>
          <p:cNvSpPr txBox="1">
            <a:spLocks/>
          </p:cNvSpPr>
          <p:nvPr/>
        </p:nvSpPr>
        <p:spPr>
          <a:xfrm>
            <a:off x="6849533" y="1303860"/>
            <a:ext cx="5146675" cy="5066249"/>
          </a:xfrm>
          <a:prstGeom prst="rect">
            <a:avLst/>
          </a:prstGeom>
        </p:spPr>
        <p:txBody>
          <a:bodyPr vert="horz" lIns="91440" tIns="45720" rIns="91440" bIns="45720" rtlCol="0">
            <a:normAutofit fontScale="70000" lnSpcReduction="20000"/>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spcAft>
                <a:spcPts val="1200"/>
              </a:spcAft>
            </a:pPr>
            <a:r>
              <a:rPr lang="en-GB" sz="3400" b="1" dirty="0"/>
              <a:t>Categorical example: </a:t>
            </a:r>
            <a:r>
              <a:rPr lang="en-GB" sz="3400" dirty="0"/>
              <a:t>Course</a:t>
            </a:r>
          </a:p>
          <a:p>
            <a:pPr>
              <a:lnSpc>
                <a:spcPct val="120000"/>
              </a:lnSpc>
              <a:spcBef>
                <a:spcPts val="600"/>
              </a:spcBef>
              <a:spcAft>
                <a:spcPts val="1200"/>
              </a:spcAft>
            </a:pPr>
            <a:r>
              <a:rPr lang="en-GB" dirty="0"/>
              <a:t>Questions might include:</a:t>
            </a:r>
          </a:p>
          <a:p>
            <a:pPr>
              <a:lnSpc>
                <a:spcPct val="120000"/>
              </a:lnSpc>
              <a:spcBef>
                <a:spcPts val="600"/>
              </a:spcBef>
              <a:spcAft>
                <a:spcPts val="1200"/>
              </a:spcAft>
            </a:pPr>
            <a:r>
              <a:rPr lang="en-GB" dirty="0"/>
              <a:t>Which Course has the most students? </a:t>
            </a:r>
          </a:p>
          <a:p>
            <a:pPr>
              <a:lnSpc>
                <a:spcPct val="120000"/>
              </a:lnSpc>
              <a:spcBef>
                <a:spcPts val="600"/>
              </a:spcBef>
              <a:spcAft>
                <a:spcPts val="1200"/>
              </a:spcAft>
            </a:pPr>
            <a:r>
              <a:rPr lang="en-GB" dirty="0"/>
              <a:t>How many students are in each category? </a:t>
            </a:r>
          </a:p>
          <a:p>
            <a:pPr>
              <a:lnSpc>
                <a:spcPct val="120000"/>
              </a:lnSpc>
              <a:spcBef>
                <a:spcPts val="600"/>
              </a:spcBef>
              <a:spcAft>
                <a:spcPts val="1200"/>
              </a:spcAft>
            </a:pPr>
            <a:r>
              <a:rPr lang="en-GB" dirty="0"/>
              <a:t>What percentage belongs to each category? </a:t>
            </a:r>
          </a:p>
          <a:p>
            <a:pPr>
              <a:lnSpc>
                <a:spcPct val="120000"/>
              </a:lnSpc>
              <a:spcBef>
                <a:spcPts val="600"/>
              </a:spcBef>
              <a:spcAft>
                <a:spcPts val="1200"/>
              </a:spcAft>
            </a:pPr>
            <a:r>
              <a:rPr lang="en-GB" dirty="0"/>
              <a:t>Useful techniques: Frequency tables, Percentages, Mode and Bar charts </a:t>
            </a:r>
          </a:p>
          <a:p>
            <a:pPr>
              <a:lnSpc>
                <a:spcPct val="120000"/>
              </a:lnSpc>
              <a:spcBef>
                <a:spcPts val="600"/>
              </a:spcBef>
              <a:spcAft>
                <a:spcPts val="1200"/>
              </a:spcAft>
            </a:pPr>
            <a:r>
              <a:rPr lang="en-GB" sz="3400" b="1" dirty="0">
                <a:solidFill>
                  <a:schemeClr val="accent4">
                    <a:lumMod val="75000"/>
                  </a:schemeClr>
                </a:solidFill>
              </a:rPr>
              <a:t>What does this individual variable look like and discuss the properties?</a:t>
            </a:r>
            <a:endParaRPr lang="en-GB" sz="3400" dirty="0">
              <a:solidFill>
                <a:schemeClr val="accent4">
                  <a:lumMod val="75000"/>
                </a:schemeClr>
              </a:solidFill>
            </a:endParaRPr>
          </a:p>
          <a:p>
            <a:pPr>
              <a:lnSpc>
                <a:spcPct val="120000"/>
              </a:lnSpc>
              <a:spcBef>
                <a:spcPts val="600"/>
              </a:spcBef>
              <a:spcAft>
                <a:spcPts val="1200"/>
              </a:spcAft>
            </a:pPr>
            <a:endParaRPr lang="en-GB" dirty="0"/>
          </a:p>
        </p:txBody>
      </p:sp>
    </p:spTree>
    <p:extLst>
      <p:ext uri="{BB962C8B-B14F-4D97-AF65-F5344CB8AC3E}">
        <p14:creationId xmlns:p14="http://schemas.microsoft.com/office/powerpoint/2010/main" val="1672716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38DF-9817-D92C-8032-80F0EA72F3AE}"/>
              </a:ext>
            </a:extLst>
          </p:cNvPr>
          <p:cNvSpPr>
            <a:spLocks noGrp="1"/>
          </p:cNvSpPr>
          <p:nvPr>
            <p:ph type="title"/>
          </p:nvPr>
        </p:nvSpPr>
        <p:spPr/>
        <p:txBody>
          <a:bodyPr/>
          <a:lstStyle/>
          <a:p>
            <a:r>
              <a:rPr lang="en-GB" dirty="0"/>
              <a:t>Bivariate and Multivariate Analysis</a:t>
            </a:r>
          </a:p>
        </p:txBody>
      </p:sp>
      <p:sp>
        <p:nvSpPr>
          <p:cNvPr id="3" name="Content Placeholder 2">
            <a:extLst>
              <a:ext uri="{FF2B5EF4-FFF2-40B4-BE49-F238E27FC236}">
                <a16:creationId xmlns:a16="http://schemas.microsoft.com/office/drawing/2014/main" id="{85E6A989-905D-52F4-A94B-A9F783BBA78A}"/>
              </a:ext>
            </a:extLst>
          </p:cNvPr>
          <p:cNvSpPr>
            <a:spLocks noGrp="1"/>
          </p:cNvSpPr>
          <p:nvPr>
            <p:ph idx="1"/>
          </p:nvPr>
        </p:nvSpPr>
        <p:spPr>
          <a:xfrm>
            <a:off x="838200" y="1399823"/>
            <a:ext cx="5113866" cy="4846286"/>
          </a:xfrm>
        </p:spPr>
        <p:txBody>
          <a:bodyPr>
            <a:normAutofit fontScale="70000" lnSpcReduction="20000"/>
          </a:bodyPr>
          <a:lstStyle/>
          <a:p>
            <a:r>
              <a:rPr lang="en-GB" b="1" dirty="0">
                <a:solidFill>
                  <a:schemeClr val="accent4">
                    <a:lumMod val="75000"/>
                  </a:schemeClr>
                </a:solidFill>
              </a:rPr>
              <a:t>Bivariate analysis: </a:t>
            </a:r>
            <a:r>
              <a:rPr lang="en-GB" dirty="0"/>
              <a:t>Examines the relationship between two variables. Examples are mentioned below</a:t>
            </a:r>
          </a:p>
          <a:p>
            <a:r>
              <a:rPr lang="en-GB" b="1" dirty="0">
                <a:solidFill>
                  <a:schemeClr val="accent4">
                    <a:lumMod val="75000"/>
                  </a:schemeClr>
                </a:solidFill>
              </a:rPr>
              <a:t>Numerical + Numerical</a:t>
            </a:r>
            <a:endParaRPr lang="en-GB" dirty="0">
              <a:solidFill>
                <a:schemeClr val="accent4">
                  <a:lumMod val="75000"/>
                </a:schemeClr>
              </a:solidFill>
            </a:endParaRPr>
          </a:p>
          <a:p>
            <a:pPr lvl="0"/>
            <a:r>
              <a:rPr lang="en-GB" dirty="0"/>
              <a:t>Study hours and examination results </a:t>
            </a:r>
          </a:p>
          <a:p>
            <a:pPr lvl="0"/>
            <a:r>
              <a:rPr lang="en-GB" dirty="0"/>
              <a:t>Scatter plot </a:t>
            </a:r>
          </a:p>
          <a:p>
            <a:pPr lvl="0"/>
            <a:r>
              <a:rPr lang="en-GB" dirty="0"/>
              <a:t>Correlation </a:t>
            </a:r>
          </a:p>
          <a:p>
            <a:r>
              <a:rPr lang="en-GB" b="1" dirty="0">
                <a:solidFill>
                  <a:schemeClr val="accent4">
                    <a:lumMod val="75000"/>
                  </a:schemeClr>
                </a:solidFill>
              </a:rPr>
              <a:t>Categorical + Numerical</a:t>
            </a:r>
            <a:endParaRPr lang="en-GB" dirty="0">
              <a:solidFill>
                <a:schemeClr val="accent4">
                  <a:lumMod val="75000"/>
                </a:schemeClr>
              </a:solidFill>
            </a:endParaRPr>
          </a:p>
          <a:p>
            <a:pPr lvl="0"/>
            <a:r>
              <a:rPr lang="en-GB" dirty="0"/>
              <a:t>Course and average examination result </a:t>
            </a:r>
          </a:p>
          <a:p>
            <a:pPr lvl="0"/>
            <a:r>
              <a:rPr lang="en-GB" dirty="0"/>
              <a:t>Grouped statistics </a:t>
            </a:r>
          </a:p>
          <a:p>
            <a:pPr lvl="0"/>
            <a:r>
              <a:rPr lang="en-GB" dirty="0"/>
              <a:t>Box plots </a:t>
            </a:r>
          </a:p>
          <a:p>
            <a:r>
              <a:rPr lang="en-GB" b="1" dirty="0">
                <a:solidFill>
                  <a:schemeClr val="accent4">
                    <a:lumMod val="75000"/>
                  </a:schemeClr>
                </a:solidFill>
              </a:rPr>
              <a:t>Categorical + Categorical</a:t>
            </a:r>
            <a:endParaRPr lang="en-GB" dirty="0">
              <a:solidFill>
                <a:schemeClr val="accent4">
                  <a:lumMod val="75000"/>
                </a:schemeClr>
              </a:solidFill>
            </a:endParaRPr>
          </a:p>
          <a:p>
            <a:pPr lvl="0"/>
            <a:r>
              <a:rPr lang="en-GB" dirty="0"/>
              <a:t>Programme and employment status </a:t>
            </a:r>
          </a:p>
          <a:p>
            <a:pPr lvl="0"/>
            <a:r>
              <a:rPr lang="en-GB" dirty="0"/>
              <a:t>Cross-tabulation </a:t>
            </a:r>
          </a:p>
          <a:p>
            <a:pPr lvl="0"/>
            <a:r>
              <a:rPr lang="en-GB" dirty="0"/>
              <a:t>Grouped bar chart</a:t>
            </a:r>
          </a:p>
        </p:txBody>
      </p:sp>
      <p:sp>
        <p:nvSpPr>
          <p:cNvPr id="4" name="Slide Number Placeholder 3">
            <a:extLst>
              <a:ext uri="{FF2B5EF4-FFF2-40B4-BE49-F238E27FC236}">
                <a16:creationId xmlns:a16="http://schemas.microsoft.com/office/drawing/2014/main" id="{CE71CF61-96D2-7F3F-D340-8EEE38C30964}"/>
              </a:ext>
            </a:extLst>
          </p:cNvPr>
          <p:cNvSpPr>
            <a:spLocks noGrp="1"/>
          </p:cNvSpPr>
          <p:nvPr>
            <p:ph type="sldNum" sz="quarter" idx="12"/>
          </p:nvPr>
        </p:nvSpPr>
        <p:spPr/>
        <p:txBody>
          <a:bodyPr/>
          <a:lstStyle/>
          <a:p>
            <a:fld id="{6C8DB4F7-D883-4928-8961-38134A510B78}" type="slidenum">
              <a:rPr lang="en-GB" smtClean="0"/>
              <a:pPr/>
              <a:t>10</a:t>
            </a:fld>
            <a:endParaRPr lang="en-GB" b="0" dirty="0"/>
          </a:p>
        </p:txBody>
      </p:sp>
      <p:sp>
        <p:nvSpPr>
          <p:cNvPr id="5" name="Content Placeholder 2">
            <a:extLst>
              <a:ext uri="{FF2B5EF4-FFF2-40B4-BE49-F238E27FC236}">
                <a16:creationId xmlns:a16="http://schemas.microsoft.com/office/drawing/2014/main" id="{5DA30C62-2AE4-0E77-F383-F92571CEC58C}"/>
              </a:ext>
            </a:extLst>
          </p:cNvPr>
          <p:cNvSpPr txBox="1">
            <a:spLocks/>
          </p:cNvSpPr>
          <p:nvPr/>
        </p:nvSpPr>
        <p:spPr>
          <a:xfrm>
            <a:off x="6239934" y="1399822"/>
            <a:ext cx="5113866" cy="4846287"/>
          </a:xfrm>
          <a:prstGeom prst="rect">
            <a:avLst/>
          </a:prstGeom>
        </p:spPr>
        <p:txBody>
          <a:bodyPr vert="horz" lIns="91440" tIns="45720" rIns="91440" bIns="45720" rtlCol="0">
            <a:normAutofit fontScale="92500" lnSpcReduction="10000"/>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b="1" dirty="0">
                <a:solidFill>
                  <a:schemeClr val="accent4">
                    <a:lumMod val="75000"/>
                  </a:schemeClr>
                </a:solidFill>
              </a:rPr>
              <a:t>Multivariate analysis</a:t>
            </a:r>
          </a:p>
          <a:p>
            <a:r>
              <a:rPr lang="en-GB" sz="1800" dirty="0"/>
              <a:t>Examines </a:t>
            </a:r>
            <a:r>
              <a:rPr lang="en-GB" sz="1800" b="1" dirty="0"/>
              <a:t>three or more variables simultaneously</a:t>
            </a:r>
            <a:r>
              <a:rPr lang="en-GB" sz="1800" dirty="0"/>
              <a:t>.</a:t>
            </a:r>
          </a:p>
          <a:p>
            <a:r>
              <a:rPr lang="en-GB" sz="1800" dirty="0"/>
              <a:t>Example:</a:t>
            </a:r>
          </a:p>
          <a:p>
            <a:r>
              <a:rPr lang="en-GB" sz="1800" b="1" dirty="0"/>
              <a:t>Exam Result = Study Hours + Attendance + Previous Result + Programme</a:t>
            </a:r>
            <a:endParaRPr lang="en-GB" sz="1800" dirty="0"/>
          </a:p>
          <a:p>
            <a:r>
              <a:rPr lang="en-GB" sz="1800" dirty="0"/>
              <a:t>Useful approaches can include:</a:t>
            </a:r>
          </a:p>
          <a:p>
            <a:pPr marL="896938" indent="-355600"/>
            <a:r>
              <a:rPr lang="en-GB" sz="1800" dirty="0"/>
              <a:t>Correlation matrices </a:t>
            </a:r>
          </a:p>
          <a:p>
            <a:pPr marL="896938" indent="-355600"/>
            <a:r>
              <a:rPr lang="en-GB" sz="1800" dirty="0"/>
              <a:t>Scatterplot matrices </a:t>
            </a:r>
          </a:p>
          <a:p>
            <a:pPr marL="896938" indent="-355600"/>
            <a:r>
              <a:rPr lang="en-GB" sz="1800" dirty="0"/>
              <a:t>Grouped analysis </a:t>
            </a:r>
          </a:p>
          <a:p>
            <a:pPr marL="896938" indent="-355600"/>
            <a:r>
              <a:rPr lang="en-GB" sz="1800" dirty="0"/>
              <a:t>Multiple regression </a:t>
            </a:r>
          </a:p>
          <a:p>
            <a:pPr marL="896938" indent="-355600"/>
            <a:r>
              <a:rPr lang="en-GB" sz="1800" dirty="0"/>
              <a:t>Principal Component Analysis for more advanced datasets </a:t>
            </a:r>
          </a:p>
          <a:p>
            <a:r>
              <a:rPr lang="en-GB" sz="1800" b="1" dirty="0"/>
              <a:t>Correlation does not automatically establish causation.</a:t>
            </a:r>
            <a:endParaRPr lang="en-GB" sz="1800" dirty="0"/>
          </a:p>
          <a:p>
            <a:r>
              <a:rPr lang="en-GB" sz="1800" dirty="0"/>
              <a:t>A relationship between variables may be influenced by additional variables or other factors.</a:t>
            </a:r>
          </a:p>
          <a:p>
            <a:endParaRPr lang="en-GB" sz="1800" dirty="0"/>
          </a:p>
        </p:txBody>
      </p:sp>
    </p:spTree>
    <p:extLst>
      <p:ext uri="{BB962C8B-B14F-4D97-AF65-F5344CB8AC3E}">
        <p14:creationId xmlns:p14="http://schemas.microsoft.com/office/powerpoint/2010/main" val="2289805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23541-5FCB-EA0A-D16C-52C51450E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6663F-31F7-B5A7-E26E-A7FC387CA3D6}"/>
              </a:ext>
            </a:extLst>
          </p:cNvPr>
          <p:cNvSpPr>
            <a:spLocks noGrp="1"/>
          </p:cNvSpPr>
          <p:nvPr>
            <p:ph type="title"/>
          </p:nvPr>
        </p:nvSpPr>
        <p:spPr>
          <a:xfrm>
            <a:off x="838200" y="-1944"/>
            <a:ext cx="10515599" cy="1325563"/>
          </a:xfrm>
        </p:spPr>
        <p:txBody>
          <a:bodyPr/>
          <a:lstStyle/>
          <a:p>
            <a:r>
              <a:rPr lang="en-GB" dirty="0"/>
              <a:t>Exploratory Data Analysis (EDA)</a:t>
            </a:r>
          </a:p>
        </p:txBody>
      </p:sp>
      <p:sp>
        <p:nvSpPr>
          <p:cNvPr id="4" name="Slide Number Placeholder 3">
            <a:extLst>
              <a:ext uri="{FF2B5EF4-FFF2-40B4-BE49-F238E27FC236}">
                <a16:creationId xmlns:a16="http://schemas.microsoft.com/office/drawing/2014/main" id="{A9DCEFD0-8672-26B3-B656-543F66238E64}"/>
              </a:ext>
            </a:extLst>
          </p:cNvPr>
          <p:cNvSpPr>
            <a:spLocks noGrp="1"/>
          </p:cNvSpPr>
          <p:nvPr>
            <p:ph type="sldNum" sz="quarter" idx="12"/>
          </p:nvPr>
        </p:nvSpPr>
        <p:spPr/>
        <p:txBody>
          <a:bodyPr/>
          <a:lstStyle/>
          <a:p>
            <a:fld id="{6C8DB4F7-D883-4928-8961-38134A510B78}" type="slidenum">
              <a:rPr lang="en-GB" smtClean="0"/>
              <a:pPr/>
              <a:t>11</a:t>
            </a:fld>
            <a:endParaRPr lang="en-GB" b="0" dirty="0"/>
          </a:p>
        </p:txBody>
      </p:sp>
      <p:pic>
        <p:nvPicPr>
          <p:cNvPr id="7" name="Picture 6">
            <a:extLst>
              <a:ext uri="{FF2B5EF4-FFF2-40B4-BE49-F238E27FC236}">
                <a16:creationId xmlns:a16="http://schemas.microsoft.com/office/drawing/2014/main" id="{9C3795AB-66FA-5487-C981-D03AF4ADBC5F}"/>
              </a:ext>
            </a:extLst>
          </p:cNvPr>
          <p:cNvPicPr>
            <a:picLocks noChangeAspect="1"/>
          </p:cNvPicPr>
          <p:nvPr/>
        </p:nvPicPr>
        <p:blipFill>
          <a:blip r:embed="rId2"/>
          <a:stretch>
            <a:fillRect/>
          </a:stretch>
        </p:blipFill>
        <p:spPr>
          <a:xfrm>
            <a:off x="7260231" y="860230"/>
            <a:ext cx="4976162" cy="4355394"/>
          </a:xfrm>
          <a:prstGeom prst="rect">
            <a:avLst/>
          </a:prstGeom>
        </p:spPr>
      </p:pic>
      <p:sp>
        <p:nvSpPr>
          <p:cNvPr id="9" name="TextBox 8">
            <a:extLst>
              <a:ext uri="{FF2B5EF4-FFF2-40B4-BE49-F238E27FC236}">
                <a16:creationId xmlns:a16="http://schemas.microsoft.com/office/drawing/2014/main" id="{124E6D9B-3F48-49E9-C7F2-46041310DB66}"/>
              </a:ext>
            </a:extLst>
          </p:cNvPr>
          <p:cNvSpPr txBox="1"/>
          <p:nvPr/>
        </p:nvSpPr>
        <p:spPr>
          <a:xfrm>
            <a:off x="7425267" y="5215624"/>
            <a:ext cx="4140200" cy="923330"/>
          </a:xfrm>
          <a:prstGeom prst="rect">
            <a:avLst/>
          </a:prstGeom>
          <a:noFill/>
        </p:spPr>
        <p:txBody>
          <a:bodyPr wrap="square">
            <a:spAutoFit/>
          </a:bodyPr>
          <a:lstStyle/>
          <a:p>
            <a:r>
              <a:rPr lang="en-GB" dirty="0"/>
              <a:t>EDA combines </a:t>
            </a:r>
            <a:r>
              <a:rPr lang="en-GB" b="1" dirty="0"/>
              <a:t>numerical summaries and graphical exploration</a:t>
            </a:r>
            <a:r>
              <a:rPr lang="en-GB" dirty="0"/>
              <a:t> rather than relying on only one method.</a:t>
            </a:r>
          </a:p>
        </p:txBody>
      </p:sp>
      <p:sp>
        <p:nvSpPr>
          <p:cNvPr id="12" name="Content Placeholder 2">
            <a:extLst>
              <a:ext uri="{FF2B5EF4-FFF2-40B4-BE49-F238E27FC236}">
                <a16:creationId xmlns:a16="http://schemas.microsoft.com/office/drawing/2014/main" id="{6D8E8724-502E-5EBF-5E20-9574A464179B}"/>
              </a:ext>
            </a:extLst>
          </p:cNvPr>
          <p:cNvSpPr>
            <a:spLocks noGrp="1"/>
          </p:cNvSpPr>
          <p:nvPr>
            <p:ph idx="1"/>
          </p:nvPr>
        </p:nvSpPr>
        <p:spPr>
          <a:xfrm>
            <a:off x="838200" y="1302276"/>
            <a:ext cx="7304624" cy="4973525"/>
          </a:xfrm>
        </p:spPr>
        <p:txBody>
          <a:bodyPr>
            <a:normAutofit fontScale="85000" lnSpcReduction="10000"/>
          </a:bodyPr>
          <a:lstStyle/>
          <a:p>
            <a:pPr>
              <a:lnSpc>
                <a:spcPct val="100000"/>
              </a:lnSpc>
              <a:spcBef>
                <a:spcPts val="600"/>
              </a:spcBef>
              <a:spcAft>
                <a:spcPts val="900"/>
              </a:spcAft>
            </a:pPr>
            <a:r>
              <a:rPr lang="en-GB" sz="2400" b="1" dirty="0"/>
              <a:t>Exploratory Data Analysis (EDA)</a:t>
            </a:r>
            <a:r>
              <a:rPr lang="en-GB" sz="2400" dirty="0"/>
              <a:t> is the process of examining data before applying formal models or drawing final conclusions.</a:t>
            </a:r>
          </a:p>
          <a:p>
            <a:pPr>
              <a:lnSpc>
                <a:spcPct val="100000"/>
              </a:lnSpc>
              <a:spcBef>
                <a:spcPts val="600"/>
              </a:spcBef>
              <a:spcAft>
                <a:spcPts val="900"/>
              </a:spcAft>
            </a:pPr>
            <a:r>
              <a:rPr lang="en-GB" b="1" dirty="0">
                <a:solidFill>
                  <a:schemeClr val="accent4">
                    <a:lumMod val="75000"/>
                  </a:schemeClr>
                </a:solidFill>
              </a:rPr>
              <a:t>Characteristics of EDA</a:t>
            </a:r>
          </a:p>
          <a:p>
            <a:pPr marL="714375" lvl="0" indent="-357188">
              <a:lnSpc>
                <a:spcPct val="100000"/>
              </a:lnSpc>
              <a:spcBef>
                <a:spcPts val="600"/>
              </a:spcBef>
              <a:spcAft>
                <a:spcPts val="900"/>
              </a:spcAft>
            </a:pPr>
            <a:r>
              <a:rPr lang="en-GB" sz="2400" dirty="0"/>
              <a:t>Understand the structure of the dataset</a:t>
            </a:r>
          </a:p>
          <a:p>
            <a:pPr marL="714375" lvl="0" indent="-357188">
              <a:lnSpc>
                <a:spcPct val="100000"/>
              </a:lnSpc>
              <a:spcBef>
                <a:spcPts val="600"/>
              </a:spcBef>
              <a:spcAft>
                <a:spcPts val="900"/>
              </a:spcAft>
            </a:pPr>
            <a:r>
              <a:rPr lang="en-GB" sz="2400" dirty="0"/>
              <a:t>Identify missing information</a:t>
            </a:r>
          </a:p>
          <a:p>
            <a:pPr marL="714375" lvl="0" indent="-357188">
              <a:lnSpc>
                <a:spcPct val="100000"/>
              </a:lnSpc>
              <a:spcBef>
                <a:spcPts val="600"/>
              </a:spcBef>
              <a:spcAft>
                <a:spcPts val="900"/>
              </a:spcAft>
            </a:pPr>
            <a:r>
              <a:rPr lang="en-GB" sz="2400" dirty="0"/>
              <a:t>Detect unusual observations</a:t>
            </a:r>
          </a:p>
          <a:p>
            <a:pPr marL="714375" lvl="0" indent="-357188">
              <a:lnSpc>
                <a:spcPct val="100000"/>
              </a:lnSpc>
              <a:spcBef>
                <a:spcPts val="600"/>
              </a:spcBef>
              <a:spcAft>
                <a:spcPts val="900"/>
              </a:spcAft>
            </a:pPr>
            <a:r>
              <a:rPr lang="en-GB" sz="2400" dirty="0"/>
              <a:t>Explore distributions</a:t>
            </a:r>
          </a:p>
          <a:p>
            <a:pPr marL="714375" lvl="0" indent="-357188">
              <a:lnSpc>
                <a:spcPct val="100000"/>
              </a:lnSpc>
              <a:spcBef>
                <a:spcPts val="600"/>
              </a:spcBef>
              <a:spcAft>
                <a:spcPts val="900"/>
              </a:spcAft>
            </a:pPr>
            <a:r>
              <a:rPr lang="en-GB" sz="2400" dirty="0"/>
              <a:t>Discover patterns</a:t>
            </a:r>
          </a:p>
          <a:p>
            <a:pPr marL="714375" lvl="0" indent="-357188">
              <a:lnSpc>
                <a:spcPct val="100000"/>
              </a:lnSpc>
              <a:spcBef>
                <a:spcPts val="600"/>
              </a:spcBef>
              <a:spcAft>
                <a:spcPts val="900"/>
              </a:spcAft>
            </a:pPr>
            <a:r>
              <a:rPr lang="en-GB" sz="2400" dirty="0"/>
              <a:t>Investigate relationships</a:t>
            </a:r>
          </a:p>
          <a:p>
            <a:pPr marL="714375" lvl="0" indent="-357188">
              <a:lnSpc>
                <a:spcPct val="100000"/>
              </a:lnSpc>
              <a:spcBef>
                <a:spcPts val="600"/>
              </a:spcBef>
              <a:spcAft>
                <a:spcPts val="900"/>
              </a:spcAft>
            </a:pPr>
            <a:r>
              <a:rPr lang="en-GB" sz="2400" dirty="0"/>
              <a:t>Test assumptions</a:t>
            </a:r>
          </a:p>
          <a:p>
            <a:pPr marL="714375" lvl="0" indent="-357188">
              <a:lnSpc>
                <a:spcPct val="100000"/>
              </a:lnSpc>
              <a:spcBef>
                <a:spcPts val="600"/>
              </a:spcBef>
              <a:spcAft>
                <a:spcPts val="900"/>
              </a:spcAft>
            </a:pPr>
            <a:r>
              <a:rPr lang="en-GB" sz="2400" dirty="0"/>
              <a:t>Generate questions or hypotheses</a:t>
            </a:r>
          </a:p>
        </p:txBody>
      </p:sp>
    </p:spTree>
    <p:extLst>
      <p:ext uri="{BB962C8B-B14F-4D97-AF65-F5344CB8AC3E}">
        <p14:creationId xmlns:p14="http://schemas.microsoft.com/office/powerpoint/2010/main" val="3405309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2B605-619C-9327-AB37-85D71B24B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FA04D-F89E-BFAF-92E4-046D6F59BF7F}"/>
              </a:ext>
            </a:extLst>
          </p:cNvPr>
          <p:cNvSpPr>
            <a:spLocks noGrp="1"/>
          </p:cNvSpPr>
          <p:nvPr>
            <p:ph type="title"/>
          </p:nvPr>
        </p:nvSpPr>
        <p:spPr/>
        <p:txBody>
          <a:bodyPr/>
          <a:lstStyle/>
          <a:p>
            <a:r>
              <a:rPr lang="en-GB" dirty="0"/>
              <a:t>Visualisation in EDA</a:t>
            </a:r>
          </a:p>
        </p:txBody>
      </p:sp>
      <p:sp>
        <p:nvSpPr>
          <p:cNvPr id="4" name="Slide Number Placeholder 3">
            <a:extLst>
              <a:ext uri="{FF2B5EF4-FFF2-40B4-BE49-F238E27FC236}">
                <a16:creationId xmlns:a16="http://schemas.microsoft.com/office/drawing/2014/main" id="{72B5700D-45EF-3B86-7312-B4BD3DF89E00}"/>
              </a:ext>
            </a:extLst>
          </p:cNvPr>
          <p:cNvSpPr>
            <a:spLocks noGrp="1"/>
          </p:cNvSpPr>
          <p:nvPr>
            <p:ph type="sldNum" sz="quarter" idx="12"/>
          </p:nvPr>
        </p:nvSpPr>
        <p:spPr/>
        <p:txBody>
          <a:bodyPr/>
          <a:lstStyle/>
          <a:p>
            <a:fld id="{6C8DB4F7-D883-4928-8961-38134A510B78}" type="slidenum">
              <a:rPr lang="en-GB" smtClean="0"/>
              <a:pPr/>
              <a:t>12</a:t>
            </a:fld>
            <a:endParaRPr lang="en-GB" b="0" dirty="0"/>
          </a:p>
        </p:txBody>
      </p:sp>
      <p:sp>
        <p:nvSpPr>
          <p:cNvPr id="7" name="Google Shape;68;p3">
            <a:extLst>
              <a:ext uri="{FF2B5EF4-FFF2-40B4-BE49-F238E27FC236}">
                <a16:creationId xmlns:a16="http://schemas.microsoft.com/office/drawing/2014/main" id="{44EC3424-80D4-CF28-9030-8CFF1F9D8CC0}"/>
              </a:ext>
            </a:extLst>
          </p:cNvPr>
          <p:cNvSpPr txBox="1">
            <a:spLocks/>
          </p:cNvSpPr>
          <p:nvPr/>
        </p:nvSpPr>
        <p:spPr>
          <a:xfrm>
            <a:off x="838200" y="1371290"/>
            <a:ext cx="5867400" cy="4788132"/>
          </a:xfrm>
          <a:prstGeom prst="rect">
            <a:avLst/>
          </a:prstGeom>
          <a:noFill/>
          <a:ln>
            <a:noFill/>
          </a:ln>
        </p:spPr>
        <p:txBody>
          <a:bodyPr spcFirstLastPara="1" vert="horz" wrap="square" lIns="91425" tIns="45700" rIns="91425" bIns="45700" rtlCol="0" anchor="t" anchorCtr="0">
            <a:noAutofit/>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900"/>
              </a:spcAft>
            </a:pPr>
            <a:r>
              <a:rPr lang="en-GB" sz="1800" dirty="0"/>
              <a:t>Visualisation helps the data analysts to recognise patterns that may be difficult to identify from tables alone.</a:t>
            </a:r>
          </a:p>
          <a:p>
            <a:pPr>
              <a:lnSpc>
                <a:spcPct val="100000"/>
              </a:lnSpc>
              <a:spcBef>
                <a:spcPts val="600"/>
              </a:spcBef>
              <a:spcAft>
                <a:spcPts val="900"/>
              </a:spcAft>
            </a:pPr>
            <a:r>
              <a:rPr lang="en-GB" sz="2000" b="1" dirty="0">
                <a:solidFill>
                  <a:schemeClr val="accent4">
                    <a:lumMod val="75000"/>
                  </a:schemeClr>
                </a:solidFill>
              </a:rPr>
              <a:t>Bar chart: </a:t>
            </a:r>
            <a:r>
              <a:rPr lang="en-GB" sz="1800" dirty="0"/>
              <a:t>Useful for categorical variables. For example,  number of students by programme. </a:t>
            </a:r>
          </a:p>
          <a:p>
            <a:pPr>
              <a:lnSpc>
                <a:spcPct val="100000"/>
              </a:lnSpc>
              <a:spcBef>
                <a:spcPts val="600"/>
              </a:spcBef>
              <a:spcAft>
                <a:spcPts val="900"/>
              </a:spcAft>
            </a:pPr>
            <a:r>
              <a:rPr lang="en-GB" sz="2000" b="1" dirty="0">
                <a:solidFill>
                  <a:schemeClr val="accent4">
                    <a:lumMod val="75000"/>
                  </a:schemeClr>
                </a:solidFill>
              </a:rPr>
              <a:t>Histogram: </a:t>
            </a:r>
            <a:r>
              <a:rPr lang="en-GB" sz="1800" dirty="0"/>
              <a:t>Shows the distribution of a numerical variable. For example, distribution of examination marks. </a:t>
            </a:r>
          </a:p>
          <a:p>
            <a:pPr>
              <a:lnSpc>
                <a:spcPct val="100000"/>
              </a:lnSpc>
              <a:spcBef>
                <a:spcPts val="600"/>
              </a:spcBef>
              <a:spcAft>
                <a:spcPts val="900"/>
              </a:spcAft>
            </a:pPr>
            <a:r>
              <a:rPr lang="en-GB" sz="2000" b="1" dirty="0">
                <a:solidFill>
                  <a:schemeClr val="accent4">
                    <a:lumMod val="75000"/>
                  </a:schemeClr>
                </a:solidFill>
              </a:rPr>
              <a:t>Box plot: </a:t>
            </a:r>
            <a:r>
              <a:rPr lang="en-GB" sz="1800" dirty="0"/>
              <a:t>Shows median, quartiles, spread and potential outliers. </a:t>
            </a:r>
          </a:p>
          <a:p>
            <a:pPr>
              <a:lnSpc>
                <a:spcPct val="100000"/>
              </a:lnSpc>
              <a:spcBef>
                <a:spcPts val="600"/>
              </a:spcBef>
              <a:spcAft>
                <a:spcPts val="900"/>
              </a:spcAft>
            </a:pPr>
            <a:r>
              <a:rPr lang="en-GB" sz="2000" b="1" dirty="0">
                <a:solidFill>
                  <a:schemeClr val="accent4">
                    <a:lumMod val="75000"/>
                  </a:schemeClr>
                </a:solidFill>
              </a:rPr>
              <a:t>Scatter plot: </a:t>
            </a:r>
            <a:r>
              <a:rPr lang="en-GB" sz="1800" dirty="0"/>
              <a:t>Examines relationships between two numerical variables. For example, study hours versus examination score. </a:t>
            </a:r>
          </a:p>
          <a:p>
            <a:pPr>
              <a:lnSpc>
                <a:spcPct val="100000"/>
              </a:lnSpc>
              <a:spcBef>
                <a:spcPts val="600"/>
              </a:spcBef>
              <a:spcAft>
                <a:spcPts val="900"/>
              </a:spcAft>
            </a:pPr>
            <a:r>
              <a:rPr lang="en-GB" sz="2000" b="1" dirty="0">
                <a:solidFill>
                  <a:schemeClr val="accent4">
                    <a:lumMod val="75000"/>
                  </a:schemeClr>
                </a:solidFill>
              </a:rPr>
              <a:t>Line chart: </a:t>
            </a:r>
            <a:r>
              <a:rPr lang="en-GB" sz="1800" dirty="0"/>
              <a:t>Useful for analysing changes over time. </a:t>
            </a:r>
          </a:p>
        </p:txBody>
      </p:sp>
      <p:sp>
        <p:nvSpPr>
          <p:cNvPr id="5" name="Google Shape;68;p3">
            <a:extLst>
              <a:ext uri="{FF2B5EF4-FFF2-40B4-BE49-F238E27FC236}">
                <a16:creationId xmlns:a16="http://schemas.microsoft.com/office/drawing/2014/main" id="{76E97526-D0F3-A230-280A-9F6C682FB053}"/>
              </a:ext>
            </a:extLst>
          </p:cNvPr>
          <p:cNvSpPr txBox="1">
            <a:spLocks/>
          </p:cNvSpPr>
          <p:nvPr/>
        </p:nvSpPr>
        <p:spPr>
          <a:xfrm>
            <a:off x="6539654" y="1269691"/>
            <a:ext cx="5102014" cy="4788132"/>
          </a:xfrm>
          <a:prstGeom prst="rect">
            <a:avLst/>
          </a:prstGeom>
          <a:noFill/>
          <a:ln>
            <a:noFill/>
          </a:ln>
        </p:spPr>
        <p:txBody>
          <a:bodyPr spcFirstLastPara="1" vert="horz" wrap="square" lIns="91425" tIns="45700" rIns="91425" bIns="45700" rtlCol="0" anchor="t" anchorCtr="0">
            <a:noAutofit/>
          </a:bodyPr>
          <a:lstStyle>
            <a:lvl1pPr marL="354013" indent="-354013"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6450" indent="-34925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69988" indent="-255588"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12900" indent="-2413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65338" indent="-236538"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1200"/>
              </a:spcAft>
            </a:pPr>
            <a:r>
              <a:rPr lang="en-GB" sz="2400" b="1" dirty="0">
                <a:solidFill>
                  <a:schemeClr val="accent4">
                    <a:lumMod val="75000"/>
                  </a:schemeClr>
                </a:solidFill>
              </a:rPr>
              <a:t>Visualisation Principles</a:t>
            </a:r>
          </a:p>
          <a:p>
            <a:pPr marL="719138" lvl="0" indent="-363538">
              <a:lnSpc>
                <a:spcPct val="100000"/>
              </a:lnSpc>
              <a:spcBef>
                <a:spcPts val="600"/>
              </a:spcBef>
              <a:spcAft>
                <a:spcPts val="1000"/>
              </a:spcAft>
              <a:tabLst>
                <a:tab pos="271463" algn="l"/>
              </a:tabLst>
            </a:pPr>
            <a:r>
              <a:rPr lang="en-GB" sz="2000" dirty="0"/>
              <a:t>Choose a chart appropriate to the data type. </a:t>
            </a:r>
          </a:p>
          <a:p>
            <a:pPr marL="719138" lvl="0" indent="-363538">
              <a:lnSpc>
                <a:spcPct val="100000"/>
              </a:lnSpc>
              <a:spcBef>
                <a:spcPts val="600"/>
              </a:spcBef>
              <a:spcAft>
                <a:spcPts val="1000"/>
              </a:spcAft>
              <a:tabLst>
                <a:tab pos="271463" algn="l"/>
              </a:tabLst>
            </a:pPr>
            <a:r>
              <a:rPr lang="en-GB" sz="2000" dirty="0"/>
              <a:t>Give the chart a meaningful title. </a:t>
            </a:r>
          </a:p>
          <a:p>
            <a:pPr marL="719138" lvl="0" indent="-363538">
              <a:lnSpc>
                <a:spcPct val="100000"/>
              </a:lnSpc>
              <a:spcBef>
                <a:spcPts val="600"/>
              </a:spcBef>
              <a:spcAft>
                <a:spcPts val="1000"/>
              </a:spcAft>
              <a:tabLst>
                <a:tab pos="271463" algn="l"/>
              </a:tabLst>
            </a:pPr>
            <a:r>
              <a:rPr lang="en-GB" sz="2000" dirty="0"/>
              <a:t>Label axes clearly. </a:t>
            </a:r>
          </a:p>
          <a:p>
            <a:pPr marL="719138" lvl="0" indent="-363538">
              <a:lnSpc>
                <a:spcPct val="100000"/>
              </a:lnSpc>
              <a:spcBef>
                <a:spcPts val="600"/>
              </a:spcBef>
              <a:spcAft>
                <a:spcPts val="1000"/>
              </a:spcAft>
              <a:tabLst>
                <a:tab pos="271463" algn="l"/>
              </a:tabLst>
            </a:pPr>
            <a:r>
              <a:rPr lang="en-GB" sz="2000" dirty="0"/>
              <a:t>Include units. </a:t>
            </a:r>
          </a:p>
          <a:p>
            <a:pPr marL="719138" lvl="0" indent="-363538">
              <a:lnSpc>
                <a:spcPct val="100000"/>
              </a:lnSpc>
              <a:spcBef>
                <a:spcPts val="600"/>
              </a:spcBef>
              <a:spcAft>
                <a:spcPts val="1000"/>
              </a:spcAft>
              <a:tabLst>
                <a:tab pos="271463" algn="l"/>
              </a:tabLst>
            </a:pPr>
            <a:r>
              <a:rPr lang="en-GB" sz="2000" dirty="0"/>
              <a:t>Avoid unnecessary decoration. </a:t>
            </a:r>
          </a:p>
          <a:p>
            <a:pPr marL="719138" lvl="0" indent="-363538">
              <a:lnSpc>
                <a:spcPct val="100000"/>
              </a:lnSpc>
              <a:spcBef>
                <a:spcPts val="600"/>
              </a:spcBef>
              <a:spcAft>
                <a:spcPts val="1000"/>
              </a:spcAft>
              <a:tabLst>
                <a:tab pos="271463" algn="l"/>
              </a:tabLst>
            </a:pPr>
            <a:r>
              <a:rPr lang="en-GB" sz="2000" dirty="0"/>
              <a:t>Use consistent scales. </a:t>
            </a:r>
          </a:p>
          <a:p>
            <a:pPr marL="719138" lvl="0" indent="-363538">
              <a:lnSpc>
                <a:spcPct val="100000"/>
              </a:lnSpc>
              <a:spcBef>
                <a:spcPts val="600"/>
              </a:spcBef>
              <a:spcAft>
                <a:spcPts val="1000"/>
              </a:spcAft>
              <a:tabLst>
                <a:tab pos="271463" algn="l"/>
              </a:tabLst>
            </a:pPr>
            <a:r>
              <a:rPr lang="en-GB" sz="2000" dirty="0"/>
              <a:t>Avoid misleading axes or distorted representations.</a:t>
            </a:r>
          </a:p>
        </p:txBody>
      </p:sp>
    </p:spTree>
    <p:extLst>
      <p:ext uri="{BB962C8B-B14F-4D97-AF65-F5344CB8AC3E}">
        <p14:creationId xmlns:p14="http://schemas.microsoft.com/office/powerpoint/2010/main" val="394080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1A6B-5EF3-4B91-B0E7-349382197ABB}"/>
              </a:ext>
            </a:extLst>
          </p:cNvPr>
          <p:cNvSpPr>
            <a:spLocks noGrp="1"/>
          </p:cNvSpPr>
          <p:nvPr>
            <p:ph type="title"/>
          </p:nvPr>
        </p:nvSpPr>
        <p:spPr>
          <a:xfrm>
            <a:off x="838201" y="23228"/>
            <a:ext cx="8900604" cy="1325563"/>
          </a:xfrm>
        </p:spPr>
        <p:txBody>
          <a:bodyPr/>
          <a:lstStyle/>
          <a:p>
            <a:r>
              <a:rPr lang="en-GB" dirty="0"/>
              <a:t>Resources/ References</a:t>
            </a:r>
          </a:p>
        </p:txBody>
      </p:sp>
      <p:sp>
        <p:nvSpPr>
          <p:cNvPr id="7" name="Content Placeholder 6">
            <a:extLst>
              <a:ext uri="{FF2B5EF4-FFF2-40B4-BE49-F238E27FC236}">
                <a16:creationId xmlns:a16="http://schemas.microsoft.com/office/drawing/2014/main" id="{51572B14-14C1-46BC-9B40-0753E4545B3E}"/>
              </a:ext>
            </a:extLst>
          </p:cNvPr>
          <p:cNvSpPr>
            <a:spLocks noGrp="1"/>
          </p:cNvSpPr>
          <p:nvPr>
            <p:ph idx="1"/>
          </p:nvPr>
        </p:nvSpPr>
        <p:spPr>
          <a:xfrm>
            <a:off x="677062" y="1261317"/>
            <a:ext cx="8209243" cy="5139483"/>
          </a:xfrm>
        </p:spPr>
        <p:txBody>
          <a:bodyPr>
            <a:normAutofit fontScale="92500"/>
          </a:bodyPr>
          <a:lstStyle/>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Pierson, L. (2026) “Data Science For Dummies”. 4th </a:t>
            </a:r>
            <a:r>
              <a:rPr lang="en-US" sz="2000" dirty="0" err="1">
                <a:latin typeface="Calibri" panose="020F0502020204030204" pitchFamily="34" charset="0"/>
                <a:ea typeface="Calibri" panose="020F0502020204030204" pitchFamily="34" charset="0"/>
                <a:cs typeface="Calibri" panose="020F0502020204030204" pitchFamily="34" charset="0"/>
              </a:rPr>
              <a:t>edn</a:t>
            </a:r>
            <a:r>
              <a:rPr lang="en-US" sz="2000" dirty="0">
                <a:latin typeface="Calibri" panose="020F0502020204030204" pitchFamily="34" charset="0"/>
                <a:ea typeface="Calibri" panose="020F0502020204030204" pitchFamily="34" charset="0"/>
                <a:cs typeface="Calibri" panose="020F0502020204030204" pitchFamily="34" charset="0"/>
              </a:rPr>
              <a:t>. For Dummies. Available at: https://learning.oreilly.com/library/view/data-science-for/9781394424085/ </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Foxwell, H.J. (2020) Creating Good Data: A Guide to Dataset Structure and Data Representation. Berkeley, CA: </a:t>
            </a:r>
            <a:r>
              <a:rPr lang="en-US" sz="2000" dirty="0" err="1">
                <a:latin typeface="Calibri" panose="020F0502020204030204" pitchFamily="34" charset="0"/>
                <a:ea typeface="Calibri" panose="020F0502020204030204" pitchFamily="34" charset="0"/>
                <a:cs typeface="Calibri" panose="020F0502020204030204" pitchFamily="34" charset="0"/>
              </a:rPr>
              <a:t>Apress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doi</a:t>
            </a:r>
            <a:r>
              <a:rPr lang="en-US" sz="2000" dirty="0">
                <a:latin typeface="Calibri" panose="020F0502020204030204" pitchFamily="34" charset="0"/>
                <a:ea typeface="Calibri" panose="020F0502020204030204" pitchFamily="34" charset="0"/>
                <a:cs typeface="Calibri" panose="020F0502020204030204" pitchFamily="34" charset="0"/>
              </a:rPr>
              <a:t>: 10.1007/978-1-4842-6103-3.</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McGregor, S.E. (2021) Practical Python Data Wrangling and Data Quality. Sebastopol, CA: O'Reilly Media. ISBN 9781492091493.</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AI Publishing (2020) Data Preprocessing with Python for Absolute Beginners: Step-by-Step Guide with Hands-on Projects and Exercises. AI Publishing LLC. ISBN 9781734790108.</a:t>
            </a:r>
          </a:p>
          <a:p>
            <a:pPr>
              <a:spcBef>
                <a:spcPts val="600"/>
              </a:spcBef>
              <a:spcAft>
                <a:spcPts val="600"/>
              </a:spcAft>
              <a:buSzPct val="100000"/>
            </a:pPr>
            <a:r>
              <a:rPr lang="en-GB" sz="2000" dirty="0"/>
              <a:t>Kazil, J. and </a:t>
            </a:r>
            <a:r>
              <a:rPr lang="en-GB" sz="2000" dirty="0" err="1"/>
              <a:t>Jarmul</a:t>
            </a:r>
            <a:r>
              <a:rPr lang="en-GB" sz="2000" dirty="0"/>
              <a:t>, K. (2016) </a:t>
            </a:r>
            <a:r>
              <a:rPr lang="en-GB" sz="2000" i="1" dirty="0"/>
              <a:t>Data Wrangling with Python</a:t>
            </a:r>
            <a:r>
              <a:rPr lang="en-GB" sz="2000" dirty="0"/>
              <a:t>. Sebastopol, CA: O’Reilly Media, Inc</a:t>
            </a:r>
            <a:r>
              <a:rPr lang="en-US" sz="2000" dirty="0">
                <a:latin typeface="Calibri" panose="020F0502020204030204" pitchFamily="34" charset="0"/>
                <a:ea typeface="Calibri" panose="020F0502020204030204" pitchFamily="34" charset="0"/>
                <a:cs typeface="Calibri" panose="020F0502020204030204" pitchFamily="34" charset="0"/>
              </a:rPr>
              <a:t>OpenAI. (2026). ChatGPT. OpenAI (CCT Licensed Version).</a:t>
            </a:r>
          </a:p>
          <a:p>
            <a:pPr>
              <a:lnSpc>
                <a:spcPct val="100000"/>
              </a:lnSpc>
              <a:spcBef>
                <a:spcPts val="600"/>
              </a:spcBef>
              <a:spcAft>
                <a:spcPts val="600"/>
              </a:spcAft>
              <a:buSzPct val="100000"/>
            </a:pPr>
            <a:r>
              <a:rPr lang="en-US" sz="2000" dirty="0">
                <a:latin typeface="Calibri" panose="020F0502020204030204" pitchFamily="34" charset="0"/>
                <a:ea typeface="Calibri" panose="020F0502020204030204" pitchFamily="34" charset="0"/>
                <a:cs typeface="Calibri" panose="020F0502020204030204" pitchFamily="34" charset="0"/>
              </a:rPr>
              <a:t>Some images are used from Google search repository (https://www.google.ie/search) to enhance the level of learning.</a:t>
            </a:r>
          </a:p>
        </p:txBody>
      </p:sp>
      <p:sp>
        <p:nvSpPr>
          <p:cNvPr id="4" name="Title 5">
            <a:extLst>
              <a:ext uri="{FF2B5EF4-FFF2-40B4-BE49-F238E27FC236}">
                <a16:creationId xmlns:a16="http://schemas.microsoft.com/office/drawing/2014/main" id="{85B34EF6-C82B-D674-ABD8-F3A00346108B}"/>
              </a:ext>
            </a:extLst>
          </p:cNvPr>
          <p:cNvSpPr txBox="1">
            <a:spLocks/>
          </p:cNvSpPr>
          <p:nvPr/>
        </p:nvSpPr>
        <p:spPr>
          <a:xfrm>
            <a:off x="8944495" y="2259265"/>
            <a:ext cx="2996120" cy="1988540"/>
          </a:xfrm>
          <a:prstGeom prst="rect">
            <a:avLst/>
          </a:prstGeom>
          <a:ln w="19050">
            <a:solidFill>
              <a:schemeClr val="tx1"/>
            </a:solidFill>
          </a:ln>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b="1" kern="1200">
                <a:solidFill>
                  <a:schemeClr val="accent1">
                    <a:lumMod val="75000"/>
                  </a:schemeClr>
                </a:solidFill>
                <a:latin typeface="+mn-lt"/>
                <a:ea typeface="+mj-ea"/>
                <a:cs typeface="+mj-cs"/>
              </a:defRPr>
            </a:lvl1pPr>
          </a:lstStyle>
          <a:p>
            <a:pPr algn="ctr"/>
            <a:r>
              <a:rPr lang="en-IE" sz="2400" dirty="0"/>
              <a:t>Copyright Notice</a:t>
            </a:r>
            <a:br>
              <a:rPr lang="en-IE" sz="2400" dirty="0"/>
            </a:br>
            <a:r>
              <a:rPr lang="en-IE" sz="1800" dirty="0"/>
              <a:t>The following material has been communicated to you by or on behalf of CCT College Dublin in accordance with the Copyright and Related Rights Act 2000 (the Act).</a:t>
            </a:r>
            <a:br>
              <a:rPr lang="en-IE" sz="1800" dirty="0"/>
            </a:br>
            <a:r>
              <a:rPr lang="en-IE" sz="1800" dirty="0"/>
              <a:t>The material may be subject to copyright under the Act and any further reproduction, communication or distribution of this material must be in accordance with the Act.</a:t>
            </a:r>
            <a:br>
              <a:rPr lang="en-IE" sz="1800" dirty="0"/>
            </a:br>
            <a:br>
              <a:rPr lang="en-IE" sz="1800" dirty="0"/>
            </a:br>
            <a:r>
              <a:rPr lang="en-IE" sz="1200" dirty="0"/>
              <a:t>Do not remove this notice</a:t>
            </a:r>
            <a:endParaRPr lang="en-IE" sz="1800" dirty="0"/>
          </a:p>
        </p:txBody>
      </p:sp>
      <p:sp>
        <p:nvSpPr>
          <p:cNvPr id="6" name="Slide Number Placeholder 5">
            <a:extLst>
              <a:ext uri="{FF2B5EF4-FFF2-40B4-BE49-F238E27FC236}">
                <a16:creationId xmlns:a16="http://schemas.microsoft.com/office/drawing/2014/main" id="{9CACF878-4690-72A2-8FA7-FDE2793F30A5}"/>
              </a:ext>
            </a:extLst>
          </p:cNvPr>
          <p:cNvSpPr>
            <a:spLocks noGrp="1"/>
          </p:cNvSpPr>
          <p:nvPr>
            <p:ph type="sldNum" sz="quarter" idx="12"/>
          </p:nvPr>
        </p:nvSpPr>
        <p:spPr/>
        <p:txBody>
          <a:bodyPr/>
          <a:lstStyle/>
          <a:p>
            <a:fld id="{6C8DB4F7-D883-4928-8961-38134A510B78}" type="slidenum">
              <a:rPr lang="en-GB" smtClean="0"/>
              <a:pPr/>
              <a:t>13</a:t>
            </a:fld>
            <a:endParaRPr lang="en-GB" b="0" dirty="0"/>
          </a:p>
        </p:txBody>
      </p:sp>
    </p:spTree>
    <p:extLst>
      <p:ext uri="{BB962C8B-B14F-4D97-AF65-F5344CB8AC3E}">
        <p14:creationId xmlns:p14="http://schemas.microsoft.com/office/powerpoint/2010/main" val="1235696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8621</TotalTime>
  <Words>2030</Words>
  <Application>Microsoft Office PowerPoint</Application>
  <PresentationFormat>Widescreen</PresentationFormat>
  <Paragraphs>270</Paragraphs>
  <Slides>13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Outline</vt:lpstr>
      <vt:lpstr>Data Management Cycle</vt:lpstr>
      <vt:lpstr>Data Consistency</vt:lpstr>
      <vt:lpstr>Documentation and the Data Dictionary</vt:lpstr>
      <vt:lpstr>Data Quality and Preprocessing</vt:lpstr>
      <vt:lpstr>Legal, Ethical and Regulatory Constraints</vt:lpstr>
      <vt:lpstr>Statistical Properties of Data</vt:lpstr>
      <vt:lpstr>Univariate Analysis</vt:lpstr>
      <vt:lpstr>Bivariate and Multivariate Analysis</vt:lpstr>
      <vt:lpstr>Exploratory Data Analysis (EDA)</vt:lpstr>
      <vt:lpstr>Visualisation in EDA</vt:lpstr>
      <vt:lpstr>Resources/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Munawar Iqbal</dc:creator>
  <cp:lastModifiedBy>Muhammad Iqbal</cp:lastModifiedBy>
  <cp:revision>296</cp:revision>
  <dcterms:created xsi:type="dcterms:W3CDTF">2020-09-11T23:34:13Z</dcterms:created>
  <dcterms:modified xsi:type="dcterms:W3CDTF">2026-10-01T08:36:03Z</dcterms:modified>
</cp:coreProperties>
</file>