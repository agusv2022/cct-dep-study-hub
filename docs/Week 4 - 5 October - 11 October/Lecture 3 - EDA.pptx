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704" r:id="rId2"/>
    <p:sldId id="705" r:id="rId3"/>
    <p:sldId id="706" r:id="rId4"/>
    <p:sldId id="707" r:id="rId5"/>
    <p:sldId id="708" r:id="rId6"/>
    <p:sldId id="709" r:id="rId7"/>
    <p:sldId id="710" r:id="rId8"/>
    <p:sldId id="711" r:id="rId9"/>
    <p:sldId id="712" r:id="rId10"/>
    <p:sldId id="713" r:id="rId11"/>
    <p:sldId id="715" r:id="rId12"/>
    <p:sldId id="3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8" autoAdjust="0"/>
    <p:restoredTop sz="74128" autoAdjust="0"/>
  </p:normalViewPr>
  <p:slideViewPr>
    <p:cSldViewPr snapToGrid="0">
      <p:cViewPr varScale="1">
        <p:scale>
          <a:sx n="92" d="100"/>
          <a:sy n="92" d="100"/>
        </p:scale>
        <p:origin x="307" y="82"/>
      </p:cViewPr>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2406B0-82C0-1763-EE57-63E93A5150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88F14B2-CDAC-27E5-918D-158501A392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6D3D10-F731-4672-995C-55C6E16C5DB6}" type="datetimeFigureOut">
              <a:rPr lang="en-GB" smtClean="0"/>
              <a:t>02/10/2026</a:t>
            </a:fld>
            <a:endParaRPr lang="en-GB"/>
          </a:p>
        </p:txBody>
      </p:sp>
      <p:sp>
        <p:nvSpPr>
          <p:cNvPr id="4" name="Footer Placeholder 3">
            <a:extLst>
              <a:ext uri="{FF2B5EF4-FFF2-40B4-BE49-F238E27FC236}">
                <a16:creationId xmlns:a16="http://schemas.microsoft.com/office/drawing/2014/main" id="{88AA64E0-341D-1F51-F6AE-D99D497218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5148FA4-4431-BBDD-E6AA-3C5C0BF98F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FB05FC-8EA2-41D8-97B3-871CFE14F622}" type="slidenum">
              <a:rPr lang="en-GB" smtClean="0"/>
              <a:t>‹#›</a:t>
            </a:fld>
            <a:endParaRPr lang="en-GB"/>
          </a:p>
        </p:txBody>
      </p:sp>
    </p:spTree>
    <p:extLst>
      <p:ext uri="{BB962C8B-B14F-4D97-AF65-F5344CB8AC3E}">
        <p14:creationId xmlns:p14="http://schemas.microsoft.com/office/powerpoint/2010/main" val="163549379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7A9FB-B4AA-40C7-A5AA-4B85A3DED926}" type="datetimeFigureOut">
              <a:rPr lang="en-GB" smtClean="0"/>
              <a:t>02/10/2026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427EC4-43D7-4899-AF54-D30B3AC26D4A}" type="slidenum">
              <a:rPr lang="en-GB" smtClean="0"/>
              <a:t>‹#›</a:t>
            </a:fld>
            <a:endParaRPr lang="en-GB" dirty="0"/>
          </a:p>
        </p:txBody>
      </p:sp>
    </p:spTree>
    <p:extLst>
      <p:ext uri="{BB962C8B-B14F-4D97-AF65-F5344CB8AC3E}">
        <p14:creationId xmlns:p14="http://schemas.microsoft.com/office/powerpoint/2010/main" val="378970673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B836-E4EE-4E06-8B91-0A9BDBDB439E}"/>
              </a:ext>
            </a:extLst>
          </p:cNvPr>
          <p:cNvSpPr>
            <a:spLocks noGrp="1"/>
          </p:cNvSpPr>
          <p:nvPr>
            <p:ph type="ctrTitle"/>
          </p:nvPr>
        </p:nvSpPr>
        <p:spPr>
          <a:xfrm>
            <a:off x="1524000" y="1646238"/>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6A843F9D-205F-46E1-9D12-71A9AC6E13FC}"/>
              </a:ext>
            </a:extLst>
          </p:cNvPr>
          <p:cNvSpPr>
            <a:spLocks noGrp="1"/>
          </p:cNvSpPr>
          <p:nvPr>
            <p:ph type="subTitle" idx="1"/>
          </p:nvPr>
        </p:nvSpPr>
        <p:spPr>
          <a:xfrm>
            <a:off x="1524000" y="4125913"/>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42162BC-6CA4-467E-AC86-BC77F310BE51}"/>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EA333EDF-AB45-418D-8F51-D1AD2EDA3FDB}"/>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8923A67F-3C36-613E-ED45-4C44A25965F5}"/>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677426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E0AE1-99A4-41F3-BF6E-65E1013A9185}"/>
              </a:ext>
            </a:extLst>
          </p:cNvPr>
          <p:cNvSpPr>
            <a:spLocks noGrp="1"/>
          </p:cNvSpPr>
          <p:nvPr>
            <p:ph type="title" hasCustomPrompt="1"/>
          </p:nvPr>
        </p:nvSpPr>
        <p:spPr>
          <a:xfrm>
            <a:off x="838201" y="74259"/>
            <a:ext cx="8900604" cy="1325563"/>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C9A915C1-7308-4EE4-B2E5-01F49DB1D5D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A04424B-1C03-4B66-9EF1-A229FB752C71}"/>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7243E005-405B-4CE0-928D-52F5FEE11F3C}"/>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3E78D7E0-ED2C-4C9E-A814-A3C47C37ED50}"/>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1709309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D467-1716-4D07-9AA3-7A664C4D19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8704D9E-EF9B-4615-96B0-4EA09278B4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501B99-FD4E-4ACF-95C7-037B7D19971E}"/>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45207437-B0B6-48C7-A34A-19E95D9BCFC6}"/>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F8AEAC33-DEA4-B6B2-71F9-C66F37B25BA1}"/>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2058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AC101-C812-4A54-B9AD-882F17E2C8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EF0F46-33F1-4156-BC49-BB22674E3D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EB920D2-BE75-470C-9C4B-D8543D713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7442DAA-7DAF-49AC-BAE0-70A3942E6C36}"/>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6" name="Footer Placeholder 5">
            <a:extLst>
              <a:ext uri="{FF2B5EF4-FFF2-40B4-BE49-F238E27FC236}">
                <a16:creationId xmlns:a16="http://schemas.microsoft.com/office/drawing/2014/main" id="{2C113C39-64ED-4144-988B-D3ED11FEF258}"/>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3D071622-1A56-5F5D-7C48-60ED4F468F5A}"/>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2461991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4105-5F97-48A3-AA6F-BADCE382C1FC}"/>
              </a:ext>
            </a:extLst>
          </p:cNvPr>
          <p:cNvSpPr>
            <a:spLocks noGrp="1"/>
          </p:cNvSpPr>
          <p:nvPr>
            <p:ph type="title"/>
          </p:nvPr>
        </p:nvSpPr>
        <p:spPr>
          <a:xfrm>
            <a:off x="838200" y="10477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779B9BC-0773-46F4-BF10-B66027DBAA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33E622-696B-4DC4-94B6-1DD605B114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49C910A-7183-4227-AD5B-275F32F506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0466-8EA4-44AE-AF38-8D0CF8770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7A87FD3-5C74-44AD-9CB5-28B1BF7DB053}"/>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8" name="Footer Placeholder 7">
            <a:extLst>
              <a:ext uri="{FF2B5EF4-FFF2-40B4-BE49-F238E27FC236}">
                <a16:creationId xmlns:a16="http://schemas.microsoft.com/office/drawing/2014/main" id="{CBD7C44D-BC7B-4904-9A38-0AD77B82DAF1}"/>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10" name="Slide Number Placeholder 5">
            <a:extLst>
              <a:ext uri="{FF2B5EF4-FFF2-40B4-BE49-F238E27FC236}">
                <a16:creationId xmlns:a16="http://schemas.microsoft.com/office/drawing/2014/main" id="{AFF81A8D-86AB-D0F1-C12B-93C0BC212312}"/>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194801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0906-B4A4-4BEE-92C1-B3DDE11F0F3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A20F041-8ABD-4664-B1A5-6A4CA1C05D75}"/>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4" name="Footer Placeholder 3">
            <a:extLst>
              <a:ext uri="{FF2B5EF4-FFF2-40B4-BE49-F238E27FC236}">
                <a16:creationId xmlns:a16="http://schemas.microsoft.com/office/drawing/2014/main" id="{98D34C98-2D5E-430B-B7D8-66C11BD7E104}"/>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D7C74D50-E0AF-7C43-458F-C9D7C62B392E}"/>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383600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7FC441-C690-4EEF-920D-D09DB0F2C495}"/>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3" name="Footer Placeholder 2">
            <a:extLst>
              <a:ext uri="{FF2B5EF4-FFF2-40B4-BE49-F238E27FC236}">
                <a16:creationId xmlns:a16="http://schemas.microsoft.com/office/drawing/2014/main" id="{B31B84C9-EEF1-438D-91A9-23773B67B2FD}"/>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5" name="Slide Number Placeholder 5">
            <a:extLst>
              <a:ext uri="{FF2B5EF4-FFF2-40B4-BE49-F238E27FC236}">
                <a16:creationId xmlns:a16="http://schemas.microsoft.com/office/drawing/2014/main" id="{C0F985CD-07FD-1C2E-C8C8-FDEF54E92ACD}"/>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3150479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6BE4-6FF8-47FD-94E0-A136532FD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0B5A2B-F66F-41C8-A747-1E19255F49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EB2CDD9-C6CB-4AD9-BCCE-B1E27D979A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96FB3-9D3F-40F6-A756-F494796AFBCA}"/>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6" name="Footer Placeholder 5">
            <a:extLst>
              <a:ext uri="{FF2B5EF4-FFF2-40B4-BE49-F238E27FC236}">
                <a16:creationId xmlns:a16="http://schemas.microsoft.com/office/drawing/2014/main" id="{6942FFE2-D26A-4DBB-A9F8-21F2F25BBEBF}"/>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2638C9B0-FE7A-E1B6-A360-8858370B2BFE}"/>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912261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D0C0E-53E5-430A-BECB-DE76F1CC30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3D6A415-E8A5-4B01-8F66-20BF09CE9F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0E08B4D-3C51-43FD-849B-425B6D6F8A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C423EC-1F52-4B63-A47A-58925E01D32F}"/>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6" name="Footer Placeholder 5">
            <a:extLst>
              <a:ext uri="{FF2B5EF4-FFF2-40B4-BE49-F238E27FC236}">
                <a16:creationId xmlns:a16="http://schemas.microsoft.com/office/drawing/2014/main" id="{CD86B3AD-0636-4B60-96A1-136B5F012689}"/>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ABC033F7-210F-9582-63EE-42FC2599F08F}"/>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2272302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B817-3673-4DE2-BCA0-E562F2CEF01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69E6782-58FA-4A22-8241-7CD0AF42E1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2997E6-7848-4967-B09B-5BD03C98421D}"/>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89B674B2-668D-4966-8849-37A9CCD48001}"/>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2247755C-17AC-F28B-5078-0194B60BF0A1}"/>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169845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01867C-BED4-44B7-A70E-4EF6F3399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9B4DCE0-AEE9-4B9E-845B-8A5FB77BAB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A9966C-5B0E-4D0D-9341-168BA6C3832B}"/>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19EB4EB6-224E-4A2D-AC5D-AF0AFB62C000}"/>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2219D011-EA1E-48E8-7896-82635155B735}"/>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4164679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2158B2-5239-4E3A-89F4-229D4B122F8A}"/>
              </a:ext>
            </a:extLst>
          </p:cNvPr>
          <p:cNvSpPr>
            <a:spLocks noGrp="1"/>
          </p:cNvSpPr>
          <p:nvPr>
            <p:ph type="title"/>
          </p:nvPr>
        </p:nvSpPr>
        <p:spPr>
          <a:xfrm>
            <a:off x="838200" y="36159"/>
            <a:ext cx="890948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9824DE6-2CA7-45AF-BD92-BBC7CEF35684}"/>
              </a:ext>
            </a:extLst>
          </p:cNvPr>
          <p:cNvSpPr>
            <a:spLocks noGrp="1"/>
          </p:cNvSpPr>
          <p:nvPr>
            <p:ph type="body" idx="1"/>
          </p:nvPr>
        </p:nvSpPr>
        <p:spPr>
          <a:xfrm>
            <a:off x="838200" y="1581150"/>
            <a:ext cx="10515600" cy="46291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Google Shape;15;p18">
            <a:extLst>
              <a:ext uri="{FF2B5EF4-FFF2-40B4-BE49-F238E27FC236}">
                <a16:creationId xmlns:a16="http://schemas.microsoft.com/office/drawing/2014/main" id="{D4C3B5C1-CC93-02A0-A1B9-974968587135}"/>
              </a:ext>
            </a:extLst>
          </p:cNvPr>
          <p:cNvSpPr/>
          <p:nvPr userDrawn="1"/>
        </p:nvSpPr>
        <p:spPr>
          <a:xfrm>
            <a:off x="0" y="6210300"/>
            <a:ext cx="12192000" cy="64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 name="Google Shape;16;p18" descr="A picture containing drawing&#10;&#10;Description automatically generated">
            <a:extLst>
              <a:ext uri="{FF2B5EF4-FFF2-40B4-BE49-F238E27FC236}">
                <a16:creationId xmlns:a16="http://schemas.microsoft.com/office/drawing/2014/main" id="{D763B9A6-2820-62C5-FD73-4D72B09B1053}"/>
              </a:ext>
            </a:extLst>
          </p:cNvPr>
          <p:cNvPicPr preferRelativeResize="0"/>
          <p:nvPr userDrawn="1"/>
        </p:nvPicPr>
        <p:blipFill rotWithShape="1">
          <a:blip r:embed="rId13">
            <a:alphaModFix/>
          </a:blip>
          <a:srcRect/>
          <a:stretch/>
        </p:blipFill>
        <p:spPr>
          <a:xfrm>
            <a:off x="9113894" y="6110413"/>
            <a:ext cx="2341051" cy="647700"/>
          </a:xfrm>
          <a:prstGeom prst="rect">
            <a:avLst/>
          </a:prstGeom>
          <a:noFill/>
          <a:ln>
            <a:noFill/>
          </a:ln>
        </p:spPr>
      </p:pic>
      <p:sp>
        <p:nvSpPr>
          <p:cNvPr id="11" name="Slide Number Placeholder 5">
            <a:extLst>
              <a:ext uri="{FF2B5EF4-FFF2-40B4-BE49-F238E27FC236}">
                <a16:creationId xmlns:a16="http://schemas.microsoft.com/office/drawing/2014/main" id="{7C4D38F0-A39A-2A1C-E461-813F3D011EAD}"/>
              </a:ext>
            </a:extLst>
          </p:cNvPr>
          <p:cNvSpPr>
            <a:spLocks noGrp="1"/>
          </p:cNvSpPr>
          <p:nvPr>
            <p:ph type="sldNum" sz="quarter" idx="4"/>
          </p:nvPr>
        </p:nvSpPr>
        <p:spPr>
          <a:xfrm>
            <a:off x="11767456" y="6444195"/>
            <a:ext cx="386443" cy="313917"/>
          </a:xfrm>
          <a:prstGeom prst="rect">
            <a:avLst/>
          </a:prstGeom>
        </p:spPr>
        <p:txBody>
          <a:bodyPr/>
          <a:lstStyle>
            <a:lvl1pPr algn="r">
              <a:defRPr sz="1050" b="0"/>
            </a:lvl1pPr>
          </a:lstStyle>
          <a:p>
            <a:fld id="{6C8DB4F7-D883-4928-8961-38134A510B78}" type="slidenum">
              <a:rPr lang="en-GB" smtClean="0"/>
              <a:pPr/>
              <a:t>‹#›</a:t>
            </a:fld>
            <a:endParaRPr lang="en-GB" sz="1050" dirty="0"/>
          </a:p>
        </p:txBody>
      </p:sp>
    </p:spTree>
    <p:extLst>
      <p:ext uri="{BB962C8B-B14F-4D97-AF65-F5344CB8AC3E}">
        <p14:creationId xmlns:p14="http://schemas.microsoft.com/office/powerpoint/2010/main" val="3933344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accent5">
              <a:lumMod val="50000"/>
            </a:schemeClr>
          </a:solidFill>
          <a:latin typeface="+mn-lt"/>
          <a:ea typeface="+mj-ea"/>
          <a:cs typeface="+mj-cs"/>
        </a:defRPr>
      </a:lvl1pPr>
    </p:titleStyle>
    <p:body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ibm.com/docs/en/spss-modeler/18.6.0?topic=dm-crisp-help-overview&amp;utm_source=chatgpt.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support.sas.com/documentation/cdl/en/emcs/66392/HTML/default/n0pejm83csbja4n1xueveo2uoujy.htm?utm_source=chatgpt.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ibm.com/docs/en/spss-modeler/18.6.0?topic=projects-crisp-dm-view&amp;utm_source=chatgpt.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F22397A-B976-4D54-A4CD-20AA62C0719F}"/>
              </a:ext>
            </a:extLst>
          </p:cNvPr>
          <p:cNvSpPr txBox="1">
            <a:spLocks noGrp="1"/>
          </p:cNvSpPr>
          <p:nvPr>
            <p:ph type="subTitle" idx="1"/>
          </p:nvPr>
        </p:nvSpPr>
        <p:spPr>
          <a:xfrm>
            <a:off x="2539384" y="4917186"/>
            <a:ext cx="9144000" cy="1092204"/>
          </a:xfrm>
        </p:spPr>
        <p:txBody>
          <a:bodyPr>
            <a:normAutofit/>
          </a:bodyPr>
          <a:lstStyle/>
          <a:p>
            <a:pPr lvl="0"/>
            <a:r>
              <a:rPr lang="en-GB" sz="2800" b="1" dirty="0">
                <a:solidFill>
                  <a:srgbClr val="00B0F0"/>
                </a:solidFill>
              </a:rPr>
              <a:t>Lecturer: Dr. Muhammad Iqbal</a:t>
            </a:r>
            <a:r>
              <a:rPr lang="en-GB" sz="1600" b="1" baseline="60000" dirty="0">
                <a:solidFill>
                  <a:srgbClr val="00B0F0"/>
                </a:solidFill>
              </a:rPr>
              <a:t>*</a:t>
            </a:r>
          </a:p>
          <a:p>
            <a:pPr lvl="0"/>
            <a:r>
              <a:rPr lang="en-GB" sz="2800" b="1" dirty="0">
                <a:solidFill>
                  <a:srgbClr val="00B0F0"/>
                </a:solidFill>
              </a:rPr>
              <a:t>Email: miqbal@cct.ie</a:t>
            </a:r>
          </a:p>
          <a:p>
            <a:pPr lvl="0"/>
            <a:endParaRPr lang="en-GB" sz="2800" b="1" dirty="0">
              <a:solidFill>
                <a:srgbClr val="00B0F0"/>
              </a:solidFill>
            </a:endParaRPr>
          </a:p>
        </p:txBody>
      </p:sp>
      <p:sp>
        <p:nvSpPr>
          <p:cNvPr id="5" name="Subtitle 2">
            <a:extLst>
              <a:ext uri="{FF2B5EF4-FFF2-40B4-BE49-F238E27FC236}">
                <a16:creationId xmlns:a16="http://schemas.microsoft.com/office/drawing/2014/main" id="{22CFE4FC-E589-4887-B87B-4184B451149E}"/>
              </a:ext>
            </a:extLst>
          </p:cNvPr>
          <p:cNvSpPr txBox="1">
            <a:spLocks/>
          </p:cNvSpPr>
          <p:nvPr/>
        </p:nvSpPr>
        <p:spPr>
          <a:xfrm>
            <a:off x="2539384" y="3429000"/>
            <a:ext cx="9144000" cy="1092204"/>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90000"/>
              </a:lnSpc>
              <a:spcBef>
                <a:spcPts val="1000"/>
              </a:spcBef>
              <a:spcAft>
                <a:spcPts val="0"/>
              </a:spcAft>
              <a:buSzPct val="100000"/>
              <a:buFont typeface="Arial" pitchFamily="34"/>
              <a:buNone/>
              <a:tabLst/>
              <a:defRPr lang="en-US" sz="24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b="1" dirty="0">
                <a:solidFill>
                  <a:schemeClr val="tx1"/>
                </a:solidFill>
              </a:rPr>
              <a:t>Exploratory Data Analysis</a:t>
            </a:r>
            <a:endParaRPr lang="en-GB" sz="2800" b="1" baseline="60000" dirty="0">
              <a:solidFill>
                <a:schemeClr val="tx1"/>
              </a:solidFill>
            </a:endParaRPr>
          </a:p>
          <a:p>
            <a:r>
              <a:rPr lang="en-GB" sz="2800" b="1">
                <a:solidFill>
                  <a:schemeClr val="tx1"/>
                </a:solidFill>
              </a:rPr>
              <a:t>Week 4</a:t>
            </a:r>
            <a:endParaRPr lang="en-GB" sz="2800" b="1" dirty="0">
              <a:solidFill>
                <a:schemeClr val="tx1"/>
              </a:solidFill>
            </a:endParaRPr>
          </a:p>
          <a:p>
            <a:endParaRPr lang="en-GB" sz="2800" b="1" dirty="0">
              <a:solidFill>
                <a:schemeClr val="tx1"/>
              </a:solidFill>
            </a:endParaRPr>
          </a:p>
        </p:txBody>
      </p:sp>
      <p:pic>
        <p:nvPicPr>
          <p:cNvPr id="6" name="Picture 5" descr="A large building in the background&#10;&#10;Description automatically generated">
            <a:extLst>
              <a:ext uri="{FF2B5EF4-FFF2-40B4-BE49-F238E27FC236}">
                <a16:creationId xmlns:a16="http://schemas.microsoft.com/office/drawing/2014/main" id="{EADD99AE-462A-B5AA-3FB8-52585AA6A3CA}"/>
              </a:ext>
            </a:extLst>
          </p:cNvPr>
          <p:cNvPicPr>
            <a:picLocks noChangeAspect="1"/>
          </p:cNvPicPr>
          <p:nvPr/>
        </p:nvPicPr>
        <p:blipFill rotWithShape="1">
          <a:blip r:embed="rId2">
            <a:extLst>
              <a:ext uri="{28A0092B-C50C-407E-A947-70E740481C1C}">
                <a14:useLocalDpi xmlns:a14="http://schemas.microsoft.com/office/drawing/2010/main" val="0"/>
              </a:ext>
            </a:extLst>
          </a:blip>
          <a:srcRect l="1607" t="1724"/>
          <a:stretch/>
        </p:blipFill>
        <p:spPr>
          <a:xfrm>
            <a:off x="0" y="1"/>
            <a:ext cx="3634442" cy="3341716"/>
          </a:xfrm>
          <a:prstGeom prst="rect">
            <a:avLst/>
          </a:prstGeom>
        </p:spPr>
      </p:pic>
      <p:sp>
        <p:nvSpPr>
          <p:cNvPr id="8" name="Slide Number Placeholder 7">
            <a:extLst>
              <a:ext uri="{FF2B5EF4-FFF2-40B4-BE49-F238E27FC236}">
                <a16:creationId xmlns:a16="http://schemas.microsoft.com/office/drawing/2014/main" id="{9EB9C049-4DD8-3A11-342B-7C02355E041F}"/>
              </a:ext>
            </a:extLst>
          </p:cNvPr>
          <p:cNvSpPr>
            <a:spLocks noGrp="1"/>
          </p:cNvSpPr>
          <p:nvPr>
            <p:ph type="sldNum" sz="quarter" idx="12"/>
          </p:nvPr>
        </p:nvSpPr>
        <p:spPr/>
        <p:txBody>
          <a:bodyPr/>
          <a:lstStyle/>
          <a:p>
            <a:fld id="{6C8DB4F7-D883-4928-8961-38134A510B78}" type="slidenum">
              <a:rPr lang="en-GB" smtClean="0"/>
              <a:pPr/>
              <a:t>1</a:t>
            </a:fld>
            <a:endParaRPr lang="en-GB" b="0" dirty="0"/>
          </a:p>
        </p:txBody>
      </p:sp>
      <p:sp>
        <p:nvSpPr>
          <p:cNvPr id="9" name="Title 1">
            <a:extLst>
              <a:ext uri="{FF2B5EF4-FFF2-40B4-BE49-F238E27FC236}">
                <a16:creationId xmlns:a16="http://schemas.microsoft.com/office/drawing/2014/main" id="{9376695E-5CD1-4B19-A8E8-FEEEE597FE4F}"/>
              </a:ext>
            </a:extLst>
          </p:cNvPr>
          <p:cNvSpPr txBox="1">
            <a:spLocks/>
          </p:cNvSpPr>
          <p:nvPr/>
        </p:nvSpPr>
        <p:spPr>
          <a:xfrm>
            <a:off x="2286850" y="1340158"/>
            <a:ext cx="9280156" cy="178301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chemeClr val="accent5">
                    <a:lumMod val="50000"/>
                  </a:schemeClr>
                </a:solidFill>
                <a:latin typeface="+mn-lt"/>
                <a:ea typeface="+mj-ea"/>
                <a:cs typeface="+mj-cs"/>
              </a:defRPr>
            </a:lvl1pPr>
          </a:lstStyle>
          <a:p>
            <a:pPr>
              <a:lnSpc>
                <a:spcPct val="110000"/>
              </a:lnSpc>
              <a:spcAft>
                <a:spcPts val="1200"/>
              </a:spcAft>
            </a:pPr>
            <a:r>
              <a:rPr lang="en-GB" sz="3200" dirty="0"/>
              <a:t>Data Exploration and Preparation</a:t>
            </a:r>
            <a:br>
              <a:rPr lang="en-GB" sz="3200" dirty="0"/>
            </a:br>
            <a:r>
              <a:rPr lang="en-GB" sz="3200" dirty="0"/>
              <a:t>Diploma in DAB – L7</a:t>
            </a:r>
            <a:br>
              <a:rPr lang="en-GB" sz="3200" dirty="0"/>
            </a:br>
            <a:r>
              <a:rPr lang="en-GB" sz="3200" dirty="0">
                <a:solidFill>
                  <a:schemeClr val="accent4">
                    <a:lumMod val="75000"/>
                  </a:schemeClr>
                </a:solidFill>
              </a:rPr>
              <a:t>CCT College Dublin</a:t>
            </a:r>
            <a:endParaRPr lang="en-GB" sz="3200"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653D9-BC83-E107-46BB-6F2C1134F8B4}"/>
              </a:ext>
            </a:extLst>
          </p:cNvPr>
          <p:cNvSpPr>
            <a:spLocks noGrp="1"/>
          </p:cNvSpPr>
          <p:nvPr>
            <p:ph type="title"/>
          </p:nvPr>
        </p:nvSpPr>
        <p:spPr>
          <a:xfrm>
            <a:off x="838201" y="24381"/>
            <a:ext cx="8900604" cy="1325563"/>
          </a:xfrm>
        </p:spPr>
        <p:txBody>
          <a:bodyPr/>
          <a:lstStyle/>
          <a:p>
            <a:r>
              <a:rPr lang="en-GB" dirty="0"/>
              <a:t>Outline</a:t>
            </a:r>
          </a:p>
        </p:txBody>
      </p:sp>
      <p:sp>
        <p:nvSpPr>
          <p:cNvPr id="3" name="Content Placeholder 2">
            <a:extLst>
              <a:ext uri="{FF2B5EF4-FFF2-40B4-BE49-F238E27FC236}">
                <a16:creationId xmlns:a16="http://schemas.microsoft.com/office/drawing/2014/main" id="{CAB622F8-0718-D96D-C70A-18475D785E81}"/>
              </a:ext>
            </a:extLst>
          </p:cNvPr>
          <p:cNvSpPr>
            <a:spLocks noGrp="1"/>
          </p:cNvSpPr>
          <p:nvPr>
            <p:ph idx="1"/>
          </p:nvPr>
        </p:nvSpPr>
        <p:spPr>
          <a:xfrm>
            <a:off x="964276" y="1438102"/>
            <a:ext cx="10389524" cy="4547062"/>
          </a:xfrm>
        </p:spPr>
        <p:txBody>
          <a:bodyPr>
            <a:normAutofit/>
          </a:bodyPr>
          <a:lstStyle/>
          <a:p>
            <a:pPr lvl="0">
              <a:lnSpc>
                <a:spcPct val="120000"/>
              </a:lnSpc>
              <a:spcBef>
                <a:spcPts val="600"/>
              </a:spcBef>
              <a:spcAft>
                <a:spcPts val="1200"/>
              </a:spcAft>
              <a:buClrTx/>
            </a:pPr>
            <a:r>
              <a:rPr lang="en-US" dirty="0">
                <a:latin typeface="Calibri" panose="020F0502020204030204" pitchFamily="34" charset="0"/>
                <a:ea typeface="Calibri" panose="020F0502020204030204" pitchFamily="34" charset="0"/>
                <a:cs typeface="Calibri" panose="020F0502020204030204" pitchFamily="34" charset="0"/>
              </a:rPr>
              <a:t>Exploratory Data Analysis (EDA)</a:t>
            </a:r>
          </a:p>
          <a:p>
            <a:pPr lvl="0">
              <a:lnSpc>
                <a:spcPct val="120000"/>
              </a:lnSpc>
              <a:spcBef>
                <a:spcPts val="600"/>
              </a:spcBef>
              <a:spcAft>
                <a:spcPts val="1200"/>
              </a:spcAft>
              <a:buClrTx/>
            </a:pPr>
            <a:r>
              <a:rPr lang="en-US" dirty="0">
                <a:latin typeface="Calibri" panose="020F0502020204030204" pitchFamily="34" charset="0"/>
                <a:ea typeface="Calibri" panose="020F0502020204030204" pitchFamily="34" charset="0"/>
                <a:cs typeface="Calibri" panose="020F0502020204030204" pitchFamily="34" charset="0"/>
              </a:rPr>
              <a:t>Purpose of EDA</a:t>
            </a:r>
          </a:p>
          <a:p>
            <a:pPr lvl="0">
              <a:lnSpc>
                <a:spcPct val="120000"/>
              </a:lnSpc>
              <a:spcBef>
                <a:spcPts val="600"/>
              </a:spcBef>
              <a:spcAft>
                <a:spcPts val="1200"/>
              </a:spcAft>
              <a:buClrTx/>
            </a:pPr>
            <a:r>
              <a:rPr lang="en-US" dirty="0">
                <a:latin typeface="Calibri" panose="020F0502020204030204" pitchFamily="34" charset="0"/>
                <a:ea typeface="Calibri" panose="020F0502020204030204" pitchFamily="34" charset="0"/>
                <a:cs typeface="Calibri" panose="020F0502020204030204" pitchFamily="34" charset="0"/>
              </a:rPr>
              <a:t>Data Exploration Methods</a:t>
            </a:r>
          </a:p>
          <a:p>
            <a:pPr lvl="0">
              <a:lnSpc>
                <a:spcPct val="120000"/>
              </a:lnSpc>
              <a:spcBef>
                <a:spcPts val="600"/>
              </a:spcBef>
              <a:spcAft>
                <a:spcPts val="1200"/>
              </a:spcAft>
              <a:buClrTx/>
            </a:pPr>
            <a:r>
              <a:rPr lang="en-US" dirty="0">
                <a:latin typeface="Calibri" panose="020F0502020204030204" pitchFamily="34" charset="0"/>
                <a:ea typeface="Calibri" panose="020F0502020204030204" pitchFamily="34" charset="0"/>
                <a:cs typeface="Calibri" panose="020F0502020204030204" pitchFamily="34" charset="0"/>
              </a:rPr>
              <a:t>Data Quality and Preparation</a:t>
            </a:r>
          </a:p>
          <a:p>
            <a:pPr lvl="0">
              <a:lnSpc>
                <a:spcPct val="120000"/>
              </a:lnSpc>
              <a:spcBef>
                <a:spcPts val="600"/>
              </a:spcBef>
              <a:spcAft>
                <a:spcPts val="1200"/>
              </a:spcAft>
              <a:buClrTx/>
            </a:pPr>
            <a:r>
              <a:rPr lang="en-US" dirty="0">
                <a:latin typeface="Calibri" panose="020F0502020204030204" pitchFamily="34" charset="0"/>
                <a:ea typeface="Calibri" panose="020F0502020204030204" pitchFamily="34" charset="0"/>
                <a:cs typeface="Calibri" panose="020F0502020204030204" pitchFamily="34" charset="0"/>
              </a:rPr>
              <a:t>Data Science Project: Planning</a:t>
            </a:r>
          </a:p>
          <a:p>
            <a:pPr lvl="0">
              <a:lnSpc>
                <a:spcPct val="120000"/>
              </a:lnSpc>
              <a:spcBef>
                <a:spcPts val="600"/>
              </a:spcBef>
              <a:spcAft>
                <a:spcPts val="1200"/>
              </a:spcAft>
              <a:buClrTx/>
            </a:pPr>
            <a:r>
              <a:rPr lang="en-US" dirty="0">
                <a:latin typeface="Calibri" panose="020F0502020204030204" pitchFamily="34" charset="0"/>
                <a:ea typeface="Calibri" panose="020F0502020204030204" pitchFamily="34" charset="0"/>
                <a:cs typeface="Calibri" panose="020F0502020204030204" pitchFamily="34" charset="0"/>
              </a:rPr>
              <a:t>CRISP-DM and SAMMA</a:t>
            </a:r>
          </a:p>
        </p:txBody>
      </p:sp>
      <p:sp>
        <p:nvSpPr>
          <p:cNvPr id="4" name="Slide Number Placeholder 3">
            <a:extLst>
              <a:ext uri="{FF2B5EF4-FFF2-40B4-BE49-F238E27FC236}">
                <a16:creationId xmlns:a16="http://schemas.microsoft.com/office/drawing/2014/main" id="{332A1B2B-D3B0-8236-5333-FD80B2383AB9}"/>
              </a:ext>
            </a:extLst>
          </p:cNvPr>
          <p:cNvSpPr>
            <a:spLocks noGrp="1"/>
          </p:cNvSpPr>
          <p:nvPr>
            <p:ph type="sldNum" sz="quarter" idx="12"/>
          </p:nvPr>
        </p:nvSpPr>
        <p:spPr/>
        <p:txBody>
          <a:bodyPr/>
          <a:lstStyle/>
          <a:p>
            <a:fld id="{6C8DB4F7-D883-4928-8961-38134A510B78}" type="slidenum">
              <a:rPr lang="en-GB" smtClean="0"/>
              <a:pPr/>
              <a:t>2</a:t>
            </a:fld>
            <a:endParaRPr lang="en-GB" b="0" dirty="0"/>
          </a:p>
        </p:txBody>
      </p:sp>
    </p:spTree>
    <p:extLst>
      <p:ext uri="{BB962C8B-B14F-4D97-AF65-F5344CB8AC3E}">
        <p14:creationId xmlns:p14="http://schemas.microsoft.com/office/powerpoint/2010/main" val="113517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BC674-FC14-0036-BA99-94EF7A0FFF34}"/>
              </a:ext>
            </a:extLst>
          </p:cNvPr>
          <p:cNvSpPr>
            <a:spLocks noGrp="1"/>
          </p:cNvSpPr>
          <p:nvPr>
            <p:ph type="title"/>
          </p:nvPr>
        </p:nvSpPr>
        <p:spPr/>
        <p:txBody>
          <a:bodyPr/>
          <a:lstStyle/>
          <a:p>
            <a:r>
              <a:rPr lang="en-GB" dirty="0"/>
              <a:t>Exploratory Data Analysis (EDA)</a:t>
            </a:r>
          </a:p>
        </p:txBody>
      </p:sp>
      <p:sp>
        <p:nvSpPr>
          <p:cNvPr id="3" name="Content Placeholder 2">
            <a:extLst>
              <a:ext uri="{FF2B5EF4-FFF2-40B4-BE49-F238E27FC236}">
                <a16:creationId xmlns:a16="http://schemas.microsoft.com/office/drawing/2014/main" id="{82ECFE5F-41E1-074C-700A-C6E99E3E0338}"/>
              </a:ext>
            </a:extLst>
          </p:cNvPr>
          <p:cNvSpPr>
            <a:spLocks noGrp="1"/>
          </p:cNvSpPr>
          <p:nvPr>
            <p:ph idx="1"/>
          </p:nvPr>
        </p:nvSpPr>
        <p:spPr>
          <a:xfrm>
            <a:off x="838200" y="1399822"/>
            <a:ext cx="10515600" cy="4810478"/>
          </a:xfrm>
        </p:spPr>
        <p:txBody>
          <a:bodyPr>
            <a:normAutofit fontScale="92500" lnSpcReduction="10000"/>
          </a:bodyPr>
          <a:lstStyle/>
          <a:p>
            <a:pPr lvl="0">
              <a:lnSpc>
                <a:spcPct val="100000"/>
              </a:lnSpc>
              <a:spcBef>
                <a:spcPts val="600"/>
              </a:spcBef>
              <a:spcAft>
                <a:spcPts val="1200"/>
              </a:spcAft>
            </a:pPr>
            <a:r>
              <a:rPr lang="en-GB" sz="2000" dirty="0"/>
              <a:t>EDA is the process of examining and investigating a dataset before formal modelling.</a:t>
            </a:r>
          </a:p>
          <a:p>
            <a:pPr lvl="0">
              <a:lnSpc>
                <a:spcPct val="100000"/>
              </a:lnSpc>
              <a:spcBef>
                <a:spcPts val="600"/>
              </a:spcBef>
              <a:spcAft>
                <a:spcPts val="1200"/>
              </a:spcAft>
            </a:pPr>
            <a:r>
              <a:rPr lang="en-GB" sz="2000" dirty="0"/>
              <a:t>It helps us understand the </a:t>
            </a:r>
            <a:r>
              <a:rPr lang="en-GB" sz="2000" b="1" dirty="0"/>
              <a:t>structure, quality and characteristics</a:t>
            </a:r>
            <a:r>
              <a:rPr lang="en-GB" sz="2000" dirty="0"/>
              <a:t> of the data.</a:t>
            </a:r>
          </a:p>
          <a:p>
            <a:pPr lvl="0">
              <a:lnSpc>
                <a:spcPct val="100000"/>
              </a:lnSpc>
              <a:spcBef>
                <a:spcPts val="600"/>
              </a:spcBef>
              <a:spcAft>
                <a:spcPts val="1200"/>
              </a:spcAft>
            </a:pPr>
            <a:r>
              <a:rPr lang="en-GB" sz="2000" dirty="0"/>
              <a:t>EDA is based on</a:t>
            </a:r>
          </a:p>
          <a:p>
            <a:pPr lvl="1">
              <a:lnSpc>
                <a:spcPct val="100000"/>
              </a:lnSpc>
              <a:spcBef>
                <a:spcPts val="600"/>
              </a:spcBef>
              <a:spcAft>
                <a:spcPts val="1200"/>
              </a:spcAft>
            </a:pPr>
            <a:r>
              <a:rPr lang="en-GB" sz="1800" dirty="0"/>
              <a:t>Descriptive statistics</a:t>
            </a:r>
          </a:p>
          <a:p>
            <a:pPr lvl="1">
              <a:lnSpc>
                <a:spcPct val="100000"/>
              </a:lnSpc>
              <a:spcBef>
                <a:spcPts val="600"/>
              </a:spcBef>
              <a:spcAft>
                <a:spcPts val="1200"/>
              </a:spcAft>
            </a:pPr>
            <a:r>
              <a:rPr lang="en-GB" sz="1800" dirty="0"/>
              <a:t>Data visualisation</a:t>
            </a:r>
          </a:p>
          <a:p>
            <a:pPr lvl="1">
              <a:lnSpc>
                <a:spcPct val="100000"/>
              </a:lnSpc>
              <a:spcBef>
                <a:spcPts val="600"/>
              </a:spcBef>
              <a:spcAft>
                <a:spcPts val="1200"/>
              </a:spcAft>
            </a:pPr>
            <a:r>
              <a:rPr lang="en-GB" sz="1800" dirty="0"/>
              <a:t>Data quality checking</a:t>
            </a:r>
          </a:p>
          <a:p>
            <a:pPr lvl="1">
              <a:lnSpc>
                <a:spcPct val="100000"/>
              </a:lnSpc>
              <a:spcBef>
                <a:spcPts val="600"/>
              </a:spcBef>
              <a:spcAft>
                <a:spcPts val="1200"/>
              </a:spcAft>
            </a:pPr>
            <a:r>
              <a:rPr lang="en-GB" sz="1800" dirty="0"/>
              <a:t>Identification of patterns and relationships</a:t>
            </a:r>
          </a:p>
          <a:p>
            <a:pPr lvl="0">
              <a:lnSpc>
                <a:spcPct val="100000"/>
              </a:lnSpc>
              <a:spcBef>
                <a:spcPts val="600"/>
              </a:spcBef>
              <a:spcAft>
                <a:spcPts val="1200"/>
              </a:spcAft>
            </a:pPr>
            <a:r>
              <a:rPr lang="en-GB" sz="2000" dirty="0"/>
              <a:t>The purpose is to move from </a:t>
            </a:r>
            <a:r>
              <a:rPr lang="en-GB" sz="2000" b="1" dirty="0"/>
              <a:t>raw data </a:t>
            </a:r>
            <a:r>
              <a:rPr lang="en-GB" sz="2000" b="1" dirty="0">
                <a:sym typeface="Wingdings" panose="05000000000000000000" pitchFamily="2" charset="2"/>
              </a:rPr>
              <a:t></a:t>
            </a:r>
            <a:r>
              <a:rPr lang="en-GB" sz="2000" b="1" dirty="0"/>
              <a:t> useful information </a:t>
            </a:r>
            <a:r>
              <a:rPr lang="en-GB" sz="2000" b="1" dirty="0">
                <a:sym typeface="Wingdings" panose="05000000000000000000" pitchFamily="2" charset="2"/>
              </a:rPr>
              <a:t></a:t>
            </a:r>
            <a:r>
              <a:rPr lang="en-GB" sz="2000" b="1" dirty="0"/>
              <a:t> informed decisions</a:t>
            </a:r>
            <a:r>
              <a:rPr lang="en-GB" sz="2000" dirty="0"/>
              <a:t>.</a:t>
            </a:r>
          </a:p>
          <a:p>
            <a:pPr lvl="0">
              <a:lnSpc>
                <a:spcPct val="100000"/>
              </a:lnSpc>
              <a:spcBef>
                <a:spcPts val="600"/>
              </a:spcBef>
              <a:spcAft>
                <a:spcPts val="1200"/>
              </a:spcAft>
            </a:pPr>
            <a:r>
              <a:rPr lang="en-GB" sz="2000" dirty="0"/>
              <a:t>EDA is closely connected to data understanding and data preparation.</a:t>
            </a:r>
          </a:p>
          <a:p>
            <a:pPr>
              <a:lnSpc>
                <a:spcPct val="100000"/>
              </a:lnSpc>
              <a:spcBef>
                <a:spcPts val="600"/>
              </a:spcBef>
              <a:spcAft>
                <a:spcPts val="1200"/>
              </a:spcAft>
            </a:pPr>
            <a:r>
              <a:rPr lang="en-GB" sz="2000" b="1" dirty="0"/>
              <a:t>Question:</a:t>
            </a:r>
            <a:r>
              <a:rPr lang="en-GB" sz="2000" dirty="0"/>
              <a:t> </a:t>
            </a:r>
            <a:r>
              <a:rPr lang="en-GB" sz="2000" i="1" dirty="0"/>
              <a:t>What is the data telling us, and how can we use that information?</a:t>
            </a:r>
            <a:endParaRPr lang="en-GB" sz="2000" dirty="0"/>
          </a:p>
        </p:txBody>
      </p:sp>
      <p:sp>
        <p:nvSpPr>
          <p:cNvPr id="4" name="Slide Number Placeholder 3">
            <a:extLst>
              <a:ext uri="{FF2B5EF4-FFF2-40B4-BE49-F238E27FC236}">
                <a16:creationId xmlns:a16="http://schemas.microsoft.com/office/drawing/2014/main" id="{A5A4976F-1E68-16C6-0A97-3D691BFA749A}"/>
              </a:ext>
            </a:extLst>
          </p:cNvPr>
          <p:cNvSpPr>
            <a:spLocks noGrp="1"/>
          </p:cNvSpPr>
          <p:nvPr>
            <p:ph type="sldNum" sz="quarter" idx="12"/>
          </p:nvPr>
        </p:nvSpPr>
        <p:spPr/>
        <p:txBody>
          <a:bodyPr/>
          <a:lstStyle/>
          <a:p>
            <a:fld id="{6C8DB4F7-D883-4928-8961-38134A510B78}" type="slidenum">
              <a:rPr lang="en-GB" smtClean="0"/>
              <a:pPr/>
              <a:t>3</a:t>
            </a:fld>
            <a:endParaRPr lang="en-GB" b="0" dirty="0"/>
          </a:p>
        </p:txBody>
      </p:sp>
    </p:spTree>
    <p:extLst>
      <p:ext uri="{BB962C8B-B14F-4D97-AF65-F5344CB8AC3E}">
        <p14:creationId xmlns:p14="http://schemas.microsoft.com/office/powerpoint/2010/main" val="3591499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FDF9-9E23-C7C5-3142-802C76DED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537F9-3BC0-6693-5857-1EF1931D6FFC}"/>
              </a:ext>
            </a:extLst>
          </p:cNvPr>
          <p:cNvSpPr>
            <a:spLocks noGrp="1"/>
          </p:cNvSpPr>
          <p:nvPr>
            <p:ph type="title"/>
          </p:nvPr>
        </p:nvSpPr>
        <p:spPr>
          <a:xfrm>
            <a:off x="838201" y="24381"/>
            <a:ext cx="8900604" cy="1230841"/>
          </a:xfrm>
        </p:spPr>
        <p:txBody>
          <a:bodyPr/>
          <a:lstStyle/>
          <a:p>
            <a:r>
              <a:rPr lang="en-GB" dirty="0"/>
              <a:t>Purpose of EDA</a:t>
            </a:r>
          </a:p>
        </p:txBody>
      </p:sp>
      <p:sp>
        <p:nvSpPr>
          <p:cNvPr id="3" name="Content Placeholder 2">
            <a:extLst>
              <a:ext uri="{FF2B5EF4-FFF2-40B4-BE49-F238E27FC236}">
                <a16:creationId xmlns:a16="http://schemas.microsoft.com/office/drawing/2014/main" id="{F8E39E16-B5C9-943F-A750-217DC95AA406}"/>
              </a:ext>
            </a:extLst>
          </p:cNvPr>
          <p:cNvSpPr>
            <a:spLocks noGrp="1"/>
          </p:cNvSpPr>
          <p:nvPr>
            <p:ph idx="1"/>
          </p:nvPr>
        </p:nvSpPr>
        <p:spPr>
          <a:xfrm>
            <a:off x="838200" y="1255222"/>
            <a:ext cx="10167851" cy="5208024"/>
          </a:xfrm>
        </p:spPr>
        <p:txBody>
          <a:bodyPr>
            <a:normAutofit lnSpcReduction="10000"/>
          </a:bodyPr>
          <a:lstStyle/>
          <a:p>
            <a:pPr>
              <a:spcBef>
                <a:spcPts val="600"/>
              </a:spcBef>
              <a:spcAft>
                <a:spcPts val="600"/>
              </a:spcAft>
            </a:pPr>
            <a:r>
              <a:rPr lang="en-GB" sz="2000" dirty="0"/>
              <a:t>Before analysing or modelling data, we need to understand the following </a:t>
            </a:r>
          </a:p>
          <a:p>
            <a:pPr>
              <a:spcBef>
                <a:spcPts val="600"/>
              </a:spcBef>
              <a:spcAft>
                <a:spcPts val="600"/>
              </a:spcAft>
            </a:pPr>
            <a:r>
              <a:rPr lang="en-GB" sz="2000" dirty="0"/>
              <a:t>EDA can help us to identify</a:t>
            </a:r>
          </a:p>
          <a:p>
            <a:pPr marL="1074738" lvl="0" indent="-355600">
              <a:spcBef>
                <a:spcPts val="600"/>
              </a:spcBef>
              <a:spcAft>
                <a:spcPts val="600"/>
              </a:spcAft>
            </a:pPr>
            <a:r>
              <a:rPr lang="en-GB" sz="2000" dirty="0"/>
              <a:t>Missing and Incorrect or inconsistent values</a:t>
            </a:r>
          </a:p>
          <a:p>
            <a:pPr marL="1074738" lvl="0" indent="-355600">
              <a:spcBef>
                <a:spcPts val="600"/>
              </a:spcBef>
              <a:spcAft>
                <a:spcPts val="600"/>
              </a:spcAft>
            </a:pPr>
            <a:r>
              <a:rPr lang="en-GB" sz="2000" dirty="0"/>
              <a:t>Duplicate observations</a:t>
            </a:r>
          </a:p>
          <a:p>
            <a:pPr marL="1074738" lvl="0" indent="-355600">
              <a:spcBef>
                <a:spcPts val="600"/>
              </a:spcBef>
              <a:spcAft>
                <a:spcPts val="600"/>
              </a:spcAft>
            </a:pPr>
            <a:r>
              <a:rPr lang="en-GB" sz="2000" dirty="0"/>
              <a:t>Unusual observations or outliers</a:t>
            </a:r>
          </a:p>
          <a:p>
            <a:pPr marL="1074738" lvl="0" indent="-355600">
              <a:spcBef>
                <a:spcPts val="600"/>
              </a:spcBef>
              <a:spcAft>
                <a:spcPts val="600"/>
              </a:spcAft>
            </a:pPr>
            <a:r>
              <a:rPr lang="en-GB" sz="2000" dirty="0"/>
              <a:t>Distribution of variables</a:t>
            </a:r>
          </a:p>
          <a:p>
            <a:pPr marL="1074738" lvl="0" indent="-355600">
              <a:spcBef>
                <a:spcPts val="600"/>
              </a:spcBef>
              <a:spcAft>
                <a:spcPts val="600"/>
              </a:spcAft>
            </a:pPr>
            <a:r>
              <a:rPr lang="en-GB" sz="2000" dirty="0"/>
              <a:t>Relationships between variables</a:t>
            </a:r>
          </a:p>
          <a:p>
            <a:pPr>
              <a:spcBef>
                <a:spcPts val="600"/>
              </a:spcBef>
              <a:spcAft>
                <a:spcPts val="600"/>
              </a:spcAft>
            </a:pPr>
            <a:r>
              <a:rPr lang="en-GB" sz="2000" dirty="0"/>
              <a:t>For example, in a student dataset, we might ask</a:t>
            </a:r>
          </a:p>
          <a:p>
            <a:pPr marL="1074738" lvl="0" indent="-355600">
              <a:spcBef>
                <a:spcPts val="600"/>
              </a:spcBef>
              <a:spcAft>
                <a:spcPts val="600"/>
              </a:spcAft>
            </a:pPr>
            <a:r>
              <a:rPr lang="en-GB" sz="2000" dirty="0"/>
              <a:t>Are enrolments increasing in the courses of not?</a:t>
            </a:r>
          </a:p>
          <a:p>
            <a:pPr marL="1074738" lvl="0" indent="-355600">
              <a:spcBef>
                <a:spcPts val="600"/>
              </a:spcBef>
              <a:spcAft>
                <a:spcPts val="600"/>
              </a:spcAft>
            </a:pPr>
            <a:r>
              <a:rPr lang="en-GB" sz="2000" dirty="0"/>
              <a:t>Which programmes have the most students?</a:t>
            </a:r>
          </a:p>
          <a:p>
            <a:pPr marL="1074738" lvl="0" indent="-355600">
              <a:spcBef>
                <a:spcPts val="600"/>
              </a:spcBef>
              <a:spcAft>
                <a:spcPts val="600"/>
              </a:spcAft>
            </a:pPr>
            <a:r>
              <a:rPr lang="en-GB" sz="2000" dirty="0"/>
              <a:t>Is student satisfaction changing?</a:t>
            </a:r>
          </a:p>
          <a:p>
            <a:pPr>
              <a:spcBef>
                <a:spcPts val="600"/>
              </a:spcBef>
              <a:spcAft>
                <a:spcPts val="600"/>
              </a:spcAft>
            </a:pPr>
            <a:r>
              <a:rPr lang="en-GB" sz="2000" dirty="0"/>
              <a:t>CRISP-DM guidance places exploration of data quality, tables and graphics within the </a:t>
            </a:r>
            <a:r>
              <a:rPr lang="en-GB" sz="2000" b="1" dirty="0"/>
              <a:t>Data Understanding</a:t>
            </a:r>
            <a:r>
              <a:rPr lang="en-GB" sz="2000" dirty="0"/>
              <a:t> phase. </a:t>
            </a:r>
          </a:p>
        </p:txBody>
      </p:sp>
      <p:sp>
        <p:nvSpPr>
          <p:cNvPr id="4" name="Slide Number Placeholder 3">
            <a:extLst>
              <a:ext uri="{FF2B5EF4-FFF2-40B4-BE49-F238E27FC236}">
                <a16:creationId xmlns:a16="http://schemas.microsoft.com/office/drawing/2014/main" id="{F46739FB-4902-3854-8731-016513CFE052}"/>
              </a:ext>
            </a:extLst>
          </p:cNvPr>
          <p:cNvSpPr>
            <a:spLocks noGrp="1"/>
          </p:cNvSpPr>
          <p:nvPr>
            <p:ph type="sldNum" sz="quarter" idx="12"/>
          </p:nvPr>
        </p:nvSpPr>
        <p:spPr/>
        <p:txBody>
          <a:bodyPr/>
          <a:lstStyle/>
          <a:p>
            <a:fld id="{6C8DB4F7-D883-4928-8961-38134A510B78}" type="slidenum">
              <a:rPr lang="en-GB" smtClean="0"/>
              <a:pPr/>
              <a:t>4</a:t>
            </a:fld>
            <a:endParaRPr lang="en-GB" b="0" dirty="0"/>
          </a:p>
        </p:txBody>
      </p:sp>
    </p:spTree>
    <p:extLst>
      <p:ext uri="{BB962C8B-B14F-4D97-AF65-F5344CB8AC3E}">
        <p14:creationId xmlns:p14="http://schemas.microsoft.com/office/powerpoint/2010/main" val="2114842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6F0B1-B30C-2A6E-A4C4-4D5EB36F4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99B14-9F96-68B2-77DA-D66D38FADD68}"/>
              </a:ext>
            </a:extLst>
          </p:cNvPr>
          <p:cNvSpPr>
            <a:spLocks noGrp="1"/>
          </p:cNvSpPr>
          <p:nvPr>
            <p:ph type="title"/>
          </p:nvPr>
        </p:nvSpPr>
        <p:spPr>
          <a:xfrm>
            <a:off x="838201" y="16068"/>
            <a:ext cx="8900604" cy="1205903"/>
          </a:xfrm>
        </p:spPr>
        <p:txBody>
          <a:bodyPr/>
          <a:lstStyle/>
          <a:p>
            <a:r>
              <a:rPr lang="en-GB" dirty="0"/>
              <a:t>Data Exploration Methods</a:t>
            </a:r>
          </a:p>
        </p:txBody>
      </p:sp>
      <p:sp>
        <p:nvSpPr>
          <p:cNvPr id="3" name="Content Placeholder 2">
            <a:extLst>
              <a:ext uri="{FF2B5EF4-FFF2-40B4-BE49-F238E27FC236}">
                <a16:creationId xmlns:a16="http://schemas.microsoft.com/office/drawing/2014/main" id="{2D9175A8-FF1B-49F2-5CCC-6184387C852E}"/>
              </a:ext>
            </a:extLst>
          </p:cNvPr>
          <p:cNvSpPr>
            <a:spLocks noGrp="1"/>
          </p:cNvSpPr>
          <p:nvPr>
            <p:ph idx="1"/>
          </p:nvPr>
        </p:nvSpPr>
        <p:spPr>
          <a:xfrm>
            <a:off x="838200" y="1321725"/>
            <a:ext cx="10515599" cy="5299208"/>
          </a:xfrm>
        </p:spPr>
        <p:txBody>
          <a:bodyPr>
            <a:normAutofit fontScale="62500" lnSpcReduction="20000"/>
          </a:bodyPr>
          <a:lstStyle/>
          <a:p>
            <a:pPr>
              <a:lnSpc>
                <a:spcPct val="120000"/>
              </a:lnSpc>
              <a:spcBef>
                <a:spcPts val="600"/>
              </a:spcBef>
              <a:spcAft>
                <a:spcPts val="900"/>
              </a:spcAft>
            </a:pPr>
            <a:r>
              <a:rPr lang="en-GB" b="1" dirty="0"/>
              <a:t>EDA</a:t>
            </a:r>
            <a:r>
              <a:rPr lang="en-GB" dirty="0"/>
              <a:t> normally combines </a:t>
            </a:r>
            <a:r>
              <a:rPr lang="en-GB" b="1" dirty="0"/>
              <a:t>numerical summaries and visualisation</a:t>
            </a:r>
            <a:r>
              <a:rPr lang="en-GB" dirty="0"/>
              <a:t>.</a:t>
            </a:r>
          </a:p>
          <a:p>
            <a:pPr>
              <a:lnSpc>
                <a:spcPct val="120000"/>
              </a:lnSpc>
              <a:spcBef>
                <a:spcPts val="600"/>
              </a:spcBef>
              <a:spcAft>
                <a:spcPts val="900"/>
              </a:spcAft>
            </a:pPr>
            <a:r>
              <a:rPr lang="en-GB" b="1" dirty="0"/>
              <a:t>Numerical techniques: </a:t>
            </a:r>
            <a:r>
              <a:rPr lang="en-GB" dirty="0"/>
              <a:t>Mean, Median, Mode, Minimum and maximum, Standard deviation, Frequency counts and Correlation</a:t>
            </a:r>
          </a:p>
          <a:p>
            <a:pPr>
              <a:lnSpc>
                <a:spcPct val="120000"/>
              </a:lnSpc>
              <a:spcBef>
                <a:spcPts val="600"/>
              </a:spcBef>
              <a:spcAft>
                <a:spcPts val="900"/>
              </a:spcAft>
            </a:pPr>
            <a:r>
              <a:rPr lang="en-GB" sz="3200" b="1" dirty="0">
                <a:solidFill>
                  <a:schemeClr val="accent4">
                    <a:lumMod val="75000"/>
                  </a:schemeClr>
                </a:solidFill>
              </a:rPr>
              <a:t>Visual Techniques:</a:t>
            </a:r>
            <a:endParaRPr lang="en-GB" sz="3200" dirty="0">
              <a:solidFill>
                <a:schemeClr val="accent4">
                  <a:lumMod val="75000"/>
                </a:schemeClr>
              </a:solidFill>
            </a:endParaRPr>
          </a:p>
          <a:p>
            <a:pPr lvl="0">
              <a:lnSpc>
                <a:spcPct val="120000"/>
              </a:lnSpc>
              <a:spcBef>
                <a:spcPts val="600"/>
              </a:spcBef>
              <a:spcAft>
                <a:spcPts val="900"/>
              </a:spcAft>
            </a:pPr>
            <a:r>
              <a:rPr lang="en-GB" dirty="0"/>
              <a:t>Histograms </a:t>
            </a:r>
            <a:r>
              <a:rPr lang="en-GB" dirty="0">
                <a:sym typeface="Wingdings" panose="05000000000000000000" pitchFamily="2" charset="2"/>
              </a:rPr>
              <a:t></a:t>
            </a:r>
            <a:r>
              <a:rPr lang="en-GB" dirty="0"/>
              <a:t> examine distributions</a:t>
            </a:r>
          </a:p>
          <a:p>
            <a:pPr>
              <a:lnSpc>
                <a:spcPct val="120000"/>
              </a:lnSpc>
              <a:spcBef>
                <a:spcPts val="600"/>
              </a:spcBef>
              <a:spcAft>
                <a:spcPts val="900"/>
              </a:spcAft>
            </a:pPr>
            <a:r>
              <a:rPr lang="en-GB" dirty="0"/>
              <a:t>Box plots </a:t>
            </a:r>
            <a:r>
              <a:rPr lang="en-GB" dirty="0">
                <a:sym typeface="Wingdings" panose="05000000000000000000" pitchFamily="2" charset="2"/>
              </a:rPr>
              <a:t></a:t>
            </a:r>
            <a:r>
              <a:rPr lang="en-GB" dirty="0"/>
              <a:t> identify spread and possible outliers</a:t>
            </a:r>
          </a:p>
          <a:p>
            <a:pPr>
              <a:lnSpc>
                <a:spcPct val="120000"/>
              </a:lnSpc>
              <a:spcBef>
                <a:spcPts val="600"/>
              </a:spcBef>
              <a:spcAft>
                <a:spcPts val="900"/>
              </a:spcAft>
            </a:pPr>
            <a:r>
              <a:rPr lang="en-GB" dirty="0"/>
              <a:t>Bar charts </a:t>
            </a:r>
            <a:r>
              <a:rPr lang="en-GB" dirty="0">
                <a:sym typeface="Wingdings" panose="05000000000000000000" pitchFamily="2" charset="2"/>
              </a:rPr>
              <a:t></a:t>
            </a:r>
            <a:r>
              <a:rPr lang="en-GB" dirty="0"/>
              <a:t> compare categories</a:t>
            </a:r>
          </a:p>
          <a:p>
            <a:pPr>
              <a:lnSpc>
                <a:spcPct val="120000"/>
              </a:lnSpc>
              <a:spcBef>
                <a:spcPts val="600"/>
              </a:spcBef>
              <a:spcAft>
                <a:spcPts val="900"/>
              </a:spcAft>
            </a:pPr>
            <a:r>
              <a:rPr lang="en-GB" dirty="0"/>
              <a:t>Scatter plots </a:t>
            </a:r>
            <a:r>
              <a:rPr lang="en-GB" dirty="0">
                <a:sym typeface="Wingdings" panose="05000000000000000000" pitchFamily="2" charset="2"/>
              </a:rPr>
              <a:t></a:t>
            </a:r>
            <a:r>
              <a:rPr lang="en-GB" dirty="0"/>
              <a:t> investigate relationships</a:t>
            </a:r>
          </a:p>
          <a:p>
            <a:pPr>
              <a:lnSpc>
                <a:spcPct val="120000"/>
              </a:lnSpc>
              <a:spcBef>
                <a:spcPts val="600"/>
              </a:spcBef>
              <a:spcAft>
                <a:spcPts val="900"/>
              </a:spcAft>
            </a:pPr>
            <a:r>
              <a:rPr lang="en-GB" dirty="0"/>
              <a:t>Line charts </a:t>
            </a:r>
            <a:r>
              <a:rPr lang="en-GB" dirty="0">
                <a:sym typeface="Wingdings" panose="05000000000000000000" pitchFamily="2" charset="2"/>
              </a:rPr>
              <a:t></a:t>
            </a:r>
            <a:r>
              <a:rPr lang="en-GB" dirty="0"/>
              <a:t> examine trends over time</a:t>
            </a:r>
          </a:p>
          <a:p>
            <a:pPr>
              <a:lnSpc>
                <a:spcPct val="120000"/>
              </a:lnSpc>
              <a:spcBef>
                <a:spcPts val="600"/>
              </a:spcBef>
              <a:spcAft>
                <a:spcPts val="900"/>
              </a:spcAft>
            </a:pPr>
            <a:r>
              <a:rPr lang="en-GB" dirty="0"/>
              <a:t>Pair plots </a:t>
            </a:r>
            <a:r>
              <a:rPr lang="en-GB" dirty="0">
                <a:sym typeface="Wingdings" panose="05000000000000000000" pitchFamily="2" charset="2"/>
              </a:rPr>
              <a:t></a:t>
            </a:r>
            <a:r>
              <a:rPr lang="en-GB" dirty="0"/>
              <a:t> compare several numerical variables</a:t>
            </a:r>
          </a:p>
          <a:p>
            <a:pPr>
              <a:lnSpc>
                <a:spcPct val="120000"/>
              </a:lnSpc>
              <a:spcBef>
                <a:spcPts val="600"/>
              </a:spcBef>
              <a:spcAft>
                <a:spcPts val="900"/>
              </a:spcAft>
            </a:pPr>
            <a:r>
              <a:rPr lang="en-GB" dirty="0"/>
              <a:t>A graph should help to answer a question rather than simply make the analysis.</a:t>
            </a:r>
          </a:p>
          <a:p>
            <a:pPr>
              <a:lnSpc>
                <a:spcPct val="120000"/>
              </a:lnSpc>
              <a:spcBef>
                <a:spcPts val="600"/>
              </a:spcBef>
              <a:spcAft>
                <a:spcPts val="900"/>
              </a:spcAft>
            </a:pPr>
            <a:endParaRPr lang="en-GB" dirty="0"/>
          </a:p>
        </p:txBody>
      </p:sp>
      <p:sp>
        <p:nvSpPr>
          <p:cNvPr id="4" name="Slide Number Placeholder 3">
            <a:extLst>
              <a:ext uri="{FF2B5EF4-FFF2-40B4-BE49-F238E27FC236}">
                <a16:creationId xmlns:a16="http://schemas.microsoft.com/office/drawing/2014/main" id="{35B97C57-1B5D-73DD-DA7E-8E1F46C6918E}"/>
              </a:ext>
            </a:extLst>
          </p:cNvPr>
          <p:cNvSpPr>
            <a:spLocks noGrp="1"/>
          </p:cNvSpPr>
          <p:nvPr>
            <p:ph type="sldNum" sz="quarter" idx="12"/>
          </p:nvPr>
        </p:nvSpPr>
        <p:spPr/>
        <p:txBody>
          <a:bodyPr/>
          <a:lstStyle/>
          <a:p>
            <a:fld id="{6C8DB4F7-D883-4928-8961-38134A510B78}" type="slidenum">
              <a:rPr lang="en-GB" smtClean="0"/>
              <a:pPr/>
              <a:t>5</a:t>
            </a:fld>
            <a:endParaRPr lang="en-GB" b="0" dirty="0"/>
          </a:p>
        </p:txBody>
      </p:sp>
    </p:spTree>
    <p:extLst>
      <p:ext uri="{BB962C8B-B14F-4D97-AF65-F5344CB8AC3E}">
        <p14:creationId xmlns:p14="http://schemas.microsoft.com/office/powerpoint/2010/main" val="1337640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A0E4-3303-7B41-45B1-C6646DCC6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01518-A7A0-A2DA-120A-B8C6C1BA42C8}"/>
              </a:ext>
            </a:extLst>
          </p:cNvPr>
          <p:cNvSpPr>
            <a:spLocks noGrp="1"/>
          </p:cNvSpPr>
          <p:nvPr>
            <p:ph type="title"/>
          </p:nvPr>
        </p:nvSpPr>
        <p:spPr>
          <a:xfrm>
            <a:off x="838201" y="7755"/>
            <a:ext cx="8900604" cy="1325563"/>
          </a:xfrm>
        </p:spPr>
        <p:txBody>
          <a:bodyPr/>
          <a:lstStyle/>
          <a:p>
            <a:r>
              <a:rPr lang="en-US" dirty="0"/>
              <a:t>Data Quality and Preparation</a:t>
            </a:r>
            <a:endParaRPr lang="en-GB" dirty="0"/>
          </a:p>
        </p:txBody>
      </p:sp>
      <p:sp>
        <p:nvSpPr>
          <p:cNvPr id="3" name="Content Placeholder 2">
            <a:extLst>
              <a:ext uri="{FF2B5EF4-FFF2-40B4-BE49-F238E27FC236}">
                <a16:creationId xmlns:a16="http://schemas.microsoft.com/office/drawing/2014/main" id="{E10370A8-302A-EB35-92E5-C807D9DFE3E4}"/>
              </a:ext>
            </a:extLst>
          </p:cNvPr>
          <p:cNvSpPr>
            <a:spLocks noGrp="1"/>
          </p:cNvSpPr>
          <p:nvPr>
            <p:ph idx="1"/>
          </p:nvPr>
        </p:nvSpPr>
        <p:spPr>
          <a:xfrm>
            <a:off x="838200" y="1399822"/>
            <a:ext cx="10515599" cy="4975578"/>
          </a:xfrm>
        </p:spPr>
        <p:txBody>
          <a:bodyPr>
            <a:normAutofit lnSpcReduction="10000"/>
          </a:bodyPr>
          <a:lstStyle/>
          <a:p>
            <a:pPr>
              <a:lnSpc>
                <a:spcPct val="110000"/>
              </a:lnSpc>
              <a:spcBef>
                <a:spcPts val="600"/>
              </a:spcBef>
              <a:spcAft>
                <a:spcPts val="600"/>
              </a:spcAft>
            </a:pPr>
            <a:r>
              <a:rPr lang="en-US" sz="1800" dirty="0"/>
              <a:t>The data analysis depends on good-quality data. Common data-quality issues include</a:t>
            </a:r>
          </a:p>
          <a:p>
            <a:pPr marL="1074738" indent="-355600">
              <a:lnSpc>
                <a:spcPct val="110000"/>
              </a:lnSpc>
              <a:spcBef>
                <a:spcPts val="600"/>
              </a:spcBef>
              <a:spcAft>
                <a:spcPts val="600"/>
              </a:spcAft>
            </a:pPr>
            <a:r>
              <a:rPr lang="en-US" sz="1800" dirty="0"/>
              <a:t>Missing values</a:t>
            </a:r>
          </a:p>
          <a:p>
            <a:pPr marL="1074738" indent="-355600">
              <a:lnSpc>
                <a:spcPct val="110000"/>
              </a:lnSpc>
              <a:spcBef>
                <a:spcPts val="600"/>
              </a:spcBef>
              <a:spcAft>
                <a:spcPts val="600"/>
              </a:spcAft>
            </a:pPr>
            <a:r>
              <a:rPr lang="en-US" sz="1800" dirty="0"/>
              <a:t>Duplicate records</a:t>
            </a:r>
          </a:p>
          <a:p>
            <a:pPr marL="1074738" indent="-355600">
              <a:lnSpc>
                <a:spcPct val="110000"/>
              </a:lnSpc>
              <a:spcBef>
                <a:spcPts val="600"/>
              </a:spcBef>
              <a:spcAft>
                <a:spcPts val="600"/>
              </a:spcAft>
            </a:pPr>
            <a:r>
              <a:rPr lang="en-US" sz="1800" dirty="0"/>
              <a:t>Incorrect data types</a:t>
            </a:r>
          </a:p>
          <a:p>
            <a:pPr marL="1074738" indent="-355600">
              <a:lnSpc>
                <a:spcPct val="110000"/>
              </a:lnSpc>
              <a:spcBef>
                <a:spcPts val="600"/>
              </a:spcBef>
              <a:spcAft>
                <a:spcPts val="600"/>
              </a:spcAft>
            </a:pPr>
            <a:r>
              <a:rPr lang="en-US" sz="1800" dirty="0"/>
              <a:t>Inconsistent categories</a:t>
            </a:r>
          </a:p>
          <a:p>
            <a:pPr marL="1074738" indent="-355600">
              <a:lnSpc>
                <a:spcPct val="110000"/>
              </a:lnSpc>
              <a:spcBef>
                <a:spcPts val="600"/>
              </a:spcBef>
              <a:spcAft>
                <a:spcPts val="600"/>
              </a:spcAft>
            </a:pPr>
            <a:r>
              <a:rPr lang="en-US" sz="1800" dirty="0"/>
              <a:t>Outliers</a:t>
            </a:r>
          </a:p>
          <a:p>
            <a:pPr marL="1074738" indent="-355600">
              <a:lnSpc>
                <a:spcPct val="110000"/>
              </a:lnSpc>
              <a:spcBef>
                <a:spcPts val="600"/>
              </a:spcBef>
              <a:spcAft>
                <a:spcPts val="600"/>
              </a:spcAft>
            </a:pPr>
            <a:r>
              <a:rPr lang="en-US" sz="1800" dirty="0"/>
              <a:t>Invalid values</a:t>
            </a:r>
          </a:p>
          <a:p>
            <a:pPr marL="1074738" indent="-355600">
              <a:lnSpc>
                <a:spcPct val="110000"/>
              </a:lnSpc>
              <a:spcBef>
                <a:spcPts val="600"/>
              </a:spcBef>
              <a:spcAft>
                <a:spcPts val="600"/>
              </a:spcAft>
            </a:pPr>
            <a:r>
              <a:rPr lang="en-US" sz="1800" dirty="0"/>
              <a:t>Different measurement formats</a:t>
            </a:r>
          </a:p>
          <a:p>
            <a:pPr>
              <a:lnSpc>
                <a:spcPct val="110000"/>
              </a:lnSpc>
              <a:spcBef>
                <a:spcPts val="600"/>
              </a:spcBef>
              <a:spcAft>
                <a:spcPts val="600"/>
              </a:spcAft>
            </a:pPr>
            <a:r>
              <a:rPr lang="en-US" sz="2000" b="1" dirty="0">
                <a:solidFill>
                  <a:schemeClr val="accent4">
                    <a:lumMod val="75000"/>
                  </a:schemeClr>
                </a:solidFill>
              </a:rPr>
              <a:t>Examples of Preparation:</a:t>
            </a:r>
          </a:p>
          <a:p>
            <a:pPr>
              <a:lnSpc>
                <a:spcPct val="110000"/>
              </a:lnSpc>
              <a:spcBef>
                <a:spcPts val="600"/>
              </a:spcBef>
              <a:spcAft>
                <a:spcPts val="600"/>
              </a:spcAft>
            </a:pPr>
            <a:r>
              <a:rPr lang="en-US" sz="1800" dirty="0"/>
              <a:t>The choice of method should be justified, because changing or imputing data can affect later analysis. IBM notes that data quality can influence model quality and identifies data assessment and preparation as important early stages of CRISP-DM.</a:t>
            </a:r>
            <a:endParaRPr lang="en-GB" sz="1800" dirty="0"/>
          </a:p>
        </p:txBody>
      </p:sp>
      <p:sp>
        <p:nvSpPr>
          <p:cNvPr id="4" name="Slide Number Placeholder 3">
            <a:extLst>
              <a:ext uri="{FF2B5EF4-FFF2-40B4-BE49-F238E27FC236}">
                <a16:creationId xmlns:a16="http://schemas.microsoft.com/office/drawing/2014/main" id="{F031FA20-9D61-7E0D-9F21-44C70B098C94}"/>
              </a:ext>
            </a:extLst>
          </p:cNvPr>
          <p:cNvSpPr>
            <a:spLocks noGrp="1"/>
          </p:cNvSpPr>
          <p:nvPr>
            <p:ph type="sldNum" sz="quarter" idx="12"/>
          </p:nvPr>
        </p:nvSpPr>
        <p:spPr/>
        <p:txBody>
          <a:bodyPr/>
          <a:lstStyle/>
          <a:p>
            <a:fld id="{6C8DB4F7-D883-4928-8961-38134A510B78}" type="slidenum">
              <a:rPr lang="en-GB" smtClean="0"/>
              <a:pPr/>
              <a:t>6</a:t>
            </a:fld>
            <a:endParaRPr lang="en-GB" b="0" dirty="0"/>
          </a:p>
        </p:txBody>
      </p:sp>
      <p:sp>
        <p:nvSpPr>
          <p:cNvPr id="6" name="TextBox 5">
            <a:extLst>
              <a:ext uri="{FF2B5EF4-FFF2-40B4-BE49-F238E27FC236}">
                <a16:creationId xmlns:a16="http://schemas.microsoft.com/office/drawing/2014/main" id="{045DA4D3-E120-8096-755D-2D1E7112E73F}"/>
              </a:ext>
            </a:extLst>
          </p:cNvPr>
          <p:cNvSpPr txBox="1"/>
          <p:nvPr/>
        </p:nvSpPr>
        <p:spPr>
          <a:xfrm>
            <a:off x="7155873" y="2205154"/>
            <a:ext cx="4197926" cy="2677656"/>
          </a:xfrm>
          <a:prstGeom prst="rect">
            <a:avLst/>
          </a:prstGeom>
          <a:solidFill>
            <a:schemeClr val="accent5">
              <a:lumMod val="20000"/>
              <a:lumOff val="80000"/>
            </a:schemeClr>
          </a:solidFill>
        </p:spPr>
        <p:txBody>
          <a:bodyPr wrap="square">
            <a:spAutoFit/>
          </a:bodyPr>
          <a:lstStyle/>
          <a:p>
            <a:r>
              <a:rPr lang="en-GB" sz="1400" b="1" dirty="0">
                <a:latin typeface="Consolas" panose="020B0609020204030204" pitchFamily="49" charset="0"/>
              </a:rPr>
              <a:t># Mean imputation</a:t>
            </a:r>
          </a:p>
          <a:p>
            <a:r>
              <a:rPr lang="en-GB" sz="1400" b="1" dirty="0" err="1">
                <a:latin typeface="Consolas" panose="020B0609020204030204" pitchFamily="49" charset="0"/>
              </a:rPr>
              <a:t>df</a:t>
            </a:r>
            <a:r>
              <a:rPr lang="en-GB" sz="1400" b="1" dirty="0">
                <a:latin typeface="Consolas" panose="020B0609020204030204" pitchFamily="49" charset="0"/>
              </a:rPr>
              <a:t>["</a:t>
            </a:r>
            <a:r>
              <a:rPr lang="en-GB" sz="1400" b="1" dirty="0" err="1">
                <a:latin typeface="Consolas" panose="020B0609020204030204" pitchFamily="49" charset="0"/>
              </a:rPr>
              <a:t>Average_Mark</a:t>
            </a:r>
            <a:r>
              <a:rPr lang="en-GB" sz="1400" b="1" dirty="0">
                <a:latin typeface="Consolas" panose="020B0609020204030204" pitchFamily="49" charset="0"/>
              </a:rPr>
              <a:t>"].</a:t>
            </a:r>
            <a:r>
              <a:rPr lang="en-GB" sz="1400" b="1" dirty="0" err="1">
                <a:latin typeface="Consolas" panose="020B0609020204030204" pitchFamily="49" charset="0"/>
              </a:rPr>
              <a:t>fillna</a:t>
            </a:r>
            <a:r>
              <a:rPr lang="en-GB" sz="1400" b="1" dirty="0">
                <a:latin typeface="Consolas" panose="020B0609020204030204" pitchFamily="49" charset="0"/>
              </a:rPr>
              <a:t>(</a:t>
            </a:r>
          </a:p>
          <a:p>
            <a:r>
              <a:rPr lang="en-GB" sz="1400" b="1" dirty="0">
                <a:latin typeface="Consolas" panose="020B0609020204030204" pitchFamily="49" charset="0"/>
              </a:rPr>
              <a:t>    </a:t>
            </a:r>
            <a:r>
              <a:rPr lang="en-GB" sz="1400" b="1" dirty="0" err="1">
                <a:latin typeface="Consolas" panose="020B0609020204030204" pitchFamily="49" charset="0"/>
              </a:rPr>
              <a:t>df</a:t>
            </a:r>
            <a:r>
              <a:rPr lang="en-GB" sz="1400" b="1" dirty="0">
                <a:latin typeface="Consolas" panose="020B0609020204030204" pitchFamily="49" charset="0"/>
              </a:rPr>
              <a:t>["</a:t>
            </a:r>
            <a:r>
              <a:rPr lang="en-GB" sz="1400" b="1" dirty="0" err="1">
                <a:latin typeface="Consolas" panose="020B0609020204030204" pitchFamily="49" charset="0"/>
              </a:rPr>
              <a:t>Average_Mark</a:t>
            </a:r>
            <a:r>
              <a:rPr lang="en-GB" sz="1400" b="1" dirty="0">
                <a:latin typeface="Consolas" panose="020B0609020204030204" pitchFamily="49" charset="0"/>
              </a:rPr>
              <a:t>"].mean()</a:t>
            </a:r>
          </a:p>
          <a:p>
            <a:r>
              <a:rPr lang="en-GB" sz="1400" b="1" dirty="0">
                <a:latin typeface="Consolas" panose="020B0609020204030204" pitchFamily="49" charset="0"/>
              </a:rPr>
              <a:t>)</a:t>
            </a:r>
          </a:p>
          <a:p>
            <a:r>
              <a:rPr lang="en-GB" sz="1400" b="1" dirty="0">
                <a:latin typeface="Consolas" panose="020B0609020204030204" pitchFamily="49" charset="0"/>
              </a:rPr>
              <a:t># Median imputation</a:t>
            </a:r>
          </a:p>
          <a:p>
            <a:r>
              <a:rPr lang="en-GB" sz="1400" b="1" dirty="0" err="1">
                <a:latin typeface="Consolas" panose="020B0609020204030204" pitchFamily="49" charset="0"/>
              </a:rPr>
              <a:t>df</a:t>
            </a:r>
            <a:r>
              <a:rPr lang="en-GB" sz="1400" b="1" dirty="0">
                <a:latin typeface="Consolas" panose="020B0609020204030204" pitchFamily="49" charset="0"/>
              </a:rPr>
              <a:t>["</a:t>
            </a:r>
            <a:r>
              <a:rPr lang="en-GB" sz="1400" b="1" dirty="0" err="1">
                <a:latin typeface="Consolas" panose="020B0609020204030204" pitchFamily="49" charset="0"/>
              </a:rPr>
              <a:t>Student_Satisfaction</a:t>
            </a:r>
            <a:r>
              <a:rPr lang="en-GB" sz="1400" b="1" dirty="0">
                <a:latin typeface="Consolas" panose="020B0609020204030204" pitchFamily="49" charset="0"/>
              </a:rPr>
              <a:t>"].</a:t>
            </a:r>
            <a:r>
              <a:rPr lang="en-GB" sz="1400" b="1" dirty="0" err="1">
                <a:latin typeface="Consolas" panose="020B0609020204030204" pitchFamily="49" charset="0"/>
              </a:rPr>
              <a:t>fillna</a:t>
            </a:r>
            <a:r>
              <a:rPr lang="en-GB" sz="1400" b="1" dirty="0">
                <a:latin typeface="Consolas" panose="020B0609020204030204" pitchFamily="49" charset="0"/>
              </a:rPr>
              <a:t>(</a:t>
            </a:r>
          </a:p>
          <a:p>
            <a:r>
              <a:rPr lang="en-GB" sz="1400" b="1" dirty="0">
                <a:latin typeface="Consolas" panose="020B0609020204030204" pitchFamily="49" charset="0"/>
              </a:rPr>
              <a:t>    </a:t>
            </a:r>
            <a:r>
              <a:rPr lang="en-GB" sz="1400" b="1" dirty="0" err="1">
                <a:latin typeface="Consolas" panose="020B0609020204030204" pitchFamily="49" charset="0"/>
              </a:rPr>
              <a:t>df</a:t>
            </a:r>
            <a:r>
              <a:rPr lang="en-GB" sz="1400" b="1" dirty="0">
                <a:latin typeface="Consolas" panose="020B0609020204030204" pitchFamily="49" charset="0"/>
              </a:rPr>
              <a:t>["</a:t>
            </a:r>
            <a:r>
              <a:rPr lang="en-GB" sz="1400" b="1" dirty="0" err="1">
                <a:latin typeface="Consolas" panose="020B0609020204030204" pitchFamily="49" charset="0"/>
              </a:rPr>
              <a:t>Student_Satisfaction</a:t>
            </a:r>
            <a:r>
              <a:rPr lang="en-GB" sz="1400" b="1" dirty="0">
                <a:latin typeface="Consolas" panose="020B0609020204030204" pitchFamily="49" charset="0"/>
              </a:rPr>
              <a:t>"].median()</a:t>
            </a:r>
          </a:p>
          <a:p>
            <a:r>
              <a:rPr lang="en-GB" sz="1400" b="1" dirty="0">
                <a:latin typeface="Consolas" panose="020B0609020204030204" pitchFamily="49" charset="0"/>
              </a:rPr>
              <a:t>)</a:t>
            </a:r>
          </a:p>
          <a:p>
            <a:r>
              <a:rPr lang="en-GB" sz="1400" b="1" dirty="0">
                <a:latin typeface="Consolas" panose="020B0609020204030204" pitchFamily="49" charset="0"/>
              </a:rPr>
              <a:t># Mode imputation</a:t>
            </a:r>
          </a:p>
          <a:p>
            <a:r>
              <a:rPr lang="en-GB" sz="1400" b="1" dirty="0" err="1">
                <a:latin typeface="Consolas" panose="020B0609020204030204" pitchFamily="49" charset="0"/>
              </a:rPr>
              <a:t>df</a:t>
            </a:r>
            <a:r>
              <a:rPr lang="en-GB" sz="1400" b="1" dirty="0">
                <a:latin typeface="Consolas" panose="020B0609020204030204" pitchFamily="49" charset="0"/>
              </a:rPr>
              <a:t>["</a:t>
            </a:r>
            <a:r>
              <a:rPr lang="en-GB" sz="1400" b="1" dirty="0" err="1">
                <a:latin typeface="Consolas" panose="020B0609020204030204" pitchFamily="49" charset="0"/>
              </a:rPr>
              <a:t>Study_Mode</a:t>
            </a:r>
            <a:r>
              <a:rPr lang="en-GB" sz="1400" b="1" dirty="0">
                <a:latin typeface="Consolas" panose="020B0609020204030204" pitchFamily="49" charset="0"/>
              </a:rPr>
              <a:t>"].</a:t>
            </a:r>
            <a:r>
              <a:rPr lang="en-GB" sz="1400" b="1" dirty="0" err="1">
                <a:latin typeface="Consolas" panose="020B0609020204030204" pitchFamily="49" charset="0"/>
              </a:rPr>
              <a:t>fillna</a:t>
            </a:r>
            <a:r>
              <a:rPr lang="en-GB" sz="1400" b="1" dirty="0">
                <a:latin typeface="Consolas" panose="020B0609020204030204" pitchFamily="49" charset="0"/>
              </a:rPr>
              <a:t>(</a:t>
            </a:r>
          </a:p>
          <a:p>
            <a:r>
              <a:rPr lang="en-GB" sz="1400" b="1" dirty="0">
                <a:latin typeface="Consolas" panose="020B0609020204030204" pitchFamily="49" charset="0"/>
              </a:rPr>
              <a:t>    </a:t>
            </a:r>
            <a:r>
              <a:rPr lang="en-GB" sz="1400" b="1" dirty="0" err="1">
                <a:latin typeface="Consolas" panose="020B0609020204030204" pitchFamily="49" charset="0"/>
              </a:rPr>
              <a:t>df</a:t>
            </a:r>
            <a:r>
              <a:rPr lang="en-GB" sz="1400" b="1" dirty="0">
                <a:latin typeface="Consolas" panose="020B0609020204030204" pitchFamily="49" charset="0"/>
              </a:rPr>
              <a:t>["</a:t>
            </a:r>
            <a:r>
              <a:rPr lang="en-GB" sz="1400" b="1" dirty="0" err="1">
                <a:latin typeface="Consolas" panose="020B0609020204030204" pitchFamily="49" charset="0"/>
              </a:rPr>
              <a:t>Study_Mode</a:t>
            </a:r>
            <a:r>
              <a:rPr lang="en-GB" sz="1400" b="1" dirty="0">
                <a:latin typeface="Consolas" panose="020B0609020204030204" pitchFamily="49" charset="0"/>
              </a:rPr>
              <a:t>"].mode()[0]</a:t>
            </a:r>
          </a:p>
          <a:p>
            <a:r>
              <a:rPr lang="en-GB" sz="1400" b="1" dirty="0">
                <a:latin typeface="Consolas" panose="020B0609020204030204" pitchFamily="49" charset="0"/>
              </a:rPr>
              <a:t>)</a:t>
            </a:r>
          </a:p>
        </p:txBody>
      </p:sp>
    </p:spTree>
    <p:extLst>
      <p:ext uri="{BB962C8B-B14F-4D97-AF65-F5344CB8AC3E}">
        <p14:creationId xmlns:p14="http://schemas.microsoft.com/office/powerpoint/2010/main" val="2141226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1BF43-2F5C-900A-20A0-F8FE03019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F4976-4F0B-84C6-2576-A8D30801095E}"/>
              </a:ext>
            </a:extLst>
          </p:cNvPr>
          <p:cNvSpPr>
            <a:spLocks noGrp="1"/>
          </p:cNvSpPr>
          <p:nvPr>
            <p:ph type="title"/>
          </p:nvPr>
        </p:nvSpPr>
        <p:spPr>
          <a:xfrm>
            <a:off x="838201" y="24381"/>
            <a:ext cx="8900604" cy="1325563"/>
          </a:xfrm>
        </p:spPr>
        <p:txBody>
          <a:bodyPr/>
          <a:lstStyle/>
          <a:p>
            <a:r>
              <a:rPr lang="en-GB" dirty="0"/>
              <a:t>Data Science Project</a:t>
            </a:r>
            <a:br>
              <a:rPr lang="en-GB" dirty="0"/>
            </a:br>
            <a:r>
              <a:rPr lang="en-GB" sz="2800" dirty="0">
                <a:solidFill>
                  <a:schemeClr val="accent4">
                    <a:lumMod val="75000"/>
                  </a:schemeClr>
                </a:solidFill>
              </a:rPr>
              <a:t>Planning</a:t>
            </a:r>
            <a:endParaRPr lang="en-GB" dirty="0">
              <a:solidFill>
                <a:schemeClr val="accent4">
                  <a:lumMod val="75000"/>
                </a:schemeClr>
              </a:solidFill>
            </a:endParaRPr>
          </a:p>
        </p:txBody>
      </p:sp>
      <p:sp>
        <p:nvSpPr>
          <p:cNvPr id="3" name="Content Placeholder 2">
            <a:extLst>
              <a:ext uri="{FF2B5EF4-FFF2-40B4-BE49-F238E27FC236}">
                <a16:creationId xmlns:a16="http://schemas.microsoft.com/office/drawing/2014/main" id="{85F2B7FE-C4AF-CC66-BE06-B442E3252423}"/>
              </a:ext>
            </a:extLst>
          </p:cNvPr>
          <p:cNvSpPr>
            <a:spLocks noGrp="1"/>
          </p:cNvSpPr>
          <p:nvPr>
            <p:ph idx="1"/>
          </p:nvPr>
        </p:nvSpPr>
        <p:spPr>
          <a:xfrm>
            <a:off x="838200" y="1349944"/>
            <a:ext cx="10515600" cy="5016989"/>
          </a:xfrm>
        </p:spPr>
        <p:txBody>
          <a:bodyPr>
            <a:normAutofit fontScale="92500" lnSpcReduction="10000"/>
          </a:bodyPr>
          <a:lstStyle/>
          <a:p>
            <a:pPr>
              <a:lnSpc>
                <a:spcPct val="110000"/>
              </a:lnSpc>
              <a:spcBef>
                <a:spcPts val="600"/>
              </a:spcBef>
              <a:spcAft>
                <a:spcPts val="600"/>
              </a:spcAft>
            </a:pPr>
            <a:r>
              <a:rPr lang="en-GB" sz="1800" b="1" dirty="0"/>
              <a:t>EDA</a:t>
            </a:r>
            <a:r>
              <a:rPr lang="en-GB" sz="1800" dirty="0"/>
              <a:t> should not be performed without a clear objective. A structured project asks</a:t>
            </a:r>
          </a:p>
          <a:p>
            <a:pPr marL="355600" indent="-355600">
              <a:lnSpc>
                <a:spcPct val="110000"/>
              </a:lnSpc>
              <a:spcBef>
                <a:spcPts val="600"/>
              </a:spcBef>
              <a:spcAft>
                <a:spcPts val="600"/>
              </a:spcAft>
              <a:buFont typeface="+mj-lt"/>
              <a:buAutoNum type="arabicPeriod"/>
            </a:pPr>
            <a:r>
              <a:rPr lang="en-GB" sz="1800" b="1" dirty="0">
                <a:solidFill>
                  <a:schemeClr val="accent4">
                    <a:lumMod val="75000"/>
                  </a:schemeClr>
                </a:solidFill>
              </a:rPr>
              <a:t>What is the problem?</a:t>
            </a:r>
            <a:br>
              <a:rPr lang="en-GB" sz="1800" dirty="0"/>
            </a:br>
            <a:r>
              <a:rPr lang="en-GB" sz="1800" dirty="0"/>
              <a:t>Example: Understand changes in the dataset.</a:t>
            </a:r>
          </a:p>
          <a:p>
            <a:pPr marL="355600" indent="-355600">
              <a:lnSpc>
                <a:spcPct val="110000"/>
              </a:lnSpc>
              <a:spcBef>
                <a:spcPts val="600"/>
              </a:spcBef>
              <a:spcAft>
                <a:spcPts val="600"/>
              </a:spcAft>
              <a:buFont typeface="+mj-lt"/>
              <a:buAutoNum type="arabicPeriod"/>
            </a:pPr>
            <a:r>
              <a:rPr lang="en-GB" sz="1800" b="1" dirty="0">
                <a:solidFill>
                  <a:schemeClr val="accent4">
                    <a:lumMod val="75000"/>
                  </a:schemeClr>
                </a:solidFill>
              </a:rPr>
              <a:t>What data do we need?</a:t>
            </a:r>
            <a:br>
              <a:rPr lang="en-GB" sz="1800" dirty="0"/>
            </a:br>
            <a:r>
              <a:rPr lang="en-GB" sz="1800" dirty="0"/>
              <a:t>For example: year, programme, study mode and enrolment.</a:t>
            </a:r>
          </a:p>
          <a:p>
            <a:pPr marL="355600" indent="-355600">
              <a:lnSpc>
                <a:spcPct val="110000"/>
              </a:lnSpc>
              <a:spcBef>
                <a:spcPts val="600"/>
              </a:spcBef>
              <a:spcAft>
                <a:spcPts val="600"/>
              </a:spcAft>
              <a:buFont typeface="+mj-lt"/>
              <a:buAutoNum type="arabicPeriod"/>
            </a:pPr>
            <a:r>
              <a:rPr lang="en-GB" sz="1800" b="1" dirty="0">
                <a:solidFill>
                  <a:schemeClr val="accent4">
                    <a:lumMod val="75000"/>
                  </a:schemeClr>
                </a:solidFill>
              </a:rPr>
              <a:t>Is the data suitable?</a:t>
            </a:r>
            <a:br>
              <a:rPr lang="en-GB" sz="1800" dirty="0"/>
            </a:br>
            <a:r>
              <a:rPr lang="en-GB" sz="1800" dirty="0"/>
              <a:t>Check completeness, accuracy and consistency.</a:t>
            </a:r>
          </a:p>
          <a:p>
            <a:pPr marL="355600" indent="-355600">
              <a:lnSpc>
                <a:spcPct val="110000"/>
              </a:lnSpc>
              <a:spcBef>
                <a:spcPts val="600"/>
              </a:spcBef>
              <a:spcAft>
                <a:spcPts val="600"/>
              </a:spcAft>
              <a:buFont typeface="+mj-lt"/>
              <a:buAutoNum type="arabicPeriod"/>
            </a:pPr>
            <a:r>
              <a:rPr lang="en-GB" sz="1800" b="1" dirty="0">
                <a:solidFill>
                  <a:schemeClr val="accent4">
                    <a:lumMod val="75000"/>
                  </a:schemeClr>
                </a:solidFill>
              </a:rPr>
              <a:t>What analysis should we perform?</a:t>
            </a:r>
            <a:br>
              <a:rPr lang="en-GB" sz="1800" dirty="0"/>
            </a:br>
            <a:r>
              <a:rPr lang="en-GB" sz="1800" dirty="0"/>
              <a:t>Use appropriate statistics and visualisations.</a:t>
            </a:r>
          </a:p>
          <a:p>
            <a:pPr marL="355600" indent="-355600">
              <a:lnSpc>
                <a:spcPct val="110000"/>
              </a:lnSpc>
              <a:spcBef>
                <a:spcPts val="600"/>
              </a:spcBef>
              <a:spcAft>
                <a:spcPts val="600"/>
              </a:spcAft>
              <a:buFont typeface="+mj-lt"/>
              <a:buAutoNum type="arabicPeriod"/>
            </a:pPr>
            <a:r>
              <a:rPr lang="en-GB" sz="1800" b="1" dirty="0">
                <a:solidFill>
                  <a:schemeClr val="accent4">
                    <a:lumMod val="75000"/>
                  </a:schemeClr>
                </a:solidFill>
              </a:rPr>
              <a:t>How will we validate our findings?</a:t>
            </a:r>
            <a:br>
              <a:rPr lang="en-GB" sz="1800" dirty="0"/>
            </a:br>
            <a:r>
              <a:rPr lang="en-GB" sz="1800" dirty="0"/>
              <a:t>Check calculations, assumptions and reproducibility.</a:t>
            </a:r>
          </a:p>
          <a:p>
            <a:pPr marL="355600" indent="-355600">
              <a:lnSpc>
                <a:spcPct val="110000"/>
              </a:lnSpc>
              <a:spcBef>
                <a:spcPts val="600"/>
              </a:spcBef>
              <a:spcAft>
                <a:spcPts val="600"/>
              </a:spcAft>
              <a:buFont typeface="+mj-lt"/>
              <a:buAutoNum type="arabicPeriod"/>
            </a:pPr>
            <a:r>
              <a:rPr lang="en-GB" sz="1800" b="1" dirty="0">
                <a:solidFill>
                  <a:schemeClr val="accent4">
                    <a:lumMod val="75000"/>
                  </a:schemeClr>
                </a:solidFill>
              </a:rPr>
              <a:t>How will findings be communicated?</a:t>
            </a:r>
            <a:br>
              <a:rPr lang="en-GB" sz="1800" dirty="0"/>
            </a:br>
            <a:r>
              <a:rPr lang="en-GB" sz="1800" dirty="0"/>
              <a:t>Use appropriate charts, tables and explanations.</a:t>
            </a:r>
          </a:p>
          <a:p>
            <a:pPr>
              <a:lnSpc>
                <a:spcPct val="110000"/>
              </a:lnSpc>
              <a:spcBef>
                <a:spcPts val="600"/>
              </a:spcBef>
              <a:spcAft>
                <a:spcPts val="600"/>
              </a:spcAft>
            </a:pPr>
            <a:r>
              <a:rPr lang="en-GB" sz="1800" dirty="0"/>
              <a:t>Two useful frameworks for structuring analytical work are </a:t>
            </a:r>
            <a:r>
              <a:rPr lang="en-GB" sz="1800" b="1" dirty="0"/>
              <a:t>CRISP-DM </a:t>
            </a:r>
            <a:r>
              <a:rPr lang="en-GB" sz="1800" dirty="0"/>
              <a:t>and</a:t>
            </a:r>
            <a:r>
              <a:rPr lang="en-GB" sz="1800" b="1" dirty="0"/>
              <a:t> SEMMA</a:t>
            </a:r>
            <a:r>
              <a:rPr lang="en-GB" sz="1800" dirty="0"/>
              <a:t>.</a:t>
            </a:r>
          </a:p>
        </p:txBody>
      </p:sp>
      <p:sp>
        <p:nvSpPr>
          <p:cNvPr id="4" name="Slide Number Placeholder 3">
            <a:extLst>
              <a:ext uri="{FF2B5EF4-FFF2-40B4-BE49-F238E27FC236}">
                <a16:creationId xmlns:a16="http://schemas.microsoft.com/office/drawing/2014/main" id="{8BBFA058-C6D4-7ACD-DC25-E29797706C6A}"/>
              </a:ext>
            </a:extLst>
          </p:cNvPr>
          <p:cNvSpPr>
            <a:spLocks noGrp="1"/>
          </p:cNvSpPr>
          <p:nvPr>
            <p:ph type="sldNum" sz="quarter" idx="12"/>
          </p:nvPr>
        </p:nvSpPr>
        <p:spPr/>
        <p:txBody>
          <a:bodyPr/>
          <a:lstStyle/>
          <a:p>
            <a:fld id="{6C8DB4F7-D883-4928-8961-38134A510B78}" type="slidenum">
              <a:rPr lang="en-GB" smtClean="0"/>
              <a:pPr/>
              <a:t>7</a:t>
            </a:fld>
            <a:endParaRPr lang="en-GB" b="0" dirty="0"/>
          </a:p>
        </p:txBody>
      </p:sp>
    </p:spTree>
    <p:extLst>
      <p:ext uri="{BB962C8B-B14F-4D97-AF65-F5344CB8AC3E}">
        <p14:creationId xmlns:p14="http://schemas.microsoft.com/office/powerpoint/2010/main" val="17914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E99E5-2301-01D2-4B50-4DD0721D9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93246-2569-C19C-5878-A5F1B195551A}"/>
              </a:ext>
            </a:extLst>
          </p:cNvPr>
          <p:cNvSpPr>
            <a:spLocks noGrp="1"/>
          </p:cNvSpPr>
          <p:nvPr>
            <p:ph type="title"/>
          </p:nvPr>
        </p:nvSpPr>
        <p:spPr/>
        <p:txBody>
          <a:bodyPr/>
          <a:lstStyle/>
          <a:p>
            <a:r>
              <a:rPr lang="en-GB" dirty="0"/>
              <a:t>CRISP-DM</a:t>
            </a:r>
          </a:p>
        </p:txBody>
      </p:sp>
      <p:sp>
        <p:nvSpPr>
          <p:cNvPr id="3" name="Content Placeholder 2">
            <a:extLst>
              <a:ext uri="{FF2B5EF4-FFF2-40B4-BE49-F238E27FC236}">
                <a16:creationId xmlns:a16="http://schemas.microsoft.com/office/drawing/2014/main" id="{934D506D-88F2-D72C-B334-08845A36B3CC}"/>
              </a:ext>
            </a:extLst>
          </p:cNvPr>
          <p:cNvSpPr>
            <a:spLocks noGrp="1"/>
          </p:cNvSpPr>
          <p:nvPr>
            <p:ph idx="1"/>
          </p:nvPr>
        </p:nvSpPr>
        <p:spPr>
          <a:xfrm>
            <a:off x="838200" y="1473200"/>
            <a:ext cx="10515600" cy="4990046"/>
          </a:xfrm>
        </p:spPr>
        <p:txBody>
          <a:bodyPr>
            <a:normAutofit lnSpcReduction="10000"/>
          </a:bodyPr>
          <a:lstStyle/>
          <a:p>
            <a:pPr>
              <a:lnSpc>
                <a:spcPct val="100000"/>
              </a:lnSpc>
              <a:spcBef>
                <a:spcPts val="600"/>
              </a:spcBef>
              <a:spcAft>
                <a:spcPts val="1200"/>
              </a:spcAft>
            </a:pPr>
            <a:r>
              <a:rPr lang="en-GB" sz="2000" b="1" dirty="0"/>
              <a:t>CRISP-DM = Cross-Industry Standard Process for Data Mining</a:t>
            </a:r>
            <a:endParaRPr lang="en-GB" sz="2000" dirty="0"/>
          </a:p>
          <a:p>
            <a:pPr>
              <a:lnSpc>
                <a:spcPct val="100000"/>
              </a:lnSpc>
              <a:spcBef>
                <a:spcPts val="600"/>
              </a:spcBef>
              <a:spcAft>
                <a:spcPts val="1200"/>
              </a:spcAft>
            </a:pPr>
            <a:r>
              <a:rPr lang="en-GB" sz="2000" dirty="0"/>
              <a:t>It contains six phases</a:t>
            </a:r>
          </a:p>
          <a:p>
            <a:pPr marL="355600" indent="-355600">
              <a:lnSpc>
                <a:spcPct val="100000"/>
              </a:lnSpc>
              <a:spcBef>
                <a:spcPts val="600"/>
              </a:spcBef>
              <a:spcAft>
                <a:spcPts val="1200"/>
              </a:spcAft>
              <a:buFont typeface="+mj-lt"/>
              <a:buAutoNum type="arabicPeriod"/>
            </a:pPr>
            <a:r>
              <a:rPr lang="en-GB" sz="2000" b="1" dirty="0"/>
              <a:t>Business Understanding: </a:t>
            </a:r>
            <a:r>
              <a:rPr lang="en-GB" sz="2000" dirty="0"/>
              <a:t>Define the problem, objectives and success criteria.</a:t>
            </a:r>
          </a:p>
          <a:p>
            <a:pPr marL="355600" indent="-355600">
              <a:lnSpc>
                <a:spcPct val="100000"/>
              </a:lnSpc>
              <a:spcBef>
                <a:spcPts val="600"/>
              </a:spcBef>
              <a:spcAft>
                <a:spcPts val="1200"/>
              </a:spcAft>
              <a:buFont typeface="+mj-lt"/>
              <a:buAutoNum type="arabicPeriod"/>
            </a:pPr>
            <a:r>
              <a:rPr lang="en-GB" sz="2000" b="1" dirty="0"/>
              <a:t>Data Understanding: </a:t>
            </a:r>
            <a:r>
              <a:rPr lang="en-GB" sz="2000" dirty="0"/>
              <a:t>Collect, describe, explore and assess the data.</a:t>
            </a:r>
          </a:p>
          <a:p>
            <a:pPr marL="355600" indent="-355600">
              <a:lnSpc>
                <a:spcPct val="100000"/>
              </a:lnSpc>
              <a:spcBef>
                <a:spcPts val="600"/>
              </a:spcBef>
              <a:spcAft>
                <a:spcPts val="1200"/>
              </a:spcAft>
              <a:buFont typeface="+mj-lt"/>
              <a:buAutoNum type="arabicPeriod"/>
            </a:pPr>
            <a:r>
              <a:rPr lang="en-GB" sz="2000" b="1" dirty="0"/>
              <a:t>Data Preparation: </a:t>
            </a:r>
            <a:r>
              <a:rPr lang="en-GB" sz="2000" dirty="0"/>
              <a:t>Clean, transform and organise the data.</a:t>
            </a:r>
          </a:p>
          <a:p>
            <a:pPr marL="355600" indent="-355600">
              <a:lnSpc>
                <a:spcPct val="100000"/>
              </a:lnSpc>
              <a:spcBef>
                <a:spcPts val="600"/>
              </a:spcBef>
              <a:spcAft>
                <a:spcPts val="1200"/>
              </a:spcAft>
              <a:buFont typeface="+mj-lt"/>
              <a:buAutoNum type="arabicPeriod"/>
            </a:pPr>
            <a:r>
              <a:rPr lang="en-GB" sz="2000" b="1" dirty="0"/>
              <a:t>Modelling: </a:t>
            </a:r>
            <a:r>
              <a:rPr lang="en-GB" sz="2000" dirty="0"/>
              <a:t>Select and apply appropriate analytical/model techniques.</a:t>
            </a:r>
          </a:p>
          <a:p>
            <a:pPr marL="355600" indent="-355600">
              <a:lnSpc>
                <a:spcPct val="100000"/>
              </a:lnSpc>
              <a:spcBef>
                <a:spcPts val="600"/>
              </a:spcBef>
              <a:spcAft>
                <a:spcPts val="1200"/>
              </a:spcAft>
              <a:buFont typeface="+mj-lt"/>
              <a:buAutoNum type="arabicPeriod"/>
            </a:pPr>
            <a:r>
              <a:rPr lang="en-GB" sz="2000" b="1" dirty="0"/>
              <a:t>Evaluation: </a:t>
            </a:r>
            <a:r>
              <a:rPr lang="en-GB" sz="2000" dirty="0"/>
              <a:t>Determine whether the results meet the original objectives.</a:t>
            </a:r>
          </a:p>
          <a:p>
            <a:pPr marL="355600" indent="-355600">
              <a:lnSpc>
                <a:spcPct val="100000"/>
              </a:lnSpc>
              <a:spcBef>
                <a:spcPts val="600"/>
              </a:spcBef>
              <a:spcAft>
                <a:spcPts val="1200"/>
              </a:spcAft>
              <a:buFont typeface="+mj-lt"/>
              <a:buAutoNum type="arabicPeriod"/>
            </a:pPr>
            <a:r>
              <a:rPr lang="en-GB" sz="2000" b="1" dirty="0"/>
              <a:t>Deployment: </a:t>
            </a:r>
            <a:r>
              <a:rPr lang="en-GB" sz="2000" dirty="0"/>
              <a:t>Communicate or implement the results.</a:t>
            </a:r>
          </a:p>
          <a:p>
            <a:pPr>
              <a:lnSpc>
                <a:spcPct val="100000"/>
              </a:lnSpc>
              <a:spcBef>
                <a:spcPts val="600"/>
              </a:spcBef>
              <a:spcAft>
                <a:spcPts val="1200"/>
              </a:spcAft>
            </a:pPr>
            <a:r>
              <a:rPr lang="en-GB" sz="2000" dirty="0"/>
              <a:t>CRISP-DM is </a:t>
            </a:r>
            <a:r>
              <a:rPr lang="en-GB" sz="2000" b="1" dirty="0"/>
              <a:t>iterative rather than strictly linear</a:t>
            </a:r>
            <a:r>
              <a:rPr lang="en-GB" sz="2000" dirty="0"/>
              <a:t>. A discovery during modelling, for example, may require returning to data preparation. </a:t>
            </a:r>
            <a:r>
              <a:rPr lang="en-GB" sz="2000" dirty="0">
                <a:hlinkClick r:id="rId2"/>
              </a:rPr>
              <a:t>IBM</a:t>
            </a:r>
            <a:endParaRPr lang="en-GB" sz="2000" dirty="0"/>
          </a:p>
          <a:p>
            <a:pPr>
              <a:lnSpc>
                <a:spcPct val="100000"/>
              </a:lnSpc>
              <a:spcBef>
                <a:spcPts val="600"/>
              </a:spcBef>
              <a:spcAft>
                <a:spcPts val="1200"/>
              </a:spcAft>
            </a:pPr>
            <a:endParaRPr lang="en-GB" sz="2000" dirty="0"/>
          </a:p>
        </p:txBody>
      </p:sp>
      <p:sp>
        <p:nvSpPr>
          <p:cNvPr id="4" name="Slide Number Placeholder 3">
            <a:extLst>
              <a:ext uri="{FF2B5EF4-FFF2-40B4-BE49-F238E27FC236}">
                <a16:creationId xmlns:a16="http://schemas.microsoft.com/office/drawing/2014/main" id="{3A2C8292-5B70-69D8-B54F-F3C1A3CA4655}"/>
              </a:ext>
            </a:extLst>
          </p:cNvPr>
          <p:cNvSpPr>
            <a:spLocks noGrp="1"/>
          </p:cNvSpPr>
          <p:nvPr>
            <p:ph type="sldNum" sz="quarter" idx="12"/>
          </p:nvPr>
        </p:nvSpPr>
        <p:spPr/>
        <p:txBody>
          <a:bodyPr/>
          <a:lstStyle/>
          <a:p>
            <a:fld id="{6C8DB4F7-D883-4928-8961-38134A510B78}" type="slidenum">
              <a:rPr lang="en-GB" smtClean="0"/>
              <a:pPr/>
              <a:t>8</a:t>
            </a:fld>
            <a:endParaRPr lang="en-GB" b="0" dirty="0"/>
          </a:p>
        </p:txBody>
      </p:sp>
    </p:spTree>
    <p:extLst>
      <p:ext uri="{BB962C8B-B14F-4D97-AF65-F5344CB8AC3E}">
        <p14:creationId xmlns:p14="http://schemas.microsoft.com/office/powerpoint/2010/main" val="2512338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BE802-BECA-6AC1-1C83-632D81E50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ADF41-C5E7-44B2-4F57-2A3191D9EE95}"/>
              </a:ext>
            </a:extLst>
          </p:cNvPr>
          <p:cNvSpPr>
            <a:spLocks noGrp="1"/>
          </p:cNvSpPr>
          <p:nvPr>
            <p:ph type="title"/>
          </p:nvPr>
        </p:nvSpPr>
        <p:spPr>
          <a:xfrm>
            <a:off x="1079274" y="7755"/>
            <a:ext cx="8900604" cy="1325563"/>
          </a:xfrm>
        </p:spPr>
        <p:txBody>
          <a:bodyPr/>
          <a:lstStyle/>
          <a:p>
            <a:r>
              <a:rPr lang="en-GB" dirty="0"/>
              <a:t>CRISP-DM</a:t>
            </a:r>
            <a:br>
              <a:rPr lang="en-GB" dirty="0"/>
            </a:br>
            <a:r>
              <a:rPr lang="en-GB" sz="2800" dirty="0">
                <a:solidFill>
                  <a:schemeClr val="accent4">
                    <a:lumMod val="75000"/>
                  </a:schemeClr>
                </a:solidFill>
              </a:rPr>
              <a:t>Example</a:t>
            </a:r>
            <a:endParaRPr lang="en-GB" dirty="0">
              <a:solidFill>
                <a:schemeClr val="accent4">
                  <a:lumMod val="75000"/>
                </a:schemeClr>
              </a:solidFill>
            </a:endParaRPr>
          </a:p>
        </p:txBody>
      </p:sp>
      <p:sp>
        <p:nvSpPr>
          <p:cNvPr id="3" name="Content Placeholder 2">
            <a:extLst>
              <a:ext uri="{FF2B5EF4-FFF2-40B4-BE49-F238E27FC236}">
                <a16:creationId xmlns:a16="http://schemas.microsoft.com/office/drawing/2014/main" id="{50234DFA-9550-4086-AFA4-A5BC3148006C}"/>
              </a:ext>
            </a:extLst>
          </p:cNvPr>
          <p:cNvSpPr>
            <a:spLocks noGrp="1"/>
          </p:cNvSpPr>
          <p:nvPr>
            <p:ph idx="1"/>
          </p:nvPr>
        </p:nvSpPr>
        <p:spPr>
          <a:xfrm>
            <a:off x="771696" y="1232329"/>
            <a:ext cx="10515600" cy="5161846"/>
          </a:xfrm>
        </p:spPr>
        <p:txBody>
          <a:bodyPr>
            <a:normAutofit lnSpcReduction="10000"/>
          </a:bodyPr>
          <a:lstStyle/>
          <a:p>
            <a:pPr>
              <a:lnSpc>
                <a:spcPct val="110000"/>
              </a:lnSpc>
              <a:spcBef>
                <a:spcPts val="300"/>
              </a:spcBef>
              <a:spcAft>
                <a:spcPts val="600"/>
              </a:spcAft>
            </a:pPr>
            <a:r>
              <a:rPr lang="en-GB" sz="1800" dirty="0"/>
              <a:t>Imagine that we want to investigate student performance and enrolment.</a:t>
            </a:r>
          </a:p>
          <a:p>
            <a:pPr>
              <a:lnSpc>
                <a:spcPct val="110000"/>
              </a:lnSpc>
              <a:spcBef>
                <a:spcPts val="300"/>
              </a:spcBef>
              <a:spcAft>
                <a:spcPts val="600"/>
              </a:spcAft>
            </a:pPr>
            <a:r>
              <a:rPr lang="en-GB" sz="1800" b="1" dirty="0">
                <a:solidFill>
                  <a:schemeClr val="accent4">
                    <a:lumMod val="75000"/>
                  </a:schemeClr>
                </a:solidFill>
              </a:rPr>
              <a:t>Business Understanding</a:t>
            </a:r>
            <a:br>
              <a:rPr lang="en-GB" sz="1800" dirty="0"/>
            </a:br>
            <a:r>
              <a:rPr lang="en-GB" sz="1800" dirty="0"/>
              <a:t>Question: How are enrolment, performance and satisfaction changing?</a:t>
            </a:r>
          </a:p>
          <a:p>
            <a:pPr>
              <a:lnSpc>
                <a:spcPct val="110000"/>
              </a:lnSpc>
              <a:spcBef>
                <a:spcPts val="300"/>
              </a:spcBef>
              <a:spcAft>
                <a:spcPts val="600"/>
              </a:spcAft>
            </a:pPr>
            <a:r>
              <a:rPr lang="en-GB" sz="1800" b="1" dirty="0">
                <a:solidFill>
                  <a:schemeClr val="accent4">
                    <a:lumMod val="75000"/>
                  </a:schemeClr>
                </a:solidFill>
              </a:rPr>
              <a:t>Data Understanding</a:t>
            </a:r>
            <a:br>
              <a:rPr lang="en-GB" sz="1800" dirty="0"/>
            </a:br>
            <a:r>
              <a:rPr lang="en-GB" sz="1800" dirty="0"/>
              <a:t>Examine variables such as Year, Programme, Study Mode, Enrolments, Graduates, Average Mark and Satisfaction.</a:t>
            </a:r>
          </a:p>
          <a:p>
            <a:pPr>
              <a:lnSpc>
                <a:spcPct val="110000"/>
              </a:lnSpc>
              <a:spcBef>
                <a:spcPts val="300"/>
              </a:spcBef>
              <a:spcAft>
                <a:spcPts val="600"/>
              </a:spcAft>
            </a:pPr>
            <a:r>
              <a:rPr lang="en-GB" sz="1800" b="1" dirty="0">
                <a:solidFill>
                  <a:schemeClr val="accent4">
                    <a:lumMod val="75000"/>
                  </a:schemeClr>
                </a:solidFill>
              </a:rPr>
              <a:t>Data Preparation</a:t>
            </a:r>
            <a:br>
              <a:rPr lang="en-GB" sz="1800" dirty="0"/>
            </a:br>
            <a:r>
              <a:rPr lang="en-GB" sz="1800" dirty="0"/>
              <a:t>Handle missing values, duplicates and incorrect data types.</a:t>
            </a:r>
          </a:p>
          <a:p>
            <a:pPr>
              <a:lnSpc>
                <a:spcPct val="110000"/>
              </a:lnSpc>
              <a:spcBef>
                <a:spcPts val="300"/>
              </a:spcBef>
              <a:spcAft>
                <a:spcPts val="600"/>
              </a:spcAft>
            </a:pPr>
            <a:r>
              <a:rPr lang="en-GB" sz="1800" b="1" dirty="0">
                <a:solidFill>
                  <a:schemeClr val="accent4">
                    <a:lumMod val="75000"/>
                  </a:schemeClr>
                </a:solidFill>
              </a:rPr>
              <a:t>Modelling / Analysis</a:t>
            </a:r>
            <a:br>
              <a:rPr lang="en-GB" sz="1800" dirty="0"/>
            </a:br>
            <a:r>
              <a:rPr lang="en-GB" sz="1800" dirty="0"/>
              <a:t>Examine relationships and, where appropriate, develop statistical or predictive models.</a:t>
            </a:r>
          </a:p>
          <a:p>
            <a:pPr>
              <a:lnSpc>
                <a:spcPct val="110000"/>
              </a:lnSpc>
              <a:spcBef>
                <a:spcPts val="300"/>
              </a:spcBef>
              <a:spcAft>
                <a:spcPts val="600"/>
              </a:spcAft>
            </a:pPr>
            <a:r>
              <a:rPr lang="en-GB" sz="1800" b="1" dirty="0">
                <a:solidFill>
                  <a:schemeClr val="accent4">
                    <a:lumMod val="75000"/>
                  </a:schemeClr>
                </a:solidFill>
              </a:rPr>
              <a:t>Evaluation</a:t>
            </a:r>
            <a:br>
              <a:rPr lang="en-GB" sz="1800" dirty="0"/>
            </a:br>
            <a:r>
              <a:rPr lang="en-GB" sz="1800" dirty="0"/>
              <a:t>Check whether the analysis answers the original questions and whether the results are reliable.</a:t>
            </a:r>
          </a:p>
          <a:p>
            <a:pPr>
              <a:lnSpc>
                <a:spcPct val="110000"/>
              </a:lnSpc>
              <a:spcBef>
                <a:spcPts val="300"/>
              </a:spcBef>
              <a:spcAft>
                <a:spcPts val="600"/>
              </a:spcAft>
            </a:pPr>
            <a:r>
              <a:rPr lang="en-GB" sz="1800" b="1" dirty="0">
                <a:solidFill>
                  <a:schemeClr val="accent4">
                    <a:lumMod val="75000"/>
                  </a:schemeClr>
                </a:solidFill>
              </a:rPr>
              <a:t>Deployment</a:t>
            </a:r>
            <a:br>
              <a:rPr lang="en-GB" sz="1800" dirty="0"/>
            </a:br>
            <a:r>
              <a:rPr lang="en-GB" sz="1800" dirty="0"/>
              <a:t>Present findings using a report, dashboard or presentation.</a:t>
            </a:r>
          </a:p>
          <a:p>
            <a:pPr>
              <a:lnSpc>
                <a:spcPct val="110000"/>
              </a:lnSpc>
              <a:spcBef>
                <a:spcPts val="300"/>
              </a:spcBef>
              <a:spcAft>
                <a:spcPts val="600"/>
              </a:spcAft>
            </a:pPr>
            <a:r>
              <a:rPr lang="en-GB" sz="1800" dirty="0"/>
              <a:t>This illustrates why </a:t>
            </a:r>
            <a:r>
              <a:rPr lang="en-GB" sz="1800" b="1" dirty="0"/>
              <a:t>EDA is not an isolated task</a:t>
            </a:r>
            <a:r>
              <a:rPr lang="en-GB" sz="1800" dirty="0"/>
              <a:t>; it contributes to a wider analytical process.</a:t>
            </a:r>
          </a:p>
          <a:p>
            <a:pPr>
              <a:lnSpc>
                <a:spcPct val="110000"/>
              </a:lnSpc>
              <a:spcBef>
                <a:spcPts val="300"/>
              </a:spcBef>
              <a:spcAft>
                <a:spcPts val="600"/>
              </a:spcAft>
            </a:pPr>
            <a:endParaRPr lang="en-GB" sz="1800" dirty="0"/>
          </a:p>
        </p:txBody>
      </p:sp>
      <p:sp>
        <p:nvSpPr>
          <p:cNvPr id="4" name="Slide Number Placeholder 3">
            <a:extLst>
              <a:ext uri="{FF2B5EF4-FFF2-40B4-BE49-F238E27FC236}">
                <a16:creationId xmlns:a16="http://schemas.microsoft.com/office/drawing/2014/main" id="{E855C343-C900-42E8-0C2F-32967988DDEC}"/>
              </a:ext>
            </a:extLst>
          </p:cNvPr>
          <p:cNvSpPr>
            <a:spLocks noGrp="1"/>
          </p:cNvSpPr>
          <p:nvPr>
            <p:ph type="sldNum" sz="quarter" idx="12"/>
          </p:nvPr>
        </p:nvSpPr>
        <p:spPr/>
        <p:txBody>
          <a:bodyPr/>
          <a:lstStyle/>
          <a:p>
            <a:fld id="{6C8DB4F7-D883-4928-8961-38134A510B78}" type="slidenum">
              <a:rPr lang="en-GB" smtClean="0"/>
              <a:pPr/>
              <a:t>9</a:t>
            </a:fld>
            <a:endParaRPr lang="en-GB" b="0" dirty="0"/>
          </a:p>
        </p:txBody>
      </p:sp>
    </p:spTree>
    <p:extLst>
      <p:ext uri="{BB962C8B-B14F-4D97-AF65-F5344CB8AC3E}">
        <p14:creationId xmlns:p14="http://schemas.microsoft.com/office/powerpoint/2010/main" val="69586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95FF1-84FC-01FF-B15D-03179B08F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23173-F88B-467B-8951-9658F5E296F8}"/>
              </a:ext>
            </a:extLst>
          </p:cNvPr>
          <p:cNvSpPr>
            <a:spLocks noGrp="1"/>
          </p:cNvSpPr>
          <p:nvPr>
            <p:ph type="title"/>
          </p:nvPr>
        </p:nvSpPr>
        <p:spPr/>
        <p:txBody>
          <a:bodyPr/>
          <a:lstStyle/>
          <a:p>
            <a:r>
              <a:rPr lang="en-GB" dirty="0"/>
              <a:t>SEMMA</a:t>
            </a:r>
          </a:p>
        </p:txBody>
      </p:sp>
      <p:sp>
        <p:nvSpPr>
          <p:cNvPr id="3" name="Content Placeholder 2">
            <a:extLst>
              <a:ext uri="{FF2B5EF4-FFF2-40B4-BE49-F238E27FC236}">
                <a16:creationId xmlns:a16="http://schemas.microsoft.com/office/drawing/2014/main" id="{95135462-0790-2695-02E5-7F1F4AFFDF66}"/>
              </a:ext>
            </a:extLst>
          </p:cNvPr>
          <p:cNvSpPr>
            <a:spLocks noGrp="1"/>
          </p:cNvSpPr>
          <p:nvPr>
            <p:ph idx="1"/>
          </p:nvPr>
        </p:nvSpPr>
        <p:spPr>
          <a:xfrm>
            <a:off x="838199" y="1399822"/>
            <a:ext cx="10803467" cy="4810478"/>
          </a:xfrm>
        </p:spPr>
        <p:txBody>
          <a:bodyPr>
            <a:normAutofit fontScale="92500"/>
          </a:bodyPr>
          <a:lstStyle/>
          <a:p>
            <a:pPr>
              <a:lnSpc>
                <a:spcPct val="100000"/>
              </a:lnSpc>
              <a:spcBef>
                <a:spcPts val="600"/>
              </a:spcBef>
              <a:spcAft>
                <a:spcPts val="1200"/>
              </a:spcAft>
            </a:pPr>
            <a:r>
              <a:rPr lang="en-GB" sz="2400" b="1" dirty="0"/>
              <a:t>SEMMA</a:t>
            </a:r>
            <a:r>
              <a:rPr lang="en-GB" sz="2400" dirty="0"/>
              <a:t> is associated with the SAS data-mining process. It stands for</a:t>
            </a:r>
          </a:p>
          <a:p>
            <a:pPr>
              <a:lnSpc>
                <a:spcPct val="100000"/>
              </a:lnSpc>
              <a:spcBef>
                <a:spcPts val="600"/>
              </a:spcBef>
              <a:spcAft>
                <a:spcPts val="1200"/>
              </a:spcAft>
            </a:pPr>
            <a:r>
              <a:rPr lang="en-GB" sz="2400" b="1" dirty="0"/>
              <a:t>S – Sample: </a:t>
            </a:r>
            <a:r>
              <a:rPr lang="en-GB" sz="2400" dirty="0"/>
              <a:t>Select data that adequately represents the problem.</a:t>
            </a:r>
          </a:p>
          <a:p>
            <a:pPr>
              <a:lnSpc>
                <a:spcPct val="100000"/>
              </a:lnSpc>
              <a:spcBef>
                <a:spcPts val="600"/>
              </a:spcBef>
              <a:spcAft>
                <a:spcPts val="1200"/>
              </a:spcAft>
            </a:pPr>
            <a:r>
              <a:rPr lang="en-GB" sz="2400" b="1" dirty="0"/>
              <a:t>E – Explore: </a:t>
            </a:r>
            <a:r>
              <a:rPr lang="en-GB" sz="2400" dirty="0"/>
              <a:t>Use statistics and visualisations to investigate patterns, trends and anomalies.</a:t>
            </a:r>
          </a:p>
          <a:p>
            <a:pPr>
              <a:lnSpc>
                <a:spcPct val="100000"/>
              </a:lnSpc>
              <a:spcBef>
                <a:spcPts val="600"/>
              </a:spcBef>
              <a:spcAft>
                <a:spcPts val="1200"/>
              </a:spcAft>
            </a:pPr>
            <a:r>
              <a:rPr lang="en-GB" sz="2400" b="1" dirty="0"/>
              <a:t>M – Modify: </a:t>
            </a:r>
            <a:r>
              <a:rPr lang="en-GB" sz="2400" dirty="0"/>
              <a:t>Clean, transform, select and create variables.</a:t>
            </a:r>
          </a:p>
          <a:p>
            <a:pPr>
              <a:lnSpc>
                <a:spcPct val="100000"/>
              </a:lnSpc>
              <a:spcBef>
                <a:spcPts val="600"/>
              </a:spcBef>
              <a:spcAft>
                <a:spcPts val="1200"/>
              </a:spcAft>
            </a:pPr>
            <a:r>
              <a:rPr lang="en-GB" sz="2400" b="1" dirty="0"/>
              <a:t>M – Model: </a:t>
            </a:r>
            <a:r>
              <a:rPr lang="en-GB" sz="2400" dirty="0"/>
              <a:t>Apply appropriate analytical or predictive models.</a:t>
            </a:r>
          </a:p>
          <a:p>
            <a:pPr>
              <a:lnSpc>
                <a:spcPct val="100000"/>
              </a:lnSpc>
              <a:spcBef>
                <a:spcPts val="600"/>
              </a:spcBef>
              <a:spcAft>
                <a:spcPts val="1200"/>
              </a:spcAft>
            </a:pPr>
            <a:r>
              <a:rPr lang="en-GB" sz="2400" b="1" dirty="0"/>
              <a:t>A – Assess: </a:t>
            </a:r>
            <a:r>
              <a:rPr lang="en-GB" sz="2400" dirty="0"/>
              <a:t>Evaluate and compare the results.</a:t>
            </a:r>
          </a:p>
          <a:p>
            <a:pPr>
              <a:lnSpc>
                <a:spcPct val="100000"/>
              </a:lnSpc>
              <a:spcBef>
                <a:spcPts val="600"/>
              </a:spcBef>
              <a:spcAft>
                <a:spcPts val="1200"/>
              </a:spcAft>
            </a:pPr>
            <a:r>
              <a:rPr lang="en-GB" sz="2400" dirty="0"/>
              <a:t>SAS documentation specifically includes tasks, such as replacing missing values and transforming variables within the </a:t>
            </a:r>
            <a:r>
              <a:rPr lang="en-GB" sz="2400" b="1" dirty="0"/>
              <a:t>Modify</a:t>
            </a:r>
            <a:r>
              <a:rPr lang="en-GB" sz="2400" dirty="0"/>
              <a:t> stage.</a:t>
            </a:r>
          </a:p>
          <a:p>
            <a:pPr>
              <a:lnSpc>
                <a:spcPct val="100000"/>
              </a:lnSpc>
              <a:spcBef>
                <a:spcPts val="600"/>
              </a:spcBef>
              <a:spcAft>
                <a:spcPts val="1200"/>
              </a:spcAft>
            </a:pPr>
            <a:r>
              <a:rPr lang="en-GB" sz="2400" b="1" dirty="0"/>
              <a:t>Source:</a:t>
            </a:r>
            <a:r>
              <a:rPr lang="en-GB" sz="2400" dirty="0"/>
              <a:t> SAS Enterprise Miner documentation. </a:t>
            </a:r>
            <a:r>
              <a:rPr lang="en-GB" sz="2400" dirty="0">
                <a:hlinkClick r:id="rId2"/>
              </a:rPr>
              <a:t>SAS Support</a:t>
            </a:r>
            <a:endParaRPr lang="en-GB" sz="2400" dirty="0"/>
          </a:p>
        </p:txBody>
      </p:sp>
      <p:sp>
        <p:nvSpPr>
          <p:cNvPr id="4" name="Slide Number Placeholder 3">
            <a:extLst>
              <a:ext uri="{FF2B5EF4-FFF2-40B4-BE49-F238E27FC236}">
                <a16:creationId xmlns:a16="http://schemas.microsoft.com/office/drawing/2014/main" id="{A977F7CD-05F9-8AD2-0E22-807511B798C3}"/>
              </a:ext>
            </a:extLst>
          </p:cNvPr>
          <p:cNvSpPr>
            <a:spLocks noGrp="1"/>
          </p:cNvSpPr>
          <p:nvPr>
            <p:ph type="sldNum" sz="quarter" idx="12"/>
          </p:nvPr>
        </p:nvSpPr>
        <p:spPr/>
        <p:txBody>
          <a:bodyPr/>
          <a:lstStyle/>
          <a:p>
            <a:fld id="{6C8DB4F7-D883-4928-8961-38134A510B78}" type="slidenum">
              <a:rPr lang="en-GB" smtClean="0"/>
              <a:pPr/>
              <a:t>10</a:t>
            </a:fld>
            <a:endParaRPr lang="en-GB" b="0" dirty="0"/>
          </a:p>
        </p:txBody>
      </p:sp>
    </p:spTree>
    <p:extLst>
      <p:ext uri="{BB962C8B-B14F-4D97-AF65-F5344CB8AC3E}">
        <p14:creationId xmlns:p14="http://schemas.microsoft.com/office/powerpoint/2010/main" val="309461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3462E-57B4-0DDB-E597-2C4310BD0E68}"/>
              </a:ext>
            </a:extLst>
          </p:cNvPr>
          <p:cNvSpPr>
            <a:spLocks noGrp="1"/>
          </p:cNvSpPr>
          <p:nvPr>
            <p:ph type="title"/>
          </p:nvPr>
        </p:nvSpPr>
        <p:spPr/>
        <p:txBody>
          <a:bodyPr>
            <a:normAutofit/>
          </a:bodyPr>
          <a:lstStyle/>
          <a:p>
            <a:r>
              <a:rPr lang="en-US" dirty="0"/>
              <a:t>CRISP-DM and SEMMA</a:t>
            </a:r>
            <a:br>
              <a:rPr lang="en-US" dirty="0"/>
            </a:br>
            <a:r>
              <a:rPr lang="en-GB" sz="2800" dirty="0">
                <a:solidFill>
                  <a:schemeClr val="accent4">
                    <a:lumMod val="75000"/>
                  </a:schemeClr>
                </a:solidFill>
              </a:rPr>
              <a:t>Comparison</a:t>
            </a:r>
            <a:endParaRPr lang="en-GB" dirty="0">
              <a:solidFill>
                <a:schemeClr val="accent4">
                  <a:lumMod val="75000"/>
                </a:schemeClr>
              </a:solidFill>
            </a:endParaRPr>
          </a:p>
        </p:txBody>
      </p:sp>
      <p:sp>
        <p:nvSpPr>
          <p:cNvPr id="3" name="Content Placeholder 2">
            <a:extLst>
              <a:ext uri="{FF2B5EF4-FFF2-40B4-BE49-F238E27FC236}">
                <a16:creationId xmlns:a16="http://schemas.microsoft.com/office/drawing/2014/main" id="{5F879226-4622-CEA1-2A76-23A809E76CE4}"/>
              </a:ext>
            </a:extLst>
          </p:cNvPr>
          <p:cNvSpPr>
            <a:spLocks noGrp="1"/>
          </p:cNvSpPr>
          <p:nvPr>
            <p:ph idx="1"/>
          </p:nvPr>
        </p:nvSpPr>
        <p:spPr>
          <a:xfrm>
            <a:off x="838200" y="1399822"/>
            <a:ext cx="7092142" cy="5142294"/>
          </a:xfrm>
        </p:spPr>
        <p:txBody>
          <a:bodyPr>
            <a:normAutofit lnSpcReduction="10000"/>
          </a:bodyPr>
          <a:lstStyle/>
          <a:p>
            <a:pPr>
              <a:lnSpc>
                <a:spcPct val="120000"/>
              </a:lnSpc>
              <a:spcBef>
                <a:spcPts val="1200"/>
              </a:spcBef>
              <a:spcAft>
                <a:spcPts val="600"/>
              </a:spcAft>
            </a:pPr>
            <a:r>
              <a:rPr lang="en-US" sz="2000" dirty="0"/>
              <a:t>Both approaches encourage a structured and iterative analytical process, but their emphasis differs.</a:t>
            </a:r>
          </a:p>
          <a:p>
            <a:pPr>
              <a:lnSpc>
                <a:spcPct val="120000"/>
              </a:lnSpc>
              <a:spcBef>
                <a:spcPts val="1200"/>
              </a:spcBef>
              <a:spcAft>
                <a:spcPts val="600"/>
              </a:spcAft>
            </a:pPr>
            <a:r>
              <a:rPr lang="en-US" sz="2000" dirty="0"/>
              <a:t>CRISP-DM explicitly begins with the wider business/problem objective and ends with deployment. SEMMA describes a process centered more directly on preparing, exploring and modelling data. </a:t>
            </a:r>
          </a:p>
          <a:p>
            <a:pPr>
              <a:lnSpc>
                <a:spcPct val="120000"/>
              </a:lnSpc>
              <a:spcBef>
                <a:spcPts val="1200"/>
              </a:spcBef>
              <a:spcAft>
                <a:spcPts val="600"/>
              </a:spcAft>
            </a:pPr>
            <a:r>
              <a:rPr lang="en-US" sz="2000" dirty="0"/>
              <a:t>IBM's CRISP-DM documentation explicitly covers six phases from requirements to deployment, whereas SAS defines its five SEMMA stages around the data-mining process. </a:t>
            </a:r>
            <a:r>
              <a:rPr lang="en-US" sz="2000" dirty="0">
                <a:hlinkClick r:id="rId2">
                  <a:extLst>
                    <a:ext uri="{A12FA001-AC4F-418D-AE19-62706E023703}">
                      <ahyp:hlinkClr xmlns:ahyp="http://schemas.microsoft.com/office/drawing/2018/hyperlinkcolor" val="tx"/>
                    </a:ext>
                  </a:extLst>
                </a:hlinkClick>
              </a:rPr>
              <a:t>IBM</a:t>
            </a:r>
            <a:r>
              <a:rPr lang="en-US" sz="2000" dirty="0"/>
              <a:t>.</a:t>
            </a:r>
          </a:p>
          <a:p>
            <a:pPr>
              <a:lnSpc>
                <a:spcPct val="120000"/>
              </a:lnSpc>
              <a:spcBef>
                <a:spcPts val="1200"/>
              </a:spcBef>
              <a:spcAft>
                <a:spcPts val="600"/>
              </a:spcAft>
            </a:pPr>
            <a:r>
              <a:rPr lang="en-US" sz="2000" b="1" dirty="0">
                <a:solidFill>
                  <a:schemeClr val="accent4">
                    <a:lumMod val="75000"/>
                  </a:schemeClr>
                </a:solidFill>
              </a:rPr>
              <a:t>Discussion Question:</a:t>
            </a:r>
            <a:br>
              <a:rPr lang="en-US" sz="2000" dirty="0"/>
            </a:br>
            <a:r>
              <a:rPr lang="en-US" sz="2000" dirty="0"/>
              <a:t>Which framework would be more appropriate for your current data analytics project, and why?</a:t>
            </a:r>
          </a:p>
          <a:p>
            <a:pPr>
              <a:lnSpc>
                <a:spcPct val="120000"/>
              </a:lnSpc>
              <a:spcBef>
                <a:spcPts val="1200"/>
              </a:spcBef>
            </a:pPr>
            <a:endParaRPr lang="en-GB" sz="2000" dirty="0"/>
          </a:p>
        </p:txBody>
      </p:sp>
      <p:sp>
        <p:nvSpPr>
          <p:cNvPr id="4" name="Slide Number Placeholder 3">
            <a:extLst>
              <a:ext uri="{FF2B5EF4-FFF2-40B4-BE49-F238E27FC236}">
                <a16:creationId xmlns:a16="http://schemas.microsoft.com/office/drawing/2014/main" id="{2CA63B0F-6693-30B2-FA66-BE7881C28CA6}"/>
              </a:ext>
            </a:extLst>
          </p:cNvPr>
          <p:cNvSpPr>
            <a:spLocks noGrp="1"/>
          </p:cNvSpPr>
          <p:nvPr>
            <p:ph type="sldNum" sz="quarter" idx="12"/>
          </p:nvPr>
        </p:nvSpPr>
        <p:spPr/>
        <p:txBody>
          <a:bodyPr/>
          <a:lstStyle/>
          <a:p>
            <a:fld id="{6C8DB4F7-D883-4928-8961-38134A510B78}" type="slidenum">
              <a:rPr lang="en-GB" smtClean="0"/>
              <a:pPr/>
              <a:t>11</a:t>
            </a:fld>
            <a:endParaRPr lang="en-GB" b="0" dirty="0"/>
          </a:p>
        </p:txBody>
      </p:sp>
      <p:graphicFrame>
        <p:nvGraphicFramePr>
          <p:cNvPr id="5" name="Content Placeholder 4">
            <a:extLst>
              <a:ext uri="{FF2B5EF4-FFF2-40B4-BE49-F238E27FC236}">
                <a16:creationId xmlns:a16="http://schemas.microsoft.com/office/drawing/2014/main" id="{6A8482C8-C06D-8552-D811-563573AF07E1}"/>
              </a:ext>
            </a:extLst>
          </p:cNvPr>
          <p:cNvGraphicFramePr>
            <a:graphicFrameLocks/>
          </p:cNvGraphicFramePr>
          <p:nvPr>
            <p:extLst>
              <p:ext uri="{D42A27DB-BD31-4B8C-83A1-F6EECF244321}">
                <p14:modId xmlns:p14="http://schemas.microsoft.com/office/powerpoint/2010/main" val="1571876115"/>
              </p:ext>
            </p:extLst>
          </p:nvPr>
        </p:nvGraphicFramePr>
        <p:xfrm>
          <a:off x="7930342" y="2237121"/>
          <a:ext cx="4052628" cy="2896364"/>
        </p:xfrm>
        <a:graphic>
          <a:graphicData uri="http://schemas.openxmlformats.org/drawingml/2006/table">
            <a:tbl>
              <a:tblPr>
                <a:tableStyleId>{5C22544A-7EE6-4342-B048-85BDC9FD1C3A}</a:tableStyleId>
              </a:tblPr>
              <a:tblGrid>
                <a:gridCol w="2526119">
                  <a:extLst>
                    <a:ext uri="{9D8B030D-6E8A-4147-A177-3AD203B41FA5}">
                      <a16:colId xmlns:a16="http://schemas.microsoft.com/office/drawing/2014/main" val="2684918394"/>
                    </a:ext>
                  </a:extLst>
                </a:gridCol>
                <a:gridCol w="1526509">
                  <a:extLst>
                    <a:ext uri="{9D8B030D-6E8A-4147-A177-3AD203B41FA5}">
                      <a16:colId xmlns:a16="http://schemas.microsoft.com/office/drawing/2014/main" val="2873054479"/>
                    </a:ext>
                  </a:extLst>
                </a:gridCol>
              </a:tblGrid>
              <a:tr h="370466">
                <a:tc>
                  <a:txBody>
                    <a:bodyPr/>
                    <a:lstStyle/>
                    <a:p>
                      <a:pPr>
                        <a:buNone/>
                      </a:pPr>
                      <a:r>
                        <a:rPr lang="en-GB" sz="1600" b="1"/>
                        <a:t>CRISP-DM</a:t>
                      </a:r>
                    </a:p>
                  </a:txBody>
                  <a:tcPr marL="135092" marR="135092" marT="67546" marB="67546" anchor="ctr"/>
                </a:tc>
                <a:tc>
                  <a:txBody>
                    <a:bodyPr/>
                    <a:lstStyle/>
                    <a:p>
                      <a:pPr>
                        <a:buNone/>
                      </a:pPr>
                      <a:r>
                        <a:rPr lang="en-GB" sz="1600" b="1" dirty="0"/>
                        <a:t>SEMMA</a:t>
                      </a:r>
                    </a:p>
                  </a:txBody>
                  <a:tcPr marL="135092" marR="135092" marT="67546" marB="67546" anchor="ctr"/>
                </a:tc>
                <a:extLst>
                  <a:ext uri="{0D108BD9-81ED-4DB2-BD59-A6C34878D82A}">
                    <a16:rowId xmlns:a16="http://schemas.microsoft.com/office/drawing/2014/main" val="2462056787"/>
                  </a:ext>
                </a:extLst>
              </a:tr>
              <a:tr h="370466">
                <a:tc>
                  <a:txBody>
                    <a:bodyPr/>
                    <a:lstStyle/>
                    <a:p>
                      <a:pPr>
                        <a:buNone/>
                      </a:pPr>
                      <a:r>
                        <a:rPr lang="en-GB" sz="1600"/>
                        <a:t>Business Understanding</a:t>
                      </a:r>
                    </a:p>
                  </a:txBody>
                  <a:tcPr marL="135092" marR="135092" marT="67546" marB="67546" anchor="ctr"/>
                </a:tc>
                <a:tc>
                  <a:txBody>
                    <a:bodyPr/>
                    <a:lstStyle/>
                    <a:p>
                      <a:pPr>
                        <a:buNone/>
                      </a:pPr>
                      <a:r>
                        <a:rPr lang="en-GB" sz="1600" dirty="0"/>
                        <a:t>—</a:t>
                      </a:r>
                    </a:p>
                  </a:txBody>
                  <a:tcPr marL="135092" marR="135092" marT="67546" marB="67546" anchor="ctr"/>
                </a:tc>
                <a:extLst>
                  <a:ext uri="{0D108BD9-81ED-4DB2-BD59-A6C34878D82A}">
                    <a16:rowId xmlns:a16="http://schemas.microsoft.com/office/drawing/2014/main" val="2049175168"/>
                  </a:ext>
                </a:extLst>
              </a:tr>
              <a:tr h="370466">
                <a:tc>
                  <a:txBody>
                    <a:bodyPr/>
                    <a:lstStyle/>
                    <a:p>
                      <a:pPr>
                        <a:buNone/>
                      </a:pPr>
                      <a:r>
                        <a:rPr lang="en-GB" sz="1600"/>
                        <a:t>Data Understanding</a:t>
                      </a:r>
                    </a:p>
                  </a:txBody>
                  <a:tcPr marL="135092" marR="135092" marT="67546" marB="67546" anchor="ctr"/>
                </a:tc>
                <a:tc>
                  <a:txBody>
                    <a:bodyPr/>
                    <a:lstStyle/>
                    <a:p>
                      <a:pPr>
                        <a:buNone/>
                      </a:pPr>
                      <a:r>
                        <a:rPr lang="en-GB" sz="1600"/>
                        <a:t>Sample / Explore</a:t>
                      </a:r>
                    </a:p>
                  </a:txBody>
                  <a:tcPr marL="135092" marR="135092" marT="67546" marB="67546" anchor="ctr"/>
                </a:tc>
                <a:extLst>
                  <a:ext uri="{0D108BD9-81ED-4DB2-BD59-A6C34878D82A}">
                    <a16:rowId xmlns:a16="http://schemas.microsoft.com/office/drawing/2014/main" val="1423540951"/>
                  </a:ext>
                </a:extLst>
              </a:tr>
              <a:tr h="370466">
                <a:tc>
                  <a:txBody>
                    <a:bodyPr/>
                    <a:lstStyle/>
                    <a:p>
                      <a:pPr>
                        <a:buNone/>
                      </a:pPr>
                      <a:r>
                        <a:rPr lang="en-GB" sz="1600" dirty="0"/>
                        <a:t>Data Preparation</a:t>
                      </a:r>
                    </a:p>
                  </a:txBody>
                  <a:tcPr marL="135092" marR="135092" marT="67546" marB="67546" anchor="ctr"/>
                </a:tc>
                <a:tc>
                  <a:txBody>
                    <a:bodyPr/>
                    <a:lstStyle/>
                    <a:p>
                      <a:pPr>
                        <a:buNone/>
                      </a:pPr>
                      <a:r>
                        <a:rPr lang="en-GB" sz="1600"/>
                        <a:t>Modify</a:t>
                      </a:r>
                    </a:p>
                  </a:txBody>
                  <a:tcPr marL="135092" marR="135092" marT="67546" marB="67546" anchor="ctr"/>
                </a:tc>
                <a:extLst>
                  <a:ext uri="{0D108BD9-81ED-4DB2-BD59-A6C34878D82A}">
                    <a16:rowId xmlns:a16="http://schemas.microsoft.com/office/drawing/2014/main" val="3475951201"/>
                  </a:ext>
                </a:extLst>
              </a:tr>
              <a:tr h="370466">
                <a:tc>
                  <a:txBody>
                    <a:bodyPr/>
                    <a:lstStyle/>
                    <a:p>
                      <a:pPr>
                        <a:buNone/>
                      </a:pPr>
                      <a:r>
                        <a:rPr lang="en-GB" sz="1600"/>
                        <a:t>Modelling</a:t>
                      </a:r>
                    </a:p>
                  </a:txBody>
                  <a:tcPr marL="135092" marR="135092" marT="67546" marB="67546" anchor="ctr"/>
                </a:tc>
                <a:tc>
                  <a:txBody>
                    <a:bodyPr/>
                    <a:lstStyle/>
                    <a:p>
                      <a:pPr>
                        <a:buNone/>
                      </a:pPr>
                      <a:r>
                        <a:rPr lang="en-GB" sz="1600"/>
                        <a:t>Model</a:t>
                      </a:r>
                    </a:p>
                  </a:txBody>
                  <a:tcPr marL="135092" marR="135092" marT="67546" marB="67546" anchor="ctr"/>
                </a:tc>
                <a:extLst>
                  <a:ext uri="{0D108BD9-81ED-4DB2-BD59-A6C34878D82A}">
                    <a16:rowId xmlns:a16="http://schemas.microsoft.com/office/drawing/2014/main" val="982712296"/>
                  </a:ext>
                </a:extLst>
              </a:tr>
              <a:tr h="370466">
                <a:tc>
                  <a:txBody>
                    <a:bodyPr/>
                    <a:lstStyle/>
                    <a:p>
                      <a:pPr>
                        <a:buNone/>
                      </a:pPr>
                      <a:r>
                        <a:rPr lang="en-GB" sz="1600"/>
                        <a:t>Evaluation</a:t>
                      </a:r>
                    </a:p>
                  </a:txBody>
                  <a:tcPr marL="135092" marR="135092" marT="67546" marB="67546" anchor="ctr"/>
                </a:tc>
                <a:tc>
                  <a:txBody>
                    <a:bodyPr/>
                    <a:lstStyle/>
                    <a:p>
                      <a:pPr>
                        <a:buNone/>
                      </a:pPr>
                      <a:r>
                        <a:rPr lang="en-GB" sz="1600"/>
                        <a:t>Assess</a:t>
                      </a:r>
                    </a:p>
                  </a:txBody>
                  <a:tcPr marL="135092" marR="135092" marT="67546" marB="67546" anchor="ctr"/>
                </a:tc>
                <a:extLst>
                  <a:ext uri="{0D108BD9-81ED-4DB2-BD59-A6C34878D82A}">
                    <a16:rowId xmlns:a16="http://schemas.microsoft.com/office/drawing/2014/main" val="961937897"/>
                  </a:ext>
                </a:extLst>
              </a:tr>
              <a:tr h="370466">
                <a:tc>
                  <a:txBody>
                    <a:bodyPr/>
                    <a:lstStyle/>
                    <a:p>
                      <a:pPr>
                        <a:buNone/>
                      </a:pPr>
                      <a:r>
                        <a:rPr lang="en-GB" sz="1600"/>
                        <a:t>Deployment</a:t>
                      </a:r>
                    </a:p>
                  </a:txBody>
                  <a:tcPr marL="135092" marR="135092" marT="67546" marB="67546" anchor="ctr"/>
                </a:tc>
                <a:tc>
                  <a:txBody>
                    <a:bodyPr/>
                    <a:lstStyle/>
                    <a:p>
                      <a:pPr>
                        <a:buNone/>
                      </a:pPr>
                      <a:r>
                        <a:rPr lang="en-GB" sz="1600" dirty="0"/>
                        <a:t>—</a:t>
                      </a:r>
                    </a:p>
                  </a:txBody>
                  <a:tcPr marL="135092" marR="135092" marT="67546" marB="67546" anchor="ctr"/>
                </a:tc>
                <a:extLst>
                  <a:ext uri="{0D108BD9-81ED-4DB2-BD59-A6C34878D82A}">
                    <a16:rowId xmlns:a16="http://schemas.microsoft.com/office/drawing/2014/main" val="1812651008"/>
                  </a:ext>
                </a:extLst>
              </a:tr>
            </a:tbl>
          </a:graphicData>
        </a:graphic>
      </p:graphicFrame>
    </p:spTree>
    <p:extLst>
      <p:ext uri="{BB962C8B-B14F-4D97-AF65-F5344CB8AC3E}">
        <p14:creationId xmlns:p14="http://schemas.microsoft.com/office/powerpoint/2010/main" val="1198588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41A6B-5EF3-4B91-B0E7-349382197ABB}"/>
              </a:ext>
            </a:extLst>
          </p:cNvPr>
          <p:cNvSpPr>
            <a:spLocks noGrp="1"/>
          </p:cNvSpPr>
          <p:nvPr>
            <p:ph type="title"/>
          </p:nvPr>
        </p:nvSpPr>
        <p:spPr>
          <a:xfrm>
            <a:off x="838201" y="23228"/>
            <a:ext cx="8900604" cy="1325563"/>
          </a:xfrm>
        </p:spPr>
        <p:txBody>
          <a:bodyPr/>
          <a:lstStyle/>
          <a:p>
            <a:r>
              <a:rPr lang="en-GB" dirty="0"/>
              <a:t>Resources/ References</a:t>
            </a:r>
          </a:p>
        </p:txBody>
      </p:sp>
      <p:sp>
        <p:nvSpPr>
          <p:cNvPr id="7" name="Content Placeholder 6">
            <a:extLst>
              <a:ext uri="{FF2B5EF4-FFF2-40B4-BE49-F238E27FC236}">
                <a16:creationId xmlns:a16="http://schemas.microsoft.com/office/drawing/2014/main" id="{51572B14-14C1-46BC-9B40-0753E4545B3E}"/>
              </a:ext>
            </a:extLst>
          </p:cNvPr>
          <p:cNvSpPr>
            <a:spLocks noGrp="1"/>
          </p:cNvSpPr>
          <p:nvPr>
            <p:ph idx="1"/>
          </p:nvPr>
        </p:nvSpPr>
        <p:spPr>
          <a:xfrm>
            <a:off x="677062" y="1261317"/>
            <a:ext cx="8209243" cy="5139483"/>
          </a:xfrm>
        </p:spPr>
        <p:txBody>
          <a:bodyPr>
            <a:normAutofit fontScale="92500"/>
          </a:bodyPr>
          <a:lstStyle/>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Pierson, L. (2026) “Data Science For Dummies”. 4th </a:t>
            </a:r>
            <a:r>
              <a:rPr lang="en-US" sz="2000" dirty="0" err="1">
                <a:latin typeface="Calibri" panose="020F0502020204030204" pitchFamily="34" charset="0"/>
                <a:ea typeface="Calibri" panose="020F0502020204030204" pitchFamily="34" charset="0"/>
                <a:cs typeface="Calibri" panose="020F0502020204030204" pitchFamily="34" charset="0"/>
              </a:rPr>
              <a:t>edn</a:t>
            </a:r>
            <a:r>
              <a:rPr lang="en-US" sz="2000" dirty="0">
                <a:latin typeface="Calibri" panose="020F0502020204030204" pitchFamily="34" charset="0"/>
                <a:ea typeface="Calibri" panose="020F0502020204030204" pitchFamily="34" charset="0"/>
                <a:cs typeface="Calibri" panose="020F0502020204030204" pitchFamily="34" charset="0"/>
              </a:rPr>
              <a:t>. For Dummies. Available at: https://learning.oreilly.com/library/view/data-science-for/9781394424085/ </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Foxwell, H.J. (2020) Creating Good Data: A Guide to Dataset Structure and Data Representation. Berkeley, CA: </a:t>
            </a:r>
            <a:r>
              <a:rPr lang="en-US" sz="2000" dirty="0" err="1">
                <a:latin typeface="Calibri" panose="020F0502020204030204" pitchFamily="34" charset="0"/>
                <a:ea typeface="Calibri" panose="020F0502020204030204" pitchFamily="34" charset="0"/>
                <a:cs typeface="Calibri" panose="020F0502020204030204" pitchFamily="34" charset="0"/>
              </a:rPr>
              <a:t>Apress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doi</a:t>
            </a:r>
            <a:r>
              <a:rPr lang="en-US" sz="2000" dirty="0">
                <a:latin typeface="Calibri" panose="020F0502020204030204" pitchFamily="34" charset="0"/>
                <a:ea typeface="Calibri" panose="020F0502020204030204" pitchFamily="34" charset="0"/>
                <a:cs typeface="Calibri" panose="020F0502020204030204" pitchFamily="34" charset="0"/>
              </a:rPr>
              <a:t>: 10.1007/978-1-4842-6103-3.</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McGregor, S.E. (2021) Practical Python Data Wrangling and Data Quality. Sebastopol, CA: O'Reilly Media. ISBN 9781492091493.</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AI Publishing (2020) Data Preprocessing with Python for Absolute Beginners: Step-by-Step Guide with Hands-on Projects and Exercises. AI Publishing LLC. ISBN 9781734790108.</a:t>
            </a:r>
          </a:p>
          <a:p>
            <a:pPr>
              <a:spcBef>
                <a:spcPts val="600"/>
              </a:spcBef>
              <a:spcAft>
                <a:spcPts val="600"/>
              </a:spcAft>
              <a:buSzPct val="100000"/>
            </a:pPr>
            <a:r>
              <a:rPr lang="en-GB" sz="2000" dirty="0"/>
              <a:t>Kazil, J. and </a:t>
            </a:r>
            <a:r>
              <a:rPr lang="en-GB" sz="2000" dirty="0" err="1"/>
              <a:t>Jarmul</a:t>
            </a:r>
            <a:r>
              <a:rPr lang="en-GB" sz="2000" dirty="0"/>
              <a:t>, K. (2016) </a:t>
            </a:r>
            <a:r>
              <a:rPr lang="en-GB" sz="2000" i="1" dirty="0"/>
              <a:t>Data Wrangling with Python</a:t>
            </a:r>
            <a:r>
              <a:rPr lang="en-GB" sz="2000" dirty="0"/>
              <a:t>. Sebastopol, CA: O’Reilly Media, Inc</a:t>
            </a:r>
            <a:r>
              <a:rPr lang="en-US" sz="2000" dirty="0">
                <a:latin typeface="Calibri" panose="020F0502020204030204" pitchFamily="34" charset="0"/>
                <a:ea typeface="Calibri" panose="020F0502020204030204" pitchFamily="34" charset="0"/>
                <a:cs typeface="Calibri" panose="020F0502020204030204" pitchFamily="34" charset="0"/>
              </a:rPr>
              <a:t>OpenAI. (2026). ChatGPT. OpenAI (CCT Licensed Version).</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Some images are used from Google search repository (https://www.google.ie/search) to enhance the level of learning.</a:t>
            </a:r>
          </a:p>
        </p:txBody>
      </p:sp>
      <p:sp>
        <p:nvSpPr>
          <p:cNvPr id="4" name="Title 5">
            <a:extLst>
              <a:ext uri="{FF2B5EF4-FFF2-40B4-BE49-F238E27FC236}">
                <a16:creationId xmlns:a16="http://schemas.microsoft.com/office/drawing/2014/main" id="{85B34EF6-C82B-D674-ABD8-F3A00346108B}"/>
              </a:ext>
            </a:extLst>
          </p:cNvPr>
          <p:cNvSpPr txBox="1">
            <a:spLocks/>
          </p:cNvSpPr>
          <p:nvPr/>
        </p:nvSpPr>
        <p:spPr>
          <a:xfrm>
            <a:off x="8944495" y="2259265"/>
            <a:ext cx="2996120" cy="1988540"/>
          </a:xfrm>
          <a:prstGeom prst="rect">
            <a:avLst/>
          </a:prstGeom>
          <a:ln w="19050">
            <a:solidFill>
              <a:schemeClr val="tx1"/>
            </a:solidFill>
          </a:ln>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b="1" kern="1200">
                <a:solidFill>
                  <a:schemeClr val="accent1">
                    <a:lumMod val="75000"/>
                  </a:schemeClr>
                </a:solidFill>
                <a:latin typeface="+mn-lt"/>
                <a:ea typeface="+mj-ea"/>
                <a:cs typeface="+mj-cs"/>
              </a:defRPr>
            </a:lvl1pPr>
          </a:lstStyle>
          <a:p>
            <a:pPr algn="ctr"/>
            <a:r>
              <a:rPr lang="en-IE" sz="2400" dirty="0"/>
              <a:t>Copyright Notice</a:t>
            </a:r>
            <a:br>
              <a:rPr lang="en-IE" sz="2400" dirty="0"/>
            </a:br>
            <a:r>
              <a:rPr lang="en-IE" sz="1800" dirty="0"/>
              <a:t>The following material has been communicated to you by or on behalf of CCT College Dublin in accordance with the Copyright and Related Rights Act 2000 (the Act).</a:t>
            </a:r>
            <a:br>
              <a:rPr lang="en-IE" sz="1800" dirty="0"/>
            </a:br>
            <a:r>
              <a:rPr lang="en-IE" sz="1800" dirty="0"/>
              <a:t>The material may be subject to copyright under the Act and any further reproduction, communication or distribution of this material must be in accordance with the Act.</a:t>
            </a:r>
            <a:br>
              <a:rPr lang="en-IE" sz="1800" dirty="0"/>
            </a:br>
            <a:br>
              <a:rPr lang="en-IE" sz="1800" dirty="0"/>
            </a:br>
            <a:r>
              <a:rPr lang="en-IE" sz="1200" dirty="0"/>
              <a:t>Do not remove this notice</a:t>
            </a:r>
            <a:endParaRPr lang="en-IE" sz="1800" dirty="0"/>
          </a:p>
        </p:txBody>
      </p:sp>
      <p:sp>
        <p:nvSpPr>
          <p:cNvPr id="6" name="Slide Number Placeholder 5">
            <a:extLst>
              <a:ext uri="{FF2B5EF4-FFF2-40B4-BE49-F238E27FC236}">
                <a16:creationId xmlns:a16="http://schemas.microsoft.com/office/drawing/2014/main" id="{9CACF878-4690-72A2-8FA7-FDE2793F30A5}"/>
              </a:ext>
            </a:extLst>
          </p:cNvPr>
          <p:cNvSpPr>
            <a:spLocks noGrp="1"/>
          </p:cNvSpPr>
          <p:nvPr>
            <p:ph type="sldNum" sz="quarter" idx="12"/>
          </p:nvPr>
        </p:nvSpPr>
        <p:spPr/>
        <p:txBody>
          <a:bodyPr/>
          <a:lstStyle/>
          <a:p>
            <a:fld id="{6C8DB4F7-D883-4928-8961-38134A510B78}" type="slidenum">
              <a:rPr lang="en-GB" smtClean="0"/>
              <a:pPr/>
              <a:t>12</a:t>
            </a:fld>
            <a:endParaRPr lang="en-GB" b="0" dirty="0"/>
          </a:p>
        </p:txBody>
      </p:sp>
    </p:spTree>
    <p:extLst>
      <p:ext uri="{BB962C8B-B14F-4D97-AF65-F5344CB8AC3E}">
        <p14:creationId xmlns:p14="http://schemas.microsoft.com/office/powerpoint/2010/main" val="1235696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8633</TotalTime>
  <Words>1307</Words>
  <Application>Microsoft Office PowerPoint</Application>
  <PresentationFormat>Widescreen</PresentationFormat>
  <Paragraphs>146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Consolas</vt:lpstr>
      <vt:lpstr>Wingdings</vt:lpstr>
      <vt:lpstr>Office Theme</vt:lpstr>
      <vt:lpstr>PowerPoint Presentation</vt:lpstr>
      <vt:lpstr>Outline</vt:lpstr>
      <vt:lpstr>Exploratory Data Analysis (EDA)</vt:lpstr>
      <vt:lpstr>Purpose of EDA</vt:lpstr>
      <vt:lpstr>Data Exploration Methods</vt:lpstr>
      <vt:lpstr>Data Quality and Preparation</vt:lpstr>
      <vt:lpstr>Data Science Project Planning</vt:lpstr>
      <vt:lpstr>CRISP-DM</vt:lpstr>
      <vt:lpstr>CRISP-DM Example</vt:lpstr>
      <vt:lpstr>SEMMA</vt:lpstr>
      <vt:lpstr>CRISP-DM and SEMMA Comparison</vt:lpstr>
      <vt:lpstr>Resources/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Munawar Iqbal</dc:creator>
  <cp:lastModifiedBy>Muhammad Iqbal</cp:lastModifiedBy>
  <cp:revision>307</cp:revision>
  <dcterms:created xsi:type="dcterms:W3CDTF">2020-09-11T23:34:13Z</dcterms:created>
  <dcterms:modified xsi:type="dcterms:W3CDTF">2026-10-02T20:39:38Z</dcterms:modified>
</cp:coreProperties>
</file>